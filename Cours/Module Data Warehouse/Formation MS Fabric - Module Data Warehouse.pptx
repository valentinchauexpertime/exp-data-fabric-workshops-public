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 id="2147483860" r:id="rId5"/>
    <p:sldMasterId id="2147483807" r:id="rId6"/>
    <p:sldMasterId id="2147483768" r:id="rId7"/>
    <p:sldMasterId id="2147483890" r:id="rId8"/>
  </p:sldMasterIdLst>
  <p:notesMasterIdLst>
    <p:notesMasterId r:id="rId28"/>
  </p:notesMasterIdLst>
  <p:handoutMasterIdLst>
    <p:handoutMasterId r:id="rId29"/>
  </p:handoutMasterIdLst>
  <p:sldIdLst>
    <p:sldId id="280" r:id="rId9"/>
    <p:sldId id="2147482011" r:id="rId10"/>
    <p:sldId id="2147483643" r:id="rId11"/>
    <p:sldId id="2147483644" r:id="rId12"/>
    <p:sldId id="340" r:id="rId13"/>
    <p:sldId id="2147482070" r:id="rId14"/>
    <p:sldId id="2147480900" r:id="rId15"/>
    <p:sldId id="2147483645" r:id="rId16"/>
    <p:sldId id="2147483597" r:id="rId17"/>
    <p:sldId id="2147483604" r:id="rId18"/>
    <p:sldId id="2147483605" r:id="rId19"/>
    <p:sldId id="2147483606" r:id="rId20"/>
    <p:sldId id="2147480874" r:id="rId21"/>
    <p:sldId id="2147483608" r:id="rId22"/>
    <p:sldId id="2147483613" r:id="rId23"/>
    <p:sldId id="2147483610" r:id="rId24"/>
    <p:sldId id="2147483611" r:id="rId25"/>
    <p:sldId id="2147483612" r:id="rId26"/>
    <p:sldId id="32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2"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iments SRC" initials="AS" lastIdx="1" clrIdx="0">
    <p:extLst>
      <p:ext uri="{19B8F6BF-5375-455C-9EA6-DF929625EA0E}">
        <p15:presenceInfo xmlns:p15="http://schemas.microsoft.com/office/powerpoint/2012/main" userId="3c61f1895ec1013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8036"/>
    <a:srgbClr val="298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231760-3965-4E82-88DE-93A24971B96B}" v="9" dt="2025-07-10T15:19:53.75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showGuides="1">
      <p:cViewPr varScale="1">
        <p:scale>
          <a:sx n="102" d="100"/>
          <a:sy n="102" d="100"/>
        </p:scale>
        <p:origin x="2586" y="318"/>
      </p:cViewPr>
      <p:guideLst>
        <p:guide orient="horz" pos="2092"/>
        <p:guide pos="3817"/>
      </p:guideLst>
    </p:cSldViewPr>
  </p:slideViewPr>
  <p:notesTextViewPr>
    <p:cViewPr>
      <p:scale>
        <a:sx n="1" d="1"/>
        <a:sy n="1" d="1"/>
      </p:scale>
      <p:origin x="0" y="0"/>
    </p:cViewPr>
  </p:notesTextViewPr>
  <p:notesViewPr>
    <p:cSldViewPr snapToGrid="0" showGuides="1">
      <p:cViewPr varScale="1">
        <p:scale>
          <a:sx n="75" d="100"/>
          <a:sy n="75" d="100"/>
        </p:scale>
        <p:origin x="2840" y="2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holas ETIENNE" userId="cc637756-9fdc-4bbe-8be5-decb7ae84d2d" providerId="ADAL" clId="{87231760-3965-4E82-88DE-93A24971B96B}"/>
    <pc:docChg chg="custSel addSld delSld modSld">
      <pc:chgData name="Nicholas ETIENNE" userId="cc637756-9fdc-4bbe-8be5-decb7ae84d2d" providerId="ADAL" clId="{87231760-3965-4E82-88DE-93A24971B96B}" dt="2025-07-10T15:19:53.752" v="48"/>
      <pc:docMkLst>
        <pc:docMk/>
      </pc:docMkLst>
      <pc:sldChg chg="modSp mod">
        <pc:chgData name="Nicholas ETIENNE" userId="cc637756-9fdc-4bbe-8be5-decb7ae84d2d" providerId="ADAL" clId="{87231760-3965-4E82-88DE-93A24971B96B}" dt="2025-07-10T15:11:53.996" v="8" actId="20577"/>
        <pc:sldMkLst>
          <pc:docMk/>
          <pc:sldMk cId="21303275" sldId="280"/>
        </pc:sldMkLst>
        <pc:spChg chg="mod">
          <ac:chgData name="Nicholas ETIENNE" userId="cc637756-9fdc-4bbe-8be5-decb7ae84d2d" providerId="ADAL" clId="{87231760-3965-4E82-88DE-93A24971B96B}" dt="2025-07-10T15:11:53.996" v="8" actId="20577"/>
          <ac:spMkLst>
            <pc:docMk/>
            <pc:sldMk cId="21303275" sldId="280"/>
            <ac:spMk id="3" creationId="{29B7C791-3A4A-41F0-A0B1-67AECA6E70F5}"/>
          </ac:spMkLst>
        </pc:spChg>
      </pc:sldChg>
      <pc:sldChg chg="del">
        <pc:chgData name="Nicholas ETIENNE" userId="cc637756-9fdc-4bbe-8be5-decb7ae84d2d" providerId="ADAL" clId="{87231760-3965-4E82-88DE-93A24971B96B}" dt="2025-07-10T15:13:00.687" v="15" actId="47"/>
        <pc:sldMkLst>
          <pc:docMk/>
          <pc:sldMk cId="3508302490" sldId="289"/>
        </pc:sldMkLst>
      </pc:sldChg>
      <pc:sldChg chg="del">
        <pc:chgData name="Nicholas ETIENNE" userId="cc637756-9fdc-4bbe-8be5-decb7ae84d2d" providerId="ADAL" clId="{87231760-3965-4E82-88DE-93A24971B96B}" dt="2025-07-10T15:12:18.893" v="10" actId="47"/>
        <pc:sldMkLst>
          <pc:docMk/>
          <pc:sldMk cId="3433648513" sldId="338"/>
        </pc:sldMkLst>
      </pc:sldChg>
      <pc:sldChg chg="add">
        <pc:chgData name="Nicholas ETIENNE" userId="cc637756-9fdc-4bbe-8be5-decb7ae84d2d" providerId="ADAL" clId="{87231760-3965-4E82-88DE-93A24971B96B}" dt="2025-07-10T15:12:17.056" v="9"/>
        <pc:sldMkLst>
          <pc:docMk/>
          <pc:sldMk cId="617893425" sldId="340"/>
        </pc:sldMkLst>
      </pc:sldChg>
      <pc:sldChg chg="del">
        <pc:chgData name="Nicholas ETIENNE" userId="cc637756-9fdc-4bbe-8be5-decb7ae84d2d" providerId="ADAL" clId="{87231760-3965-4E82-88DE-93A24971B96B}" dt="2025-07-10T15:12:55.588" v="14" actId="47"/>
        <pc:sldMkLst>
          <pc:docMk/>
          <pc:sldMk cId="3049042222" sldId="2147480817"/>
        </pc:sldMkLst>
      </pc:sldChg>
      <pc:sldChg chg="add">
        <pc:chgData name="Nicholas ETIENNE" userId="cc637756-9fdc-4bbe-8be5-decb7ae84d2d" providerId="ADAL" clId="{87231760-3965-4E82-88DE-93A24971B96B}" dt="2025-07-10T15:12:45.444" v="13"/>
        <pc:sldMkLst>
          <pc:docMk/>
          <pc:sldMk cId="1799477172" sldId="2147480874"/>
        </pc:sldMkLst>
      </pc:sldChg>
      <pc:sldChg chg="add">
        <pc:chgData name="Nicholas ETIENNE" userId="cc637756-9fdc-4bbe-8be5-decb7ae84d2d" providerId="ADAL" clId="{87231760-3965-4E82-88DE-93A24971B96B}" dt="2025-07-10T15:12:45.444" v="13"/>
        <pc:sldMkLst>
          <pc:docMk/>
          <pc:sldMk cId="1291125448" sldId="2147480900"/>
        </pc:sldMkLst>
      </pc:sldChg>
      <pc:sldChg chg="del">
        <pc:chgData name="Nicholas ETIENNE" userId="cc637756-9fdc-4bbe-8be5-decb7ae84d2d" providerId="ADAL" clId="{87231760-3965-4E82-88DE-93A24971B96B}" dt="2025-07-10T15:12:34.232" v="12" actId="47"/>
        <pc:sldMkLst>
          <pc:docMk/>
          <pc:sldMk cId="2762256464" sldId="2147482067"/>
        </pc:sldMkLst>
      </pc:sldChg>
      <pc:sldChg chg="add">
        <pc:chgData name="Nicholas ETIENNE" userId="cc637756-9fdc-4bbe-8be5-decb7ae84d2d" providerId="ADAL" clId="{87231760-3965-4E82-88DE-93A24971B96B}" dt="2025-07-10T15:12:32.600" v="11"/>
        <pc:sldMkLst>
          <pc:docMk/>
          <pc:sldMk cId="3074690057" sldId="2147482070"/>
        </pc:sldMkLst>
      </pc:sldChg>
      <pc:sldChg chg="del">
        <pc:chgData name="Nicholas ETIENNE" userId="cc637756-9fdc-4bbe-8be5-decb7ae84d2d" providerId="ADAL" clId="{87231760-3965-4E82-88DE-93A24971B96B}" dt="2025-07-10T15:12:55.588" v="14" actId="47"/>
        <pc:sldMkLst>
          <pc:docMk/>
          <pc:sldMk cId="4210928189" sldId="2147482127"/>
        </pc:sldMkLst>
      </pc:sldChg>
      <pc:sldChg chg="del">
        <pc:chgData name="Nicholas ETIENNE" userId="cc637756-9fdc-4bbe-8be5-decb7ae84d2d" providerId="ADAL" clId="{87231760-3965-4E82-88DE-93A24971B96B}" dt="2025-07-10T15:12:55.588" v="14" actId="47"/>
        <pc:sldMkLst>
          <pc:docMk/>
          <pc:sldMk cId="3627423085" sldId="2147483596"/>
        </pc:sldMkLst>
      </pc:sldChg>
      <pc:sldChg chg="delSp add mod">
        <pc:chgData name="Nicholas ETIENNE" userId="cc637756-9fdc-4bbe-8be5-decb7ae84d2d" providerId="ADAL" clId="{87231760-3965-4E82-88DE-93A24971B96B}" dt="2025-07-10T15:19:46.989" v="47" actId="478"/>
        <pc:sldMkLst>
          <pc:docMk/>
          <pc:sldMk cId="3222688252" sldId="2147483597"/>
        </pc:sldMkLst>
        <pc:spChg chg="del">
          <ac:chgData name="Nicholas ETIENNE" userId="cc637756-9fdc-4bbe-8be5-decb7ae84d2d" providerId="ADAL" clId="{87231760-3965-4E82-88DE-93A24971B96B}" dt="2025-07-10T15:19:46.989" v="47" actId="478"/>
          <ac:spMkLst>
            <pc:docMk/>
            <pc:sldMk cId="3222688252" sldId="2147483597"/>
            <ac:spMk id="9" creationId="{ED4E8522-42B4-6169-9883-0F0566D381B6}"/>
          </ac:spMkLst>
        </pc:spChg>
        <pc:spChg chg="del">
          <ac:chgData name="Nicholas ETIENNE" userId="cc637756-9fdc-4bbe-8be5-decb7ae84d2d" providerId="ADAL" clId="{87231760-3965-4E82-88DE-93A24971B96B}" dt="2025-07-10T15:19:45.074" v="46" actId="478"/>
          <ac:spMkLst>
            <pc:docMk/>
            <pc:sldMk cId="3222688252" sldId="2147483597"/>
            <ac:spMk id="10" creationId="{A5C6A40F-47DF-AB75-7603-E786E599CD31}"/>
          </ac:spMkLst>
        </pc:spChg>
      </pc:sldChg>
      <pc:sldChg chg="del">
        <pc:chgData name="Nicholas ETIENNE" userId="cc637756-9fdc-4bbe-8be5-decb7ae84d2d" providerId="ADAL" clId="{87231760-3965-4E82-88DE-93A24971B96B}" dt="2025-07-10T15:12:55.588" v="14" actId="47"/>
        <pc:sldMkLst>
          <pc:docMk/>
          <pc:sldMk cId="819965192" sldId="2147483598"/>
        </pc:sldMkLst>
      </pc:sldChg>
      <pc:sldChg chg="del">
        <pc:chgData name="Nicholas ETIENNE" userId="cc637756-9fdc-4bbe-8be5-decb7ae84d2d" providerId="ADAL" clId="{87231760-3965-4E82-88DE-93A24971B96B}" dt="2025-07-10T15:12:55.588" v="14" actId="47"/>
        <pc:sldMkLst>
          <pc:docMk/>
          <pc:sldMk cId="1337881717" sldId="2147483599"/>
        </pc:sldMkLst>
      </pc:sldChg>
      <pc:sldChg chg="del">
        <pc:chgData name="Nicholas ETIENNE" userId="cc637756-9fdc-4bbe-8be5-decb7ae84d2d" providerId="ADAL" clId="{87231760-3965-4E82-88DE-93A24971B96B}" dt="2025-07-10T15:12:55.588" v="14" actId="47"/>
        <pc:sldMkLst>
          <pc:docMk/>
          <pc:sldMk cId="1282971784" sldId="2147483600"/>
        </pc:sldMkLst>
      </pc:sldChg>
      <pc:sldChg chg="del">
        <pc:chgData name="Nicholas ETIENNE" userId="cc637756-9fdc-4bbe-8be5-decb7ae84d2d" providerId="ADAL" clId="{87231760-3965-4E82-88DE-93A24971B96B}" dt="2025-07-10T15:12:55.588" v="14" actId="47"/>
        <pc:sldMkLst>
          <pc:docMk/>
          <pc:sldMk cId="3045310356" sldId="2147483601"/>
        </pc:sldMkLst>
      </pc:sldChg>
      <pc:sldChg chg="del">
        <pc:chgData name="Nicholas ETIENNE" userId="cc637756-9fdc-4bbe-8be5-decb7ae84d2d" providerId="ADAL" clId="{87231760-3965-4E82-88DE-93A24971B96B}" dt="2025-07-10T15:12:55.588" v="14" actId="47"/>
        <pc:sldMkLst>
          <pc:docMk/>
          <pc:sldMk cId="1721035976" sldId="2147483602"/>
        </pc:sldMkLst>
      </pc:sldChg>
      <pc:sldChg chg="del">
        <pc:chgData name="Nicholas ETIENNE" userId="cc637756-9fdc-4bbe-8be5-decb7ae84d2d" providerId="ADAL" clId="{87231760-3965-4E82-88DE-93A24971B96B}" dt="2025-07-10T15:12:55.588" v="14" actId="47"/>
        <pc:sldMkLst>
          <pc:docMk/>
          <pc:sldMk cId="1250816290" sldId="2147483603"/>
        </pc:sldMkLst>
      </pc:sldChg>
      <pc:sldChg chg="add">
        <pc:chgData name="Nicholas ETIENNE" userId="cc637756-9fdc-4bbe-8be5-decb7ae84d2d" providerId="ADAL" clId="{87231760-3965-4E82-88DE-93A24971B96B}" dt="2025-07-10T15:12:45.444" v="13"/>
        <pc:sldMkLst>
          <pc:docMk/>
          <pc:sldMk cId="4018693658" sldId="2147483604"/>
        </pc:sldMkLst>
      </pc:sldChg>
      <pc:sldChg chg="add">
        <pc:chgData name="Nicholas ETIENNE" userId="cc637756-9fdc-4bbe-8be5-decb7ae84d2d" providerId="ADAL" clId="{87231760-3965-4E82-88DE-93A24971B96B}" dt="2025-07-10T15:12:45.444" v="13"/>
        <pc:sldMkLst>
          <pc:docMk/>
          <pc:sldMk cId="481400758" sldId="2147483605"/>
        </pc:sldMkLst>
      </pc:sldChg>
      <pc:sldChg chg="add">
        <pc:chgData name="Nicholas ETIENNE" userId="cc637756-9fdc-4bbe-8be5-decb7ae84d2d" providerId="ADAL" clId="{87231760-3965-4E82-88DE-93A24971B96B}" dt="2025-07-10T15:12:45.444" v="13"/>
        <pc:sldMkLst>
          <pc:docMk/>
          <pc:sldMk cId="2314490674" sldId="2147483606"/>
        </pc:sldMkLst>
      </pc:sldChg>
      <pc:sldChg chg="add">
        <pc:chgData name="Nicholas ETIENNE" userId="cc637756-9fdc-4bbe-8be5-decb7ae84d2d" providerId="ADAL" clId="{87231760-3965-4E82-88DE-93A24971B96B}" dt="2025-07-10T15:12:45.444" v="13"/>
        <pc:sldMkLst>
          <pc:docMk/>
          <pc:sldMk cId="132697439" sldId="2147483608"/>
        </pc:sldMkLst>
      </pc:sldChg>
      <pc:sldChg chg="add">
        <pc:chgData name="Nicholas ETIENNE" userId="cc637756-9fdc-4bbe-8be5-decb7ae84d2d" providerId="ADAL" clId="{87231760-3965-4E82-88DE-93A24971B96B}" dt="2025-07-10T15:12:45.444" v="13"/>
        <pc:sldMkLst>
          <pc:docMk/>
          <pc:sldMk cId="598256275" sldId="2147483610"/>
        </pc:sldMkLst>
      </pc:sldChg>
      <pc:sldChg chg="add">
        <pc:chgData name="Nicholas ETIENNE" userId="cc637756-9fdc-4bbe-8be5-decb7ae84d2d" providerId="ADAL" clId="{87231760-3965-4E82-88DE-93A24971B96B}" dt="2025-07-10T15:12:45.444" v="13"/>
        <pc:sldMkLst>
          <pc:docMk/>
          <pc:sldMk cId="2850104330" sldId="2147483611"/>
        </pc:sldMkLst>
      </pc:sldChg>
      <pc:sldChg chg="add">
        <pc:chgData name="Nicholas ETIENNE" userId="cc637756-9fdc-4bbe-8be5-decb7ae84d2d" providerId="ADAL" clId="{87231760-3965-4E82-88DE-93A24971B96B}" dt="2025-07-10T15:12:45.444" v="13"/>
        <pc:sldMkLst>
          <pc:docMk/>
          <pc:sldMk cId="95901853" sldId="2147483612"/>
        </pc:sldMkLst>
      </pc:sldChg>
      <pc:sldChg chg="add">
        <pc:chgData name="Nicholas ETIENNE" userId="cc637756-9fdc-4bbe-8be5-decb7ae84d2d" providerId="ADAL" clId="{87231760-3965-4E82-88DE-93A24971B96B}" dt="2025-07-10T15:12:45.444" v="13"/>
        <pc:sldMkLst>
          <pc:docMk/>
          <pc:sldMk cId="2026214635" sldId="2147483613"/>
        </pc:sldMkLst>
      </pc:sldChg>
      <pc:sldChg chg="del">
        <pc:chgData name="Nicholas ETIENNE" userId="cc637756-9fdc-4bbe-8be5-decb7ae84d2d" providerId="ADAL" clId="{87231760-3965-4E82-88DE-93A24971B96B}" dt="2025-07-10T15:12:55.588" v="14" actId="47"/>
        <pc:sldMkLst>
          <pc:docMk/>
          <pc:sldMk cId="1886777251" sldId="2147483645"/>
        </pc:sldMkLst>
      </pc:sldChg>
      <pc:sldChg chg="addSp modSp new mod">
        <pc:chgData name="Nicholas ETIENNE" userId="cc637756-9fdc-4bbe-8be5-decb7ae84d2d" providerId="ADAL" clId="{87231760-3965-4E82-88DE-93A24971B96B}" dt="2025-07-10T15:19:53.752" v="48"/>
        <pc:sldMkLst>
          <pc:docMk/>
          <pc:sldMk cId="3086758694" sldId="2147483645"/>
        </pc:sldMkLst>
        <pc:spChg chg="mod">
          <ac:chgData name="Nicholas ETIENNE" userId="cc637756-9fdc-4bbe-8be5-decb7ae84d2d" providerId="ADAL" clId="{87231760-3965-4E82-88DE-93A24971B96B}" dt="2025-07-10T15:14:09.286" v="45" actId="20577"/>
          <ac:spMkLst>
            <pc:docMk/>
            <pc:sldMk cId="3086758694" sldId="2147483645"/>
            <ac:spMk id="3" creationId="{DF937963-5BAF-9963-40EA-87CA542B6C36}"/>
          </ac:spMkLst>
        </pc:spChg>
        <pc:picChg chg="add mod">
          <ac:chgData name="Nicholas ETIENNE" userId="cc637756-9fdc-4bbe-8be5-decb7ae84d2d" providerId="ADAL" clId="{87231760-3965-4E82-88DE-93A24971B96B}" dt="2025-07-10T15:19:53.752" v="48"/>
          <ac:picMkLst>
            <pc:docMk/>
            <pc:sldMk cId="3086758694" sldId="2147483645"/>
            <ac:picMk id="4" creationId="{551253CE-2202-DB91-BD31-6AA6E679A951}"/>
          </ac:picMkLst>
        </pc:picChg>
        <pc:picChg chg="add mod">
          <ac:chgData name="Nicholas ETIENNE" userId="cc637756-9fdc-4bbe-8be5-decb7ae84d2d" providerId="ADAL" clId="{87231760-3965-4E82-88DE-93A24971B96B}" dt="2025-07-10T15:13:59.710" v="21" actId="14861"/>
          <ac:picMkLst>
            <pc:docMk/>
            <pc:sldMk cId="3086758694" sldId="2147483645"/>
            <ac:picMk id="1026" creationId="{333FA0F4-C5B9-4689-ABD4-7C603D35BA0B}"/>
          </ac:picMkLst>
        </pc:picChg>
      </pc:sldChg>
      <pc:sldMasterChg chg="delSldLayout">
        <pc:chgData name="Nicholas ETIENNE" userId="cc637756-9fdc-4bbe-8be5-decb7ae84d2d" providerId="ADAL" clId="{87231760-3965-4E82-88DE-93A24971B96B}" dt="2025-07-10T15:13:00.687" v="15" actId="47"/>
        <pc:sldMasterMkLst>
          <pc:docMk/>
          <pc:sldMasterMk cId="926739460" sldId="2147483768"/>
        </pc:sldMasterMkLst>
        <pc:sldLayoutChg chg="del">
          <pc:chgData name="Nicholas ETIENNE" userId="cc637756-9fdc-4bbe-8be5-decb7ae84d2d" providerId="ADAL" clId="{87231760-3965-4E82-88DE-93A24971B96B}" dt="2025-07-10T15:13:00.687" v="15" actId="47"/>
          <pc:sldLayoutMkLst>
            <pc:docMk/>
            <pc:sldMasterMk cId="926739460" sldId="2147483768"/>
            <pc:sldLayoutMk cId="681632096" sldId="214748390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C02B6E2C-8729-4463-AA36-9DE78018427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FF4C9B49-E508-4948-B508-63280DD4911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5C817CB-DCB3-4EFD-8ADD-BD779EFD7E0F}" type="datetimeFigureOut">
              <a:rPr lang="fr-FR" smtClean="0"/>
              <a:t>10/07/2025</a:t>
            </a:fld>
            <a:endParaRPr lang="fr-FR"/>
          </a:p>
        </p:txBody>
      </p:sp>
      <p:sp>
        <p:nvSpPr>
          <p:cNvPr id="4" name="Espace réservé du pied de page 3">
            <a:extLst>
              <a:ext uri="{FF2B5EF4-FFF2-40B4-BE49-F238E27FC236}">
                <a16:creationId xmlns:a16="http://schemas.microsoft.com/office/drawing/2014/main" id="{28747C93-0BAB-4D41-82A4-F98F37A3F5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3C59FD50-7A28-43D0-B1E3-7A5EE2FD11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0A5A50-3F0D-4AFE-84B7-3CA3FBB7E773}" type="slidenum">
              <a:rPr lang="fr-FR" smtClean="0"/>
              <a:t>‹N°›</a:t>
            </a:fld>
            <a:endParaRPr lang="fr-FR"/>
          </a:p>
        </p:txBody>
      </p:sp>
    </p:spTree>
    <p:extLst>
      <p:ext uri="{BB962C8B-B14F-4D97-AF65-F5344CB8AC3E}">
        <p14:creationId xmlns:p14="http://schemas.microsoft.com/office/powerpoint/2010/main" val="36219733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626BD-A0B4-401F-BB81-846C2A3C58CF}" type="datetimeFigureOut">
              <a:rPr lang="fr-FR" smtClean="0"/>
              <a:t>10/07/2025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16FF32-AF5B-4774-8442-2DE6F693416A}" type="slidenum">
              <a:rPr lang="fr-FR" smtClean="0"/>
              <a:t>‹N°›</a:t>
            </a:fld>
            <a:endParaRPr lang="fr-FR"/>
          </a:p>
        </p:txBody>
      </p:sp>
    </p:spTree>
    <p:extLst>
      <p:ext uri="{BB962C8B-B14F-4D97-AF65-F5344CB8AC3E}">
        <p14:creationId xmlns:p14="http://schemas.microsoft.com/office/powerpoint/2010/main" val="976805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Segoe UI" panose="020B0502040204020203" pitchFamily="34" charset="0"/>
                <a:ea typeface="Calibri" panose="020F0502020204030204" pitchFamily="34" charset="0"/>
              </a:rPr>
              <a:t>For organizations trying to streamline and advance their data estate, the burden is often on you to search through the thousands of data and AI offerings, find the right set of offerings, figure out how to integrate them, and do it in such a way that is scalable and can evolve over time. Most data leaders would rather focus on the outcomes of their tools rather than spend all their time integrating specialized solutions and maintaining their data estate.</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F642E0-B52F-4186-81E7-9882707F0A2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9252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FE13E-2FA0-775B-DC0A-8D10D0BEC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893FE-1F9A-F0F8-39E3-CFDA404FC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93A26-CF21-6C84-CB62-5C6A60EB5D47}"/>
              </a:ext>
            </a:extLst>
          </p:cNvPr>
          <p:cNvSpPr>
            <a:spLocks noGrp="1"/>
          </p:cNvSpPr>
          <p:nvPr>
            <p:ph type="body" idx="1"/>
          </p:nvPr>
        </p:nvSpPr>
        <p:spPr/>
        <p:txBody>
          <a:bodyPr/>
          <a:lstStyle/>
          <a:p>
            <a:pPr marL="0" marR="0" fontAlgn="base">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rPr>
              <a:t>Fabric combines the best of Microsoft Power BI, Azure Synapse Analytics, and Azure Data Factory to create a single, unified software as a service (SaaS) platform with core workloads—each purpose-built for specific personas and specific tasks.​</a:t>
            </a:r>
            <a:endParaRPr lang="en-US" sz="1800">
              <a:effectLst/>
              <a:latin typeface="Times New Roman" panose="02020603050405020304" pitchFamily="18" charset="0"/>
              <a:ea typeface="Times New Roman" panose="02020603050405020304" pitchFamily="18" charset="0"/>
            </a:endParaRPr>
          </a:p>
          <a:p>
            <a:pPr marL="0" marR="0" fontAlgn="base">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rPr>
              <a:t> </a:t>
            </a:r>
            <a:endParaRPr lang="en-US" sz="1800">
              <a:effectLst/>
              <a:latin typeface="Times New Roman" panose="02020603050405020304" pitchFamily="18" charset="0"/>
              <a:ea typeface="Times New Roman" panose="02020603050405020304" pitchFamily="18" charset="0"/>
            </a:endParaRPr>
          </a:p>
          <a:p>
            <a:pPr marL="0" marR="0" fontAlgn="base">
              <a:spcBef>
                <a:spcPts val="0"/>
              </a:spcBef>
              <a:spcAft>
                <a:spcPts val="0"/>
              </a:spcAft>
            </a:pPr>
            <a:r>
              <a:rPr lang="en-US" sz="1800">
                <a:solidFill>
                  <a:srgbClr val="000000"/>
                </a:solidFill>
                <a:effectLst/>
                <a:latin typeface="Calibri" panose="020F0502020204030204" pitchFamily="34" charset="0"/>
                <a:ea typeface="Times New Roman" panose="02020603050405020304" pitchFamily="18" charset="0"/>
              </a:rPr>
              <a:t>Let’s explore how all these experiences empower data and business professionals alike to unlock the potential of their data and lay the foundation for the era of AI.​ Fabric empowers every team in the analytics process with the role-specific experiences they need, so data engineers, data warehousing professionals, data scientists, data analysts, and business users feel right at home. ​</a:t>
            </a:r>
            <a:endParaRPr lang="en-US" sz="1800">
              <a:effectLst/>
              <a:latin typeface="Times New Roman" panose="02020603050405020304" pitchFamily="18" charset="0"/>
              <a:ea typeface="Times New Roman" panose="02020603050405020304" pitchFamily="18" charset="0"/>
            </a:endParaRPr>
          </a:p>
          <a:p>
            <a:pPr marL="0" marR="0" fontAlgn="base"/>
            <a:r>
              <a:rPr lang="en-US" sz="1800">
                <a:solidFill>
                  <a:srgbClr val="000000"/>
                </a:solidFill>
                <a:effectLst/>
                <a:latin typeface="Calibri" panose="020F0502020204030204" pitchFamily="34" charset="0"/>
                <a:ea typeface="Times New Roman" panose="02020603050405020304" pitchFamily="18" charset="0"/>
              </a:rPr>
              <a:t>You can think of Fabric as almost as Office for Data. Just like Office 365 has word for document authoring, PowerPoint for presentations, Excel for spreadsheets, etc. in Microsoft Fabric, you have the core workloads. ​</a:t>
            </a:r>
            <a:endParaRPr lang="en-US" sz="1800">
              <a:effectLst/>
              <a:latin typeface="Times New Roman" panose="02020603050405020304" pitchFamily="18" charset="0"/>
              <a:ea typeface="Times New Roman" panose="02020603050405020304" pitchFamily="18" charset="0"/>
            </a:endParaRPr>
          </a:p>
          <a:p>
            <a:pPr marL="342900" marR="0" lvl="0"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Data Factory</a:t>
            </a:r>
            <a:r>
              <a:rPr lang="en-US" sz="1800">
                <a:solidFill>
                  <a:srgbClr val="000000"/>
                </a:solidFill>
                <a:effectLst/>
                <a:latin typeface="Calibri" panose="020F0502020204030204" pitchFamily="34" charset="0"/>
                <a:ea typeface="Times New Roman" panose="02020603050405020304" pitchFamily="18" charset="0"/>
              </a:rPr>
              <a:t> provides more than 150 connectors to cloud and on-premises data sources, drag-and-drop experiences for data transformation, and the ability to orchestrate data pipelines.​</a:t>
            </a:r>
            <a:endParaRPr lang="en-US" sz="1800">
              <a:effectLst/>
              <a:latin typeface="Times New Roman" panose="02020603050405020304" pitchFamily="18" charset="0"/>
              <a:ea typeface="Times New Roman" panose="02020603050405020304" pitchFamily="18" charset="0"/>
            </a:endParaRPr>
          </a:p>
          <a:p>
            <a:pPr marL="342900" marR="0" lvl="0"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Real-Time Intelligence</a:t>
            </a:r>
            <a:r>
              <a:rPr lang="en-US" sz="1800" b="0">
                <a:solidFill>
                  <a:srgbClr val="000000"/>
                </a:solidFill>
                <a:effectLst/>
                <a:latin typeface="Calibri" panose="020F0502020204030204" pitchFamily="34" charset="0"/>
                <a:ea typeface="Times New Roman" panose="02020603050405020304" pitchFamily="18" charset="0"/>
              </a:rPr>
              <a:t> is the combination of Real-Time Analytics and Activator, that allow you to ingest streaming data with high granularity, dynamically transform streaming data, query data in real-time for instant insights, and trigger actions like alerting a production manager when equipment is overheating or rerunning jobs when data pipelines fail. </a:t>
            </a:r>
            <a:endParaRPr lang="en-US" sz="1800" b="1">
              <a:solidFill>
                <a:srgbClr val="000000"/>
              </a:solidFill>
              <a:effectLst/>
              <a:latin typeface="Calibri" panose="020F0502020204030204" pitchFamily="34" charset="0"/>
              <a:ea typeface="Times New Roman" panose="02020603050405020304" pitchFamily="18" charset="0"/>
            </a:endParaRPr>
          </a:p>
          <a:p>
            <a:pPr marL="342900" marR="0" lvl="0"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Databases </a:t>
            </a:r>
            <a:r>
              <a:rPr lang="en-US" sz="1800" b="0">
                <a:solidFill>
                  <a:srgbClr val="000000"/>
                </a:solidFill>
                <a:effectLst/>
                <a:latin typeface="Calibri" panose="020F0502020204030204" pitchFamily="34" charset="0"/>
                <a:ea typeface="Times New Roman" panose="02020603050405020304" pitchFamily="18" charset="0"/>
              </a:rPr>
              <a:t>enables the streamlining of AI application development with simple, intuitive, and autonomous databases that provision in seconds. With Fabric’s new Databases workload you can unlock innovative new scenarios for AI transformation.</a:t>
            </a:r>
            <a:endParaRPr lang="en-US" sz="1800" b="1">
              <a:solidFill>
                <a:srgbClr val="000000"/>
              </a:solidFill>
              <a:effectLst/>
              <a:latin typeface="Calibri" panose="020F0502020204030204" pitchFamily="34" charset="0"/>
              <a:ea typeface="Times New Roman" panose="02020603050405020304" pitchFamily="18" charset="0"/>
            </a:endParaRPr>
          </a:p>
          <a:p>
            <a:pPr marL="342900" marR="0" lvl="0"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Analytics </a:t>
            </a:r>
            <a:r>
              <a:rPr lang="en-US" sz="1800" b="0">
                <a:solidFill>
                  <a:srgbClr val="000000"/>
                </a:solidFill>
                <a:effectLst/>
                <a:latin typeface="Calibri" panose="020F0502020204030204" pitchFamily="34" charset="0"/>
                <a:ea typeface="Times New Roman" panose="02020603050405020304" pitchFamily="18" charset="0"/>
              </a:rPr>
              <a:t>is also a new combination of three workloads: Data Engineering, Data Science, and Data Warehousing. Within Analytics, data professionals have all the tools they need for more complex authoring and modeling</a:t>
            </a:r>
            <a:endParaRPr lang="en-US" sz="1800" b="1">
              <a:solidFill>
                <a:srgbClr val="000000"/>
              </a:solidFill>
              <a:effectLst/>
              <a:latin typeface="Calibri" panose="020F0502020204030204" pitchFamily="34" charset="0"/>
              <a:ea typeface="Times New Roman" panose="02020603050405020304" pitchFamily="18" charset="0"/>
            </a:endParaRPr>
          </a:p>
          <a:p>
            <a:pPr marL="800100" marR="0" lvl="1"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Data Engineering </a:t>
            </a:r>
            <a:r>
              <a:rPr lang="en-US" sz="1800">
                <a:solidFill>
                  <a:srgbClr val="000000"/>
                </a:solidFill>
                <a:effectLst/>
                <a:latin typeface="Calibri" panose="020F0502020204030204" pitchFamily="34" charset="0"/>
                <a:ea typeface="Times New Roman" panose="02020603050405020304" pitchFamily="18" charset="0"/>
              </a:rPr>
              <a:t>enables great authoring experiences for Spark, instant start with live pools, and the ability to collaborate.​</a:t>
            </a:r>
            <a:endParaRPr lang="en-US" sz="1800">
              <a:effectLst/>
              <a:latin typeface="Times New Roman" panose="02020603050405020304" pitchFamily="18" charset="0"/>
              <a:ea typeface="Times New Roman" panose="02020603050405020304" pitchFamily="18" charset="0"/>
            </a:endParaRPr>
          </a:p>
          <a:p>
            <a:pPr marL="800100" marR="0" lvl="1"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Data Science </a:t>
            </a:r>
            <a:r>
              <a:rPr lang="en-US" sz="1800">
                <a:solidFill>
                  <a:srgbClr val="000000"/>
                </a:solidFill>
                <a:effectLst/>
                <a:latin typeface="Calibri" panose="020F0502020204030204" pitchFamily="34" charset="0"/>
                <a:ea typeface="Times New Roman" panose="02020603050405020304" pitchFamily="18" charset="0"/>
              </a:rPr>
              <a:t>provides an end-to-end workflow for data scientists to build sophisticated AI models, collaborate easily, and train, deploy, and manage machine learning models. ​</a:t>
            </a:r>
            <a:endParaRPr lang="en-US" sz="1800">
              <a:effectLst/>
              <a:latin typeface="Times New Roman" panose="02020603050405020304" pitchFamily="18" charset="0"/>
              <a:ea typeface="Times New Roman" panose="02020603050405020304" pitchFamily="18" charset="0"/>
            </a:endParaRPr>
          </a:p>
          <a:p>
            <a:pPr marL="800100" marR="0" lvl="1" indent="-342900" fontAlgn="base">
              <a:spcBef>
                <a:spcPts val="0"/>
              </a:spcBef>
              <a:spcAft>
                <a:spcPts val="0"/>
              </a:spcAft>
              <a:buFont typeface="Symbol" panose="05050102010706020507" pitchFamily="18" charset="2"/>
              <a:buChar char=""/>
            </a:pPr>
            <a:r>
              <a:rPr lang="en-US" sz="1800" b="1">
                <a:solidFill>
                  <a:srgbClr val="000000"/>
                </a:solidFill>
                <a:effectLst/>
                <a:latin typeface="Calibri" panose="020F0502020204030204" pitchFamily="34" charset="0"/>
                <a:ea typeface="Times New Roman" panose="02020603050405020304" pitchFamily="18" charset="0"/>
              </a:rPr>
              <a:t>Data Warehousing</a:t>
            </a:r>
            <a:r>
              <a:rPr lang="en-US" sz="1800">
                <a:solidFill>
                  <a:srgbClr val="000000"/>
                </a:solidFill>
                <a:effectLst/>
                <a:latin typeface="Calibri" panose="020F0502020204030204" pitchFamily="34" charset="0"/>
                <a:ea typeface="Times New Roman" panose="02020603050405020304" pitchFamily="18" charset="0"/>
              </a:rPr>
              <a:t> provides a converged lake house and data warehouse experience with industry-leading SQL performance on open data formats.​</a:t>
            </a:r>
            <a:endParaRPr lang="en-US" sz="1800">
              <a:effectLst/>
              <a:latin typeface="Times New Roman" panose="02020603050405020304" pitchFamily="18" charset="0"/>
              <a:ea typeface="Times New Roman" panose="02020603050405020304" pitchFamily="18" charset="0"/>
            </a:endParaRPr>
          </a:p>
          <a:p>
            <a:pPr marL="342900" marR="0" lvl="0" indent="-342900" algn="l" defTabSz="914400" rtl="0" eaLnBrk="1" fontAlgn="base" latinLnBrk="0" hangingPunct="1">
              <a:lnSpc>
                <a:spcPct val="100000"/>
              </a:lnSpc>
              <a:spcBef>
                <a:spcPts val="0"/>
              </a:spcBef>
              <a:spcAft>
                <a:spcPts val="0"/>
              </a:spcAft>
              <a:buClrTx/>
              <a:buSzTx/>
              <a:buFont typeface="Symbol" panose="05050102010706020507" pitchFamily="18" charset="2"/>
              <a:buChar char=""/>
              <a:tabLst/>
              <a:defRPr/>
            </a:pPr>
            <a:r>
              <a:rPr lang="en-US" sz="1800" b="1">
                <a:solidFill>
                  <a:srgbClr val="000000"/>
                </a:solidFill>
                <a:effectLst/>
                <a:latin typeface="Calibri" panose="020F0502020204030204" pitchFamily="34" charset="0"/>
                <a:ea typeface="Times New Roman" panose="02020603050405020304" pitchFamily="18" charset="0"/>
              </a:rPr>
              <a:t>Industry Solutions </a:t>
            </a:r>
            <a:r>
              <a:rPr lang="en-US" sz="1800" b="0">
                <a:solidFill>
                  <a:srgbClr val="000000"/>
                </a:solidFill>
                <a:effectLst/>
                <a:latin typeface="Calibri" panose="020F0502020204030204" pitchFamily="34" charset="0"/>
                <a:ea typeface="Times New Roman" panose="02020603050405020304" pitchFamily="18" charset="0"/>
              </a:rPr>
              <a:t>allows Fabric users to not only unify their data and lay the foundation for transformative solutions, but also shortens the onramp to Fabric value for customers in Healthcare, Manufacturing, Retail, and Sustainability with industry-focused connectors, data models, and out-of-the-box templates.</a:t>
            </a:r>
            <a:endParaRPr lang="en-US" sz="1800" b="1">
              <a:solidFill>
                <a:srgbClr val="000000"/>
              </a:solidFill>
              <a:effectLst/>
              <a:latin typeface="Calibri" panose="020F0502020204030204" pitchFamily="34" charset="0"/>
              <a:ea typeface="Times New Roman" panose="02020603050405020304" pitchFamily="18" charset="0"/>
            </a:endParaRPr>
          </a:p>
          <a:p>
            <a:pPr marL="342900" marR="0" lvl="0" indent="-342900" algn="l" defTabSz="914400" rtl="0" eaLnBrk="1" fontAlgn="base" latinLnBrk="0" hangingPunct="1">
              <a:lnSpc>
                <a:spcPct val="100000"/>
              </a:lnSpc>
              <a:spcBef>
                <a:spcPts val="0"/>
              </a:spcBef>
              <a:spcAft>
                <a:spcPts val="0"/>
              </a:spcAft>
              <a:buClrTx/>
              <a:buSzTx/>
              <a:buFont typeface="Symbol" panose="05050102010706020507" pitchFamily="18" charset="2"/>
              <a:buChar char=""/>
              <a:tabLst/>
              <a:defRPr/>
            </a:pPr>
            <a:r>
              <a:rPr lang="en-US" sz="1800" b="1">
                <a:solidFill>
                  <a:srgbClr val="000000"/>
                </a:solidFill>
                <a:effectLst/>
                <a:latin typeface="Calibri" panose="020F0502020204030204" pitchFamily="34" charset="0"/>
                <a:ea typeface="Times New Roman" panose="02020603050405020304" pitchFamily="18" charset="0"/>
              </a:rPr>
              <a:t>Power BI</a:t>
            </a:r>
            <a:r>
              <a:rPr lang="en-US" sz="1800">
                <a:solidFill>
                  <a:srgbClr val="000000"/>
                </a:solidFill>
                <a:effectLst/>
                <a:latin typeface="Calibri" panose="020F0502020204030204" pitchFamily="34" charset="0"/>
                <a:ea typeface="Times New Roman" panose="02020603050405020304" pitchFamily="18" charset="0"/>
              </a:rPr>
              <a:t> in Fabric provides industry-leading visualization and AI-driven analytics that enable business analysts and business users to gain insights from data. The Power BI experience is also deeply integrated into Microsoft 365, providing relevant insights where business users already work. ​</a:t>
            </a:r>
          </a:p>
          <a:p>
            <a:pPr marL="342900" marR="0" lvl="0" indent="-342900" algn="l" defTabSz="914400" rtl="0" eaLnBrk="1" fontAlgn="base" latinLnBrk="0" hangingPunct="1">
              <a:lnSpc>
                <a:spcPct val="100000"/>
              </a:lnSpc>
              <a:spcBef>
                <a:spcPts val="0"/>
              </a:spcBef>
              <a:spcAft>
                <a:spcPts val="0"/>
              </a:spcAft>
              <a:buClrTx/>
              <a:buSzTx/>
              <a:buFont typeface="Symbol" panose="05050102010706020507" pitchFamily="18" charset="2"/>
              <a:buChar char=""/>
              <a:tabLst/>
              <a:defRPr/>
            </a:pPr>
            <a:r>
              <a:rPr lang="en-US" sz="1800" b="1">
                <a:solidFill>
                  <a:srgbClr val="000000"/>
                </a:solidFill>
                <a:effectLst/>
                <a:latin typeface="Calibri" panose="020F0502020204030204" pitchFamily="34" charset="0"/>
                <a:ea typeface="Times New Roman" panose="02020603050405020304" pitchFamily="18" charset="0"/>
              </a:rPr>
              <a:t>Partner Solutions </a:t>
            </a:r>
            <a:r>
              <a:rPr lang="en-US" sz="1800" b="0">
                <a:solidFill>
                  <a:srgbClr val="000000"/>
                </a:solidFill>
                <a:effectLst/>
                <a:latin typeface="Calibri" panose="020F0502020204030204" pitchFamily="34" charset="0"/>
                <a:ea typeface="Times New Roman" panose="02020603050405020304" pitchFamily="18" charset="0"/>
              </a:rPr>
              <a:t>empower users to take advantage of an extensive ecosystem of partners to help drive business growth.</a:t>
            </a:r>
            <a:endParaRPr lang="en-US" sz="1800" b="1">
              <a:solidFill>
                <a:schemeClr val="tx1"/>
              </a:solidFill>
              <a:effectLst/>
              <a:latin typeface="Times New Roman" panose="02020603050405020304" pitchFamily="18" charset="0"/>
              <a:ea typeface="Times New Roman" panose="02020603050405020304" pitchFamily="18" charset="0"/>
            </a:endParaRPr>
          </a:p>
          <a:p>
            <a:pPr marL="0" marR="0" lvl="0" indent="0" fontAlgn="base">
              <a:spcBef>
                <a:spcPts val="0"/>
              </a:spcBef>
              <a:spcAft>
                <a:spcPts val="0"/>
              </a:spcAft>
              <a:buFont typeface="Symbol" panose="05050102010706020507" pitchFamily="18" charset="2"/>
              <a:buNone/>
            </a:pPr>
            <a:endParaRPr lang="en-US" sz="1800" b="0">
              <a:solidFill>
                <a:srgbClr val="000000"/>
              </a:solidFill>
              <a:effectLst/>
              <a:latin typeface="Calibri" panose="020F0502020204030204" pitchFamily="34" charset="0"/>
              <a:ea typeface="Times New Roman" panose="02020603050405020304" pitchFamily="18" charset="0"/>
            </a:endParaRPr>
          </a:p>
          <a:p>
            <a:pPr marL="0" marR="0" lvl="0" indent="0" fontAlgn="base">
              <a:spcBef>
                <a:spcPts val="0"/>
              </a:spcBef>
              <a:spcAft>
                <a:spcPts val="0"/>
              </a:spcAft>
              <a:buFont typeface="Symbol" panose="05050102010706020507" pitchFamily="18" charset="2"/>
              <a:buNone/>
            </a:pPr>
            <a:r>
              <a:rPr lang="en-US" sz="1800" b="0">
                <a:solidFill>
                  <a:srgbClr val="000000"/>
                </a:solidFill>
                <a:effectLst/>
                <a:latin typeface="Calibri" panose="020F0502020204030204" pitchFamily="34" charset="0"/>
                <a:ea typeface="Times New Roman" panose="02020603050405020304" pitchFamily="18" charset="0"/>
              </a:rPr>
              <a:t>And with Microsoft Fabric’s new workload hub, you can </a:t>
            </a:r>
            <a:r>
              <a:rPr lang="en-US" sz="1800" kern="100">
                <a:effectLst/>
                <a:latin typeface="Segoe UI" panose="020B0502040204020203" pitchFamily="34" charset="0"/>
                <a:ea typeface="Calibri" panose="020F0502020204030204" pitchFamily="34" charset="0"/>
              </a:rPr>
              <a:t>discover, add, and manage partner created workloads from industry-leading ISVs like EPIC, London Stock Exchange, Informatica, and ESRI. </a:t>
            </a:r>
            <a:endParaRPr lang="en-US" sz="1800">
              <a:solidFill>
                <a:srgbClr val="000000"/>
              </a:solidFill>
              <a:effectLst/>
              <a:latin typeface="Calibri" panose="020F0502020204030204" pitchFamily="34" charset="0"/>
              <a:ea typeface="Times New Roman" panose="02020603050405020304" pitchFamily="18" charset="0"/>
            </a:endParaRPr>
          </a:p>
          <a:p>
            <a:endParaRPr lang="en-US" sz="1800">
              <a:effectLst/>
              <a:latin typeface="Times New Roman"/>
              <a:ea typeface="Times New Roman" panose="02020603050405020304" pitchFamily="18" charset="0"/>
              <a:cs typeface="Times New Roman"/>
            </a:endParaRPr>
          </a:p>
        </p:txBody>
      </p:sp>
      <p:sp>
        <p:nvSpPr>
          <p:cNvPr id="4" name="Slide Number Placeholder 3">
            <a:extLst>
              <a:ext uri="{FF2B5EF4-FFF2-40B4-BE49-F238E27FC236}">
                <a16:creationId xmlns:a16="http://schemas.microsoft.com/office/drawing/2014/main" id="{DC92F08C-6D69-9B1D-3CD9-F9EA508E51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2116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D52B0-D45D-5B14-3547-08D4DBDC9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AFBED-E5FB-BA70-6E79-3409F830D3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688DC4-99EE-C532-6529-A42903F05B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Microsoft Fabric is a unified SaaS based solution comprised of workloads, designed to target specific personas and tasks, while working seamlessly together on a unified lake-first foundation. Together, these workloads help organizations unlock the transformative value of data. Let us look at each of these key workloads in detail. </a:t>
            </a:r>
          </a:p>
          <a:p>
            <a:endParaRPr lang="en-US"/>
          </a:p>
        </p:txBody>
      </p:sp>
      <p:sp>
        <p:nvSpPr>
          <p:cNvPr id="4" name="Slide Number Placeholder 3">
            <a:extLst>
              <a:ext uri="{FF2B5EF4-FFF2-40B4-BE49-F238E27FC236}">
                <a16:creationId xmlns:a16="http://schemas.microsoft.com/office/drawing/2014/main" id="{FF1D1BAF-B4AE-B623-57E9-960D25C3B269}"/>
              </a:ext>
            </a:extLst>
          </p:cNvPr>
          <p:cNvSpPr>
            <a:spLocks noGrp="1"/>
          </p:cNvSpPr>
          <p:nvPr>
            <p:ph type="sldNum" sz="quarter" idx="5"/>
          </p:nvPr>
        </p:nvSpPr>
        <p:spPr/>
        <p:txBody>
          <a:bodyPr/>
          <a:lstStyle/>
          <a:p>
            <a:fld id="{054A4EC1-C524-ED45-A185-10510AA0C8D1}" type="slidenum">
              <a:rPr lang="en-US" smtClean="0"/>
              <a:t>4</a:t>
            </a:fld>
            <a:endParaRPr lang="en-US"/>
          </a:p>
        </p:txBody>
      </p:sp>
    </p:spTree>
    <p:extLst>
      <p:ext uri="{BB962C8B-B14F-4D97-AF65-F5344CB8AC3E}">
        <p14:creationId xmlns:p14="http://schemas.microsoft.com/office/powerpoint/2010/main" val="354254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i="0">
                <a:latin typeface="Segoe UI"/>
                <a:cs typeface="Segoe UI"/>
              </a:rPr>
              <a:t>Data Warehouse allows you to achieve data platform goals with ease and cost efficiency. The Enterprise grade Data Warehouse builds relational layers on top of the physical data in the Lakehouse, providing a fully separate compute from storage that can independently scale backed by industry leading SQL performance.</a:t>
            </a:r>
            <a:r>
              <a:rPr lang="en-US" sz="1200">
                <a:latin typeface="Segoe UI"/>
                <a:cs typeface="Segoe UI"/>
              </a:rPr>
              <a:t> </a:t>
            </a:r>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6548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Seller’s note: Data Engineering, Data Warehouse, and Data Science now roll up into the Analytics workload</a:t>
            </a:r>
          </a:p>
          <a:p>
            <a:endParaRPr lang="en-US"/>
          </a:p>
        </p:txBody>
      </p:sp>
      <p:sp>
        <p:nvSpPr>
          <p:cNvPr id="4" name="Slide Number Placeholder 3"/>
          <p:cNvSpPr>
            <a:spLocks noGrp="1"/>
          </p:cNvSpPr>
          <p:nvPr>
            <p:ph type="sldNum" sz="quarter" idx="5"/>
          </p:nvPr>
        </p:nvSpPr>
        <p:spPr/>
        <p:txBody>
          <a:bodyPr/>
          <a:lstStyle/>
          <a:p>
            <a:fld id="{054A4EC1-C524-ED45-A185-10510AA0C8D1}" type="slidenum">
              <a:rPr lang="en-US" smtClean="0"/>
              <a:t>6</a:t>
            </a:fld>
            <a:endParaRPr lang="en-US"/>
          </a:p>
        </p:txBody>
      </p:sp>
    </p:spTree>
    <p:extLst>
      <p:ext uri="{BB962C8B-B14F-4D97-AF65-F5344CB8AC3E}">
        <p14:creationId xmlns:p14="http://schemas.microsoft.com/office/powerpoint/2010/main" val="250966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4841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Other talking points: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EFB"/>
                </a:solidFill>
                <a:effectLst/>
                <a:uLnTx/>
                <a:uFillTx/>
                <a:latin typeface="Segoe Sans Text" pitchFamily="2" charset="0"/>
                <a:cs typeface="Segoe Sans Text" pitchFamily="2" charset="0"/>
              </a:rPr>
              <a:t>Simple and intuitive warehouse experiences for both beginner and experienced data professionals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EFB"/>
                </a:solidFill>
                <a:effectLst/>
                <a:uLnTx/>
                <a:uFillTx/>
                <a:latin typeface="Segoe Sans Text" pitchFamily="2" charset="0"/>
                <a:cs typeface="Segoe Sans Text" pitchFamily="2" charset="0"/>
              </a:rPr>
              <a:t>Fully integrated with all Fabric workloads out-of-the box</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EFB"/>
                </a:solidFill>
                <a:effectLst/>
                <a:uLnTx/>
                <a:uFillTx/>
                <a:latin typeface="Segoe Sans Text" pitchFamily="2" charset="0"/>
                <a:cs typeface="Segoe Sans Text" pitchFamily="2" charset="0"/>
              </a:rPr>
              <a:t>Enterprise-ready platform with end-to-end performance and usage visibility, with built-in governance and security</a:t>
            </a:r>
          </a:p>
          <a:p>
            <a:endParaRPr lang="en-US"/>
          </a:p>
        </p:txBody>
      </p:sp>
      <p:sp>
        <p:nvSpPr>
          <p:cNvPr id="4" name="Slide Number Placeholder 3"/>
          <p:cNvSpPr>
            <a:spLocks noGrp="1"/>
          </p:cNvSpPr>
          <p:nvPr>
            <p:ph type="sldNum" sz="quarter" idx="5"/>
          </p:nvPr>
        </p:nvSpPr>
        <p:spPr/>
        <p:txBody>
          <a:bodyPr/>
          <a:lstStyle/>
          <a:p>
            <a:fld id="{054A4EC1-C524-ED45-A185-10510AA0C8D1}" type="slidenum">
              <a:rPr lang="en-US" smtClean="0"/>
              <a:t>9</a:t>
            </a:fld>
            <a:endParaRPr lang="en-US"/>
          </a:p>
        </p:txBody>
      </p:sp>
    </p:spTree>
    <p:extLst>
      <p:ext uri="{BB962C8B-B14F-4D97-AF65-F5344CB8AC3E}">
        <p14:creationId xmlns:p14="http://schemas.microsoft.com/office/powerpoint/2010/main" val="745389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609DCD-38B9-4CAA-A10D-406D26B5670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9984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png"/><Relationship Id="rId2" Type="http://schemas.openxmlformats.org/officeDocument/2006/relationships/image" Target="../media/image19.jp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1.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2.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3.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4.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5.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6.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7.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image" Target="../media/image28.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5.jpg"/><Relationship Id="rId1" Type="http://schemas.openxmlformats.org/officeDocument/2006/relationships/slideMaster" Target="../slideMasters/slideMaster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jp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Master" Target="../slideMasters/slideMaster4.xml"/><Relationship Id="rId5" Type="http://schemas.openxmlformats.org/officeDocument/2006/relationships/image" Target="../media/image34.svg"/><Relationship Id="rId4" Type="http://schemas.openxmlformats.org/officeDocument/2006/relationships/image" Target="../media/image33.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4.xml"/><Relationship Id="rId4" Type="http://schemas.openxmlformats.org/officeDocument/2006/relationships/image" Target="../media/image36.png"/></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Master" Target="../slideMasters/slideMaster4.xml"/><Relationship Id="rId4" Type="http://schemas.openxmlformats.org/officeDocument/2006/relationships/image" Target="../media/image34.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7.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Master" Target="../slideMasters/slideMaster4.xml"/><Relationship Id="rId4" Type="http://schemas.openxmlformats.org/officeDocument/2006/relationships/image" Target="../media/image37.jp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Master" Target="../slideMasters/slideMaster4.xml"/><Relationship Id="rId5" Type="http://schemas.openxmlformats.org/officeDocument/2006/relationships/image" Target="../media/image34.svg"/><Relationship Id="rId4" Type="http://schemas.openxmlformats.org/officeDocument/2006/relationships/image" Target="../media/image33.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38.jpg"/><Relationship Id="rId4" Type="http://schemas.openxmlformats.org/officeDocument/2006/relationships/image" Target="../media/image34.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png"/><Relationship Id="rId7" Type="http://schemas.openxmlformats.org/officeDocument/2006/relationships/image" Target="../media/image45.png"/><Relationship Id="rId2" Type="http://schemas.openxmlformats.org/officeDocument/2006/relationships/image" Target="../media/image41.png"/><Relationship Id="rId1" Type="http://schemas.openxmlformats.org/officeDocument/2006/relationships/slideMaster" Target="../slideMasters/slideMaster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Layouts/_rels/slideLayout6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png"/><Relationship Id="rId7" Type="http://schemas.openxmlformats.org/officeDocument/2006/relationships/image" Target="../media/image49.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6.png"/><Relationship Id="rId9" Type="http://schemas.openxmlformats.org/officeDocument/2006/relationships/image" Target="../media/image51.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4.png"/><Relationship Id="rId2" Type="http://schemas.openxmlformats.org/officeDocument/2006/relationships/image" Target="../media/image18.png"/><Relationship Id="rId1" Type="http://schemas.openxmlformats.org/officeDocument/2006/relationships/slideMaster" Target="../slideMasters/slideMaster5.xml"/><Relationship Id="rId6" Type="http://schemas.openxmlformats.org/officeDocument/2006/relationships/image" Target="../media/image53.jpeg"/><Relationship Id="rId5" Type="http://schemas.openxmlformats.org/officeDocument/2006/relationships/image" Target="../media/image52.png"/><Relationship Id="rId4" Type="http://schemas.openxmlformats.org/officeDocument/2006/relationships/image" Target="../media/image15.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4.png"/><Relationship Id="rId2" Type="http://schemas.openxmlformats.org/officeDocument/2006/relationships/image" Target="../media/image18.png"/><Relationship Id="rId1" Type="http://schemas.openxmlformats.org/officeDocument/2006/relationships/slideMaster" Target="../slideMasters/slideMaster5.xml"/><Relationship Id="rId6" Type="http://schemas.openxmlformats.org/officeDocument/2006/relationships/image" Target="../media/image53.jpeg"/><Relationship Id="rId5" Type="http://schemas.openxmlformats.org/officeDocument/2006/relationships/image" Target="../media/image52.png"/><Relationship Id="rId4" Type="http://schemas.openxmlformats.org/officeDocument/2006/relationships/image" Target="../media/image15.png"/></Relationships>
</file>

<file path=ppt/slideLayouts/_rels/slideLayout7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3.png"/><Relationship Id="rId1" Type="http://schemas.openxmlformats.org/officeDocument/2006/relationships/slideMaster" Target="../slideMasters/slideMaster5.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5.xml"/><Relationship Id="rId6" Type="http://schemas.openxmlformats.org/officeDocument/2006/relationships/image" Target="../media/image61.png"/><Relationship Id="rId5" Type="http://schemas.openxmlformats.org/officeDocument/2006/relationships/image" Target="../media/image52.png"/><Relationship Id="rId4" Type="http://schemas.openxmlformats.org/officeDocument/2006/relationships/image" Target="../media/image15.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5.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Vide blanc">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565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seul - 1">
    <p:spTree>
      <p:nvGrpSpPr>
        <p:cNvPr id="1" name=""/>
        <p:cNvGrpSpPr/>
        <p:nvPr/>
      </p:nvGrpSpPr>
      <p:grpSpPr>
        <a:xfrm>
          <a:off x="0" y="0"/>
          <a:ext cx="0" cy="0"/>
          <a:chOff x="0" y="0"/>
          <a:chExt cx="0" cy="0"/>
        </a:xfrm>
      </p:grpSpPr>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838200" y="20742"/>
            <a:ext cx="10515600" cy="1104674"/>
          </a:xfrm>
        </p:spPr>
        <p:txBody>
          <a:bodyPr/>
          <a:lstStyle>
            <a:lvl1pPr>
              <a:defRPr>
                <a:solidFill>
                  <a:srgbClr val="002060"/>
                </a:solidFill>
              </a:defRPr>
            </a:lvl1pPr>
          </a:lstStyle>
          <a:p>
            <a:r>
              <a:rPr lang="fr-FR" dirty="0"/>
              <a:t>Titre de la page</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Tree>
    <p:extLst>
      <p:ext uri="{BB962C8B-B14F-4D97-AF65-F5344CB8AC3E}">
        <p14:creationId xmlns:p14="http://schemas.microsoft.com/office/powerpoint/2010/main" val="2742473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seul - 2">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4BB829A2-F7BD-4F55-86DB-069B3C790782}"/>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9" name="Title 1">
            <a:extLst>
              <a:ext uri="{FF2B5EF4-FFF2-40B4-BE49-F238E27FC236}">
                <a16:creationId xmlns:a16="http://schemas.microsoft.com/office/drawing/2014/main" id="{C5AFFE61-C6DE-4EBB-AC76-4DAD684CB660}"/>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4233010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seul - 3">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E6098061-51CD-40BC-B7FB-E3954989A235}"/>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9" name="Rectangle 8">
            <a:extLst>
              <a:ext uri="{FF2B5EF4-FFF2-40B4-BE49-F238E27FC236}">
                <a16:creationId xmlns:a16="http://schemas.microsoft.com/office/drawing/2014/main" id="{7E644418-1D56-4F50-A53C-F01F7309F507}"/>
              </a:ext>
            </a:extLst>
          </p:cNvPr>
          <p:cNvSpPr/>
          <p:nvPr userDrawn="1"/>
        </p:nvSpPr>
        <p:spPr>
          <a:xfrm>
            <a:off x="0" y="6173251"/>
            <a:ext cx="12192000" cy="6810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 avec coins arrondis en diagonale 9">
            <a:extLst>
              <a:ext uri="{FF2B5EF4-FFF2-40B4-BE49-F238E27FC236}">
                <a16:creationId xmlns:a16="http://schemas.microsoft.com/office/drawing/2014/main" id="{D73BC507-CFF9-4690-8E96-3E939F55E0BE}"/>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Slide Number Placeholder 5">
            <a:extLst>
              <a:ext uri="{FF2B5EF4-FFF2-40B4-BE49-F238E27FC236}">
                <a16:creationId xmlns:a16="http://schemas.microsoft.com/office/drawing/2014/main" id="{0ACCDD6D-D462-422A-A428-C81D86CA1CA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4" name="Date Placeholder 3">
            <a:extLst>
              <a:ext uri="{FF2B5EF4-FFF2-40B4-BE49-F238E27FC236}">
                <a16:creationId xmlns:a16="http://schemas.microsoft.com/office/drawing/2014/main" id="{32FB6411-6532-4974-AC96-28C0E706E9CA}"/>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15" name="Footer Placeholder 4">
            <a:extLst>
              <a:ext uri="{FF2B5EF4-FFF2-40B4-BE49-F238E27FC236}">
                <a16:creationId xmlns:a16="http://schemas.microsoft.com/office/drawing/2014/main" id="{7B0F6C35-89F5-46C2-9A9D-0A91D1539D12}"/>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pic>
        <p:nvPicPr>
          <p:cNvPr id="16" name="Image 15">
            <a:extLst>
              <a:ext uri="{FF2B5EF4-FFF2-40B4-BE49-F238E27FC236}">
                <a16:creationId xmlns:a16="http://schemas.microsoft.com/office/drawing/2014/main" id="{AC8A8438-E14C-4ED4-A8FF-42B4A78FC4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3" name="Title 1">
            <a:extLst>
              <a:ext uri="{FF2B5EF4-FFF2-40B4-BE49-F238E27FC236}">
                <a16:creationId xmlns:a16="http://schemas.microsoft.com/office/drawing/2014/main" id="{7A177CDB-7D96-412A-B0A4-39028531B09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2293452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u simple - 1">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57A1C490-2137-4109-9BC4-2B19155FE969}"/>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1463040"/>
            <a:ext cx="10515600" cy="4713924"/>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Title 1">
            <a:extLst>
              <a:ext uri="{FF2B5EF4-FFF2-40B4-BE49-F238E27FC236}">
                <a16:creationId xmlns:a16="http://schemas.microsoft.com/office/drawing/2014/main" id="{C2EAD0DF-1A92-47AC-8484-A03B7F132A5F}"/>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8801898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u simple - 2">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E7282368-5B66-475F-8D1A-C82A58786A25}"/>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10" name="Rectangle 9">
            <a:extLst>
              <a:ext uri="{FF2B5EF4-FFF2-40B4-BE49-F238E27FC236}">
                <a16:creationId xmlns:a16="http://schemas.microsoft.com/office/drawing/2014/main" id="{E74A5A83-3B6F-49F8-A409-256C1E291D4E}"/>
              </a:ext>
            </a:extLst>
          </p:cNvPr>
          <p:cNvSpPr/>
          <p:nvPr userDrawn="1"/>
        </p:nvSpPr>
        <p:spPr>
          <a:xfrm>
            <a:off x="0" y="6173251"/>
            <a:ext cx="12192000" cy="6810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1463040"/>
            <a:ext cx="10515600" cy="4727992"/>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Date Placeholder 3">
            <a:extLst>
              <a:ext uri="{FF2B5EF4-FFF2-40B4-BE49-F238E27FC236}">
                <a16:creationId xmlns:a16="http://schemas.microsoft.com/office/drawing/2014/main" id="{BF46D0B1-22F2-4657-8D91-4379F117F6A4}"/>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14" name="Footer Placeholder 4">
            <a:extLst>
              <a:ext uri="{FF2B5EF4-FFF2-40B4-BE49-F238E27FC236}">
                <a16:creationId xmlns:a16="http://schemas.microsoft.com/office/drawing/2014/main" id="{C4BB5B52-E5EC-4BE6-A1F3-5B6C15D18006}"/>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pic>
        <p:nvPicPr>
          <p:cNvPr id="15" name="Image 14">
            <a:extLst>
              <a:ext uri="{FF2B5EF4-FFF2-40B4-BE49-F238E27FC236}">
                <a16:creationId xmlns:a16="http://schemas.microsoft.com/office/drawing/2014/main" id="{89CAEAA2-49EA-48D1-9DF0-259F7577186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3" name="Title 1">
            <a:extLst>
              <a:ext uri="{FF2B5EF4-FFF2-40B4-BE49-F238E27FC236}">
                <a16:creationId xmlns:a16="http://schemas.microsoft.com/office/drawing/2014/main" id="{0C32DC16-C72D-4FDD-901C-780E694D9210}"/>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1788988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u mis en avant - 1">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F3993C26-C9AF-4978-A25A-4F54C8745799}"/>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1206500" y="1828602"/>
            <a:ext cx="10147300" cy="3764107"/>
          </a:xfrm>
        </p:spPr>
        <p:txBody>
          <a:bodyPr anchor="ctr"/>
          <a:lstStyle>
            <a:lvl1pPr marL="457200" indent="-457200">
              <a:buFont typeface="Arial" panose="020B0604020202020204" pitchFamily="34" charset="0"/>
              <a:buChar char="•"/>
              <a:defRPr/>
            </a:lvl1pPr>
            <a:lvl2pPr marL="800100" indent="-342900">
              <a:buFont typeface="Arial" panose="020B0604020202020204" pitchFamily="34" charset="0"/>
              <a:buChar char="•"/>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2" name="Graphique 11">
            <a:extLst>
              <a:ext uri="{FF2B5EF4-FFF2-40B4-BE49-F238E27FC236}">
                <a16:creationId xmlns:a16="http://schemas.microsoft.com/office/drawing/2014/main" id="{537B2133-4248-41BA-A813-0A191950C7B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1922" y="1828602"/>
            <a:ext cx="558786" cy="3764107"/>
          </a:xfrm>
          <a:prstGeom prst="rect">
            <a:avLst/>
          </a:prstGeom>
        </p:spPr>
      </p:pic>
      <p:sp>
        <p:nvSpPr>
          <p:cNvPr id="14" name="Title 1">
            <a:extLst>
              <a:ext uri="{FF2B5EF4-FFF2-40B4-BE49-F238E27FC236}">
                <a16:creationId xmlns:a16="http://schemas.microsoft.com/office/drawing/2014/main" id="{5BB52F5A-B9E8-4504-BC9A-FA2C62FA2C3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679452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u mis en avant - 2">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B4628CE5-068B-4763-85B9-BA53B106D9B0}"/>
              </a:ext>
            </a:extLst>
          </p:cNvPr>
          <p:cNvPicPr>
            <a:picLocks noChangeAspect="1"/>
          </p:cNvPicPr>
          <p:nvPr userDrawn="1"/>
        </p:nvPicPr>
        <p:blipFill rotWithShape="1">
          <a:blip r:embed="rId2"/>
          <a:srcRect t="66056"/>
          <a:stretch/>
        </p:blipFill>
        <p:spPr>
          <a:xfrm>
            <a:off x="351321" y="-1"/>
            <a:ext cx="11840679" cy="1149355"/>
          </a:xfrm>
          <a:prstGeom prst="rect">
            <a:avLst/>
          </a:prstGeom>
        </p:spPr>
      </p:pic>
      <p:pic>
        <p:nvPicPr>
          <p:cNvPr id="10" name="Graphique 9">
            <a:extLst>
              <a:ext uri="{FF2B5EF4-FFF2-40B4-BE49-F238E27FC236}">
                <a16:creationId xmlns:a16="http://schemas.microsoft.com/office/drawing/2014/main" id="{CD27617E-52B6-4506-B758-02B28F82D6B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117" y="1809119"/>
            <a:ext cx="2053383" cy="3769518"/>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28" name="Content Placeholder 2">
            <a:extLst>
              <a:ext uri="{FF2B5EF4-FFF2-40B4-BE49-F238E27FC236}">
                <a16:creationId xmlns:a16="http://schemas.microsoft.com/office/drawing/2014/main" id="{1B257025-C419-4062-AD73-17B1168C7813}"/>
              </a:ext>
            </a:extLst>
          </p:cNvPr>
          <p:cNvSpPr>
            <a:spLocks noGrp="1"/>
          </p:cNvSpPr>
          <p:nvPr>
            <p:ph idx="1"/>
          </p:nvPr>
        </p:nvSpPr>
        <p:spPr>
          <a:xfrm>
            <a:off x="2540000" y="1821819"/>
            <a:ext cx="8813800" cy="3769519"/>
          </a:xfrm>
        </p:spPr>
        <p:txBody>
          <a:bodyPr anchor="ctr"/>
          <a:lstStyle>
            <a:lvl1pPr marL="457200" indent="-457200">
              <a:buFont typeface="Arial" panose="020B0604020202020204" pitchFamily="34" charset="0"/>
              <a:buChar char="•"/>
              <a:defRPr>
                <a:solidFill>
                  <a:schemeClr val="tx1"/>
                </a:solidFill>
              </a:defRPr>
            </a:lvl1pPr>
            <a:lvl2pPr marL="800100" indent="-342900">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pic>
        <p:nvPicPr>
          <p:cNvPr id="14" name="Image 13">
            <a:extLst>
              <a:ext uri="{FF2B5EF4-FFF2-40B4-BE49-F238E27FC236}">
                <a16:creationId xmlns:a16="http://schemas.microsoft.com/office/drawing/2014/main" id="{F300E094-9CF2-4F0C-AD7E-753A3D44928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2" name="Title 1">
            <a:extLst>
              <a:ext uri="{FF2B5EF4-FFF2-40B4-BE49-F238E27FC236}">
                <a16:creationId xmlns:a16="http://schemas.microsoft.com/office/drawing/2014/main" id="{18BE7A44-BC20-4BB0-9A25-59A5BA578EF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3893963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u mis en avant - 3">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21050A88-C9B3-4E33-AD09-98313DEFA07D}"/>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1658228"/>
            <a:ext cx="7827496" cy="4267201"/>
          </a:xfrm>
        </p:spPr>
        <p:txBody>
          <a:bodyPr/>
          <a:lstStyle>
            <a:lvl1pPr marL="457200" indent="-457200">
              <a:buFont typeface="Arial" panose="020B0604020202020204" pitchFamily="34" charset="0"/>
              <a:buChar char="•"/>
              <a:defRPr/>
            </a:lvl1pPr>
            <a:lvl2pPr marL="800100" indent="-342900">
              <a:buFont typeface="Arial" panose="020B0604020202020204" pitchFamily="34" charset="0"/>
              <a:buChar char="•"/>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5" name="Graphique 14">
            <a:extLst>
              <a:ext uri="{FF2B5EF4-FFF2-40B4-BE49-F238E27FC236}">
                <a16:creationId xmlns:a16="http://schemas.microsoft.com/office/drawing/2014/main" id="{0AAC70E0-F115-4EA0-8A24-FD87888CC63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58074" y="1620180"/>
            <a:ext cx="621312" cy="4185296"/>
          </a:xfrm>
          <a:prstGeom prst="rect">
            <a:avLst/>
          </a:prstGeom>
        </p:spPr>
      </p:pic>
      <p:pic>
        <p:nvPicPr>
          <p:cNvPr id="8" name="Image 7">
            <a:extLst>
              <a:ext uri="{FF2B5EF4-FFF2-40B4-BE49-F238E27FC236}">
                <a16:creationId xmlns:a16="http://schemas.microsoft.com/office/drawing/2014/main" id="{AE2AA71E-3B2F-449E-8314-32FE90D7C174}"/>
              </a:ext>
            </a:extLst>
          </p:cNvPr>
          <p:cNvPicPr>
            <a:picLocks noChangeAspect="1"/>
          </p:cNvPicPr>
          <p:nvPr userDrawn="1"/>
        </p:nvPicPr>
        <p:blipFill rotWithShape="1">
          <a:blip r:embed="rId6"/>
          <a:srcRect r="84250"/>
          <a:stretch/>
        </p:blipFill>
        <p:spPr>
          <a:xfrm>
            <a:off x="10271764" y="1620180"/>
            <a:ext cx="1920236" cy="4267200"/>
          </a:xfrm>
          <a:prstGeom prst="rect">
            <a:avLst/>
          </a:prstGeom>
        </p:spPr>
      </p:pic>
      <p:sp>
        <p:nvSpPr>
          <p:cNvPr id="12" name="Title 1">
            <a:extLst>
              <a:ext uri="{FF2B5EF4-FFF2-40B4-BE49-F238E27FC236}">
                <a16:creationId xmlns:a16="http://schemas.microsoft.com/office/drawing/2014/main" id="{AB311054-D27F-4C72-822A-2484E0D70304}"/>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535954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u mis en avant - 4">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0" y="1125416"/>
            <a:ext cx="12192000" cy="57325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Image 29">
            <a:extLst>
              <a:ext uri="{FF2B5EF4-FFF2-40B4-BE49-F238E27FC236}">
                <a16:creationId xmlns:a16="http://schemas.microsoft.com/office/drawing/2014/main" id="{9381C26B-2617-437E-AE26-7A8671DD0D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28" name="Content Placeholder 2">
            <a:extLst>
              <a:ext uri="{FF2B5EF4-FFF2-40B4-BE49-F238E27FC236}">
                <a16:creationId xmlns:a16="http://schemas.microsoft.com/office/drawing/2014/main" id="{1B257025-C419-4062-AD73-17B1168C7813}"/>
              </a:ext>
            </a:extLst>
          </p:cNvPr>
          <p:cNvSpPr>
            <a:spLocks noGrp="1"/>
          </p:cNvSpPr>
          <p:nvPr>
            <p:ph idx="1"/>
          </p:nvPr>
        </p:nvSpPr>
        <p:spPr>
          <a:xfrm>
            <a:off x="2540000" y="1821815"/>
            <a:ext cx="8813800" cy="3769519"/>
          </a:xfrm>
        </p:spPr>
        <p:txBody>
          <a:bodyPr anchor="ctr"/>
          <a:lstStyle>
            <a:lvl1pPr marL="457200" indent="-457200">
              <a:buFont typeface="Arial" panose="020B0604020202020204" pitchFamily="34" charset="0"/>
              <a:buChar char="•"/>
              <a:defRPr>
                <a:solidFill>
                  <a:schemeClr val="bg1"/>
                </a:solidFill>
              </a:defRPr>
            </a:lvl1pPr>
            <a:lvl2pPr marL="800100" indent="-34290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pic>
        <p:nvPicPr>
          <p:cNvPr id="32" name="Graphique 31">
            <a:extLst>
              <a:ext uri="{FF2B5EF4-FFF2-40B4-BE49-F238E27FC236}">
                <a16:creationId xmlns:a16="http://schemas.microsoft.com/office/drawing/2014/main" id="{28021308-50B5-4CC4-8D58-9BC8DFB7A67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117" y="1799308"/>
            <a:ext cx="2053383" cy="3769518"/>
          </a:xfrm>
          <a:prstGeom prst="rect">
            <a:avLst/>
          </a:prstGeom>
        </p:spPr>
      </p:pic>
      <p:sp>
        <p:nvSpPr>
          <p:cNvPr id="11" name="Title 1">
            <a:extLst>
              <a:ext uri="{FF2B5EF4-FFF2-40B4-BE49-F238E27FC236}">
                <a16:creationId xmlns:a16="http://schemas.microsoft.com/office/drawing/2014/main" id="{A9CD932F-9ED9-4B8D-9868-0703CDE7B523}"/>
              </a:ext>
            </a:extLst>
          </p:cNvPr>
          <p:cNvSpPr>
            <a:spLocks noGrp="1"/>
          </p:cNvSpPr>
          <p:nvPr>
            <p:ph type="title" hasCustomPrompt="1"/>
          </p:nvPr>
        </p:nvSpPr>
        <p:spPr>
          <a:xfrm>
            <a:off x="838200" y="20742"/>
            <a:ext cx="10515600" cy="1104674"/>
          </a:xfrm>
        </p:spPr>
        <p:txBody>
          <a:bodyPr/>
          <a:lstStyle>
            <a:lvl1pPr>
              <a:defRPr>
                <a:solidFill>
                  <a:srgbClr val="002060"/>
                </a:solidFill>
              </a:defRPr>
            </a:lvl1pPr>
          </a:lstStyle>
          <a:p>
            <a:r>
              <a:rPr lang="fr-FR" dirty="0"/>
              <a:t>Titre de la page</a:t>
            </a:r>
            <a:endParaRPr lang="en-US" dirty="0"/>
          </a:p>
        </p:txBody>
      </p:sp>
    </p:spTree>
    <p:extLst>
      <p:ext uri="{BB962C8B-B14F-4D97-AF65-F5344CB8AC3E}">
        <p14:creationId xmlns:p14="http://schemas.microsoft.com/office/powerpoint/2010/main" val="1878599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u mis en avant - 5">
    <p:spTree>
      <p:nvGrpSpPr>
        <p:cNvPr id="1" name=""/>
        <p:cNvGrpSpPr/>
        <p:nvPr/>
      </p:nvGrpSpPr>
      <p:grpSpPr>
        <a:xfrm>
          <a:off x="0" y="0"/>
          <a:ext cx="0" cy="0"/>
          <a:chOff x="0" y="0"/>
          <a:chExt cx="0" cy="0"/>
        </a:xfrm>
      </p:grpSpPr>
      <p:pic>
        <p:nvPicPr>
          <p:cNvPr id="18" name="Image 17">
            <a:extLst>
              <a:ext uri="{FF2B5EF4-FFF2-40B4-BE49-F238E27FC236}">
                <a16:creationId xmlns:a16="http://schemas.microsoft.com/office/drawing/2014/main" id="{738D9921-0054-4DF2-9D51-3F0C0D9C0C46}"/>
              </a:ext>
            </a:extLst>
          </p:cNvPr>
          <p:cNvPicPr>
            <a:picLocks noChangeAspect="1"/>
          </p:cNvPicPr>
          <p:nvPr userDrawn="1"/>
        </p:nvPicPr>
        <p:blipFill rotWithShape="1">
          <a:blip r:embed="rId2"/>
          <a:srcRect t="66056"/>
          <a:stretch/>
        </p:blipFill>
        <p:spPr>
          <a:xfrm>
            <a:off x="351321" y="-1"/>
            <a:ext cx="11840679" cy="1149355"/>
          </a:xfrm>
          <a:prstGeom prst="rect">
            <a:avLst/>
          </a:prstGeom>
        </p:spPr>
      </p:pic>
      <p:pic>
        <p:nvPicPr>
          <p:cNvPr id="8" name="Image 7">
            <a:extLst>
              <a:ext uri="{FF2B5EF4-FFF2-40B4-BE49-F238E27FC236}">
                <a16:creationId xmlns:a16="http://schemas.microsoft.com/office/drawing/2014/main" id="{91834BFF-4F88-4F87-A264-702498CFDD1F}"/>
              </a:ext>
            </a:extLst>
          </p:cNvPr>
          <p:cNvPicPr>
            <a:picLocks noChangeAspect="1"/>
          </p:cNvPicPr>
          <p:nvPr userDrawn="1"/>
        </p:nvPicPr>
        <p:blipFill rotWithShape="1">
          <a:blip r:embed="rId3"/>
          <a:srcRect l="13750" t="1" b="-357"/>
          <a:stretch/>
        </p:blipFill>
        <p:spPr>
          <a:xfrm>
            <a:off x="-44450" y="2460374"/>
            <a:ext cx="9150350" cy="4411694"/>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2715065"/>
            <a:ext cx="7315200" cy="3406335"/>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Subtitle 2">
            <a:extLst>
              <a:ext uri="{FF2B5EF4-FFF2-40B4-BE49-F238E27FC236}">
                <a16:creationId xmlns:a16="http://schemas.microsoft.com/office/drawing/2014/main" id="{508406FA-21A7-4832-ABAB-5EDDAC1D9493}"/>
              </a:ext>
            </a:extLst>
          </p:cNvPr>
          <p:cNvSpPr>
            <a:spLocks noGrp="1"/>
          </p:cNvSpPr>
          <p:nvPr>
            <p:ph type="subTitle" idx="14" hasCustomPrompt="1"/>
          </p:nvPr>
        </p:nvSpPr>
        <p:spPr>
          <a:xfrm>
            <a:off x="838199" y="1461277"/>
            <a:ext cx="9632951" cy="673100"/>
          </a:xfrm>
        </p:spPr>
        <p:txBody>
          <a:bodyPr anchor="ct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page</a:t>
            </a:r>
            <a:endParaRPr lang="en-US" dirty="0"/>
          </a:p>
        </p:txBody>
      </p:sp>
      <p:pic>
        <p:nvPicPr>
          <p:cNvPr id="17" name="Image 16">
            <a:extLst>
              <a:ext uri="{FF2B5EF4-FFF2-40B4-BE49-F238E27FC236}">
                <a16:creationId xmlns:a16="http://schemas.microsoft.com/office/drawing/2014/main" id="{728C19E9-40C3-4D0D-B816-0564D41FE0F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9" name="Rectangle : avec coins arrondis en diagonale 18">
            <a:extLst>
              <a:ext uri="{FF2B5EF4-FFF2-40B4-BE49-F238E27FC236}">
                <a16:creationId xmlns:a16="http://schemas.microsoft.com/office/drawing/2014/main" id="{433652A8-C798-42A5-962A-A350F2B7645E}"/>
              </a:ext>
            </a:extLst>
          </p:cNvPr>
          <p:cNvSpPr/>
          <p:nvPr userDrawn="1"/>
        </p:nvSpPr>
        <p:spPr>
          <a:xfrm>
            <a:off x="8636000" y="3642431"/>
            <a:ext cx="1835150" cy="1835150"/>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Date Placeholder 3">
            <a:extLst>
              <a:ext uri="{FF2B5EF4-FFF2-40B4-BE49-F238E27FC236}">
                <a16:creationId xmlns:a16="http://schemas.microsoft.com/office/drawing/2014/main" id="{62F48B10-DC50-43F3-8A97-34826D34970F}"/>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21" name="Footer Placeholder 4">
            <a:extLst>
              <a:ext uri="{FF2B5EF4-FFF2-40B4-BE49-F238E27FC236}">
                <a16:creationId xmlns:a16="http://schemas.microsoft.com/office/drawing/2014/main" id="{A9677212-95BF-4BD3-8516-159DDE8215CB}"/>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sp>
        <p:nvSpPr>
          <p:cNvPr id="15" name="Title 1">
            <a:extLst>
              <a:ext uri="{FF2B5EF4-FFF2-40B4-BE49-F238E27FC236}">
                <a16:creationId xmlns:a16="http://schemas.microsoft.com/office/drawing/2014/main" id="{0867F26B-4A75-4C42-A937-5338A48B3438}"/>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3844253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ous-titre et contenu - 1">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45FFF2B7-39D6-48EA-9CC2-F52EEAB2D41D}"/>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8" name="Rectangle 7">
            <a:extLst>
              <a:ext uri="{FF2B5EF4-FFF2-40B4-BE49-F238E27FC236}">
                <a16:creationId xmlns:a16="http://schemas.microsoft.com/office/drawing/2014/main" id="{68B3AC90-13EB-4EAD-AECC-5EBEB8D14114}"/>
              </a:ext>
            </a:extLst>
          </p:cNvPr>
          <p:cNvSpPr/>
          <p:nvPr userDrawn="1"/>
        </p:nvSpPr>
        <p:spPr>
          <a:xfrm>
            <a:off x="838199" y="1457744"/>
            <a:ext cx="914400" cy="914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 avec coins arrondis en diagonale 14">
            <a:extLst>
              <a:ext uri="{FF2B5EF4-FFF2-40B4-BE49-F238E27FC236}">
                <a16:creationId xmlns:a16="http://schemas.microsoft.com/office/drawing/2014/main" id="{F17127CD-FFBB-40A8-9E20-47F6CAE39707}"/>
              </a:ext>
            </a:extLst>
          </p:cNvPr>
          <p:cNvSpPr/>
          <p:nvPr userDrawn="1"/>
        </p:nvSpPr>
        <p:spPr>
          <a:xfrm>
            <a:off x="838200" y="1457744"/>
            <a:ext cx="2959101" cy="1320287"/>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0FFD1827-67B8-4FE2-AEF6-51DA7B8D73E7}"/>
              </a:ext>
            </a:extLst>
          </p:cNvPr>
          <p:cNvSpPr/>
          <p:nvPr userDrawn="1"/>
        </p:nvSpPr>
        <p:spPr>
          <a:xfrm>
            <a:off x="0" y="6173251"/>
            <a:ext cx="12192000" cy="6810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4038600" y="1466536"/>
            <a:ext cx="7315200" cy="4389533"/>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fr-FR" dirty="0"/>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0" name="Image 9">
            <a:extLst>
              <a:ext uri="{FF2B5EF4-FFF2-40B4-BE49-F238E27FC236}">
                <a16:creationId xmlns:a16="http://schemas.microsoft.com/office/drawing/2014/main" id="{AB3C1005-B0A4-4382-9B42-C1F30E036EF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4" name="Subtitle 2">
            <a:extLst>
              <a:ext uri="{FF2B5EF4-FFF2-40B4-BE49-F238E27FC236}">
                <a16:creationId xmlns:a16="http://schemas.microsoft.com/office/drawing/2014/main" id="{234EC33A-2BB7-4834-8A20-9CF485D2413C}"/>
              </a:ext>
            </a:extLst>
          </p:cNvPr>
          <p:cNvSpPr>
            <a:spLocks noGrp="1"/>
          </p:cNvSpPr>
          <p:nvPr>
            <p:ph type="subTitle" idx="13" hasCustomPrompt="1"/>
          </p:nvPr>
        </p:nvSpPr>
        <p:spPr>
          <a:xfrm>
            <a:off x="1054100" y="1452468"/>
            <a:ext cx="2527300" cy="1325563"/>
          </a:xfrm>
        </p:spPr>
        <p:txBody>
          <a:bodyPr anchor="ct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page</a:t>
            </a:r>
            <a:endParaRPr lang="en-US" dirty="0"/>
          </a:p>
        </p:txBody>
      </p:sp>
      <p:sp>
        <p:nvSpPr>
          <p:cNvPr id="16" name="Title 1">
            <a:extLst>
              <a:ext uri="{FF2B5EF4-FFF2-40B4-BE49-F238E27FC236}">
                <a16:creationId xmlns:a16="http://schemas.microsoft.com/office/drawing/2014/main" id="{2B294942-0513-4A7F-9422-F9A15CEB5AA4}"/>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16883964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ous-titre et contenu - 2">
    <p:spTree>
      <p:nvGrpSpPr>
        <p:cNvPr id="1" name=""/>
        <p:cNvGrpSpPr/>
        <p:nvPr/>
      </p:nvGrpSpPr>
      <p:grpSpPr>
        <a:xfrm>
          <a:off x="0" y="0"/>
          <a:ext cx="0" cy="0"/>
          <a:chOff x="0" y="0"/>
          <a:chExt cx="0" cy="0"/>
        </a:xfrm>
      </p:grpSpPr>
      <p:pic>
        <p:nvPicPr>
          <p:cNvPr id="23" name="Image 22">
            <a:extLst>
              <a:ext uri="{FF2B5EF4-FFF2-40B4-BE49-F238E27FC236}">
                <a16:creationId xmlns:a16="http://schemas.microsoft.com/office/drawing/2014/main" id="{F481397D-DF94-4D63-91DB-483E7C23439D}"/>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12" name="Rectangle 11">
            <a:extLst>
              <a:ext uri="{FF2B5EF4-FFF2-40B4-BE49-F238E27FC236}">
                <a16:creationId xmlns:a16="http://schemas.microsoft.com/office/drawing/2014/main" id="{0FFD1827-67B8-4FE2-AEF6-51DA7B8D73E7}"/>
              </a:ext>
            </a:extLst>
          </p:cNvPr>
          <p:cNvSpPr/>
          <p:nvPr userDrawn="1"/>
        </p:nvSpPr>
        <p:spPr>
          <a:xfrm>
            <a:off x="0" y="6173251"/>
            <a:ext cx="12192000" cy="6810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4038600" y="1465479"/>
            <a:ext cx="5937962" cy="3027586"/>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0" name="Image 9">
            <a:extLst>
              <a:ext uri="{FF2B5EF4-FFF2-40B4-BE49-F238E27FC236}">
                <a16:creationId xmlns:a16="http://schemas.microsoft.com/office/drawing/2014/main" id="{AB3C1005-B0A4-4382-9B42-C1F30E036EF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6" name="Rectangle 15">
            <a:extLst>
              <a:ext uri="{FF2B5EF4-FFF2-40B4-BE49-F238E27FC236}">
                <a16:creationId xmlns:a16="http://schemas.microsoft.com/office/drawing/2014/main" id="{F3CF08B7-60C6-43FA-A449-5BC61DF7337F}"/>
              </a:ext>
            </a:extLst>
          </p:cNvPr>
          <p:cNvSpPr/>
          <p:nvPr userDrawn="1"/>
        </p:nvSpPr>
        <p:spPr>
          <a:xfrm>
            <a:off x="838198" y="4889397"/>
            <a:ext cx="9138364" cy="19686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Content Placeholder 2">
            <a:extLst>
              <a:ext uri="{FF2B5EF4-FFF2-40B4-BE49-F238E27FC236}">
                <a16:creationId xmlns:a16="http://schemas.microsoft.com/office/drawing/2014/main" id="{7B94DD16-6BEF-493F-9F77-A267D23C78DD}"/>
              </a:ext>
            </a:extLst>
          </p:cNvPr>
          <p:cNvSpPr>
            <a:spLocks noGrp="1"/>
          </p:cNvSpPr>
          <p:nvPr>
            <p:ph idx="14"/>
          </p:nvPr>
        </p:nvSpPr>
        <p:spPr>
          <a:xfrm>
            <a:off x="2215438" y="5257595"/>
            <a:ext cx="7385762" cy="1194006"/>
          </a:xfrm>
        </p:spPr>
        <p:txBody>
          <a:bodyPr/>
          <a:lstStyle>
            <a:lvl1pPr marL="0" indent="0">
              <a:buFontTx/>
              <a:buNone/>
              <a:defRPr>
                <a:solidFill>
                  <a:schemeClr val="bg1"/>
                </a:solidFill>
              </a:defRPr>
            </a:lvl1pPr>
            <a:lvl2pPr marL="685800" indent="-228600">
              <a:buFontTx/>
              <a:buBlip>
                <a:blip r:embed="rId4"/>
              </a:buBlip>
              <a:defRPr/>
            </a:lvl2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fr-FR"/>
              <a:t>Cliquez pour modifier les styles du texte du masque</a:t>
            </a:r>
          </a:p>
          <a:p>
            <a:pPr marL="0" marR="0" lvl="1" indent="0" algn="l" defTabSz="914400" rtl="0" eaLnBrk="1" fontAlgn="auto" latinLnBrk="0" hangingPunct="1">
              <a:lnSpc>
                <a:spcPct val="90000"/>
              </a:lnSpc>
              <a:spcBef>
                <a:spcPts val="1000"/>
              </a:spcBef>
              <a:spcAft>
                <a:spcPts val="0"/>
              </a:spcAft>
              <a:buClrTx/>
              <a:buSzTx/>
              <a:buFontTx/>
              <a:buNone/>
              <a:tabLst/>
              <a:defRPr/>
            </a:pPr>
            <a:r>
              <a:rPr lang="fr-FR"/>
              <a:t>Deuxième niveau</a:t>
            </a:r>
          </a:p>
        </p:txBody>
      </p:sp>
      <p:sp>
        <p:nvSpPr>
          <p:cNvPr id="18" name="Rectangle : avec coins arrondis en diagonale 17">
            <a:extLst>
              <a:ext uri="{FF2B5EF4-FFF2-40B4-BE49-F238E27FC236}">
                <a16:creationId xmlns:a16="http://schemas.microsoft.com/office/drawing/2014/main" id="{291D5CB2-1018-42A4-A764-FD2CBCF7A7CB}"/>
              </a:ext>
            </a:extLst>
          </p:cNvPr>
          <p:cNvSpPr/>
          <p:nvPr userDrawn="1"/>
        </p:nvSpPr>
        <p:spPr>
          <a:xfrm rot="5400000">
            <a:off x="1301037" y="5257595"/>
            <a:ext cx="451562" cy="451562"/>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ZoneTexte 8">
            <a:extLst>
              <a:ext uri="{FF2B5EF4-FFF2-40B4-BE49-F238E27FC236}">
                <a16:creationId xmlns:a16="http://schemas.microsoft.com/office/drawing/2014/main" id="{71684191-AFB5-4BC2-A506-4618030D861C}"/>
              </a:ext>
            </a:extLst>
          </p:cNvPr>
          <p:cNvSpPr txBox="1"/>
          <p:nvPr userDrawn="1"/>
        </p:nvSpPr>
        <p:spPr>
          <a:xfrm>
            <a:off x="1312651" y="5296695"/>
            <a:ext cx="431528" cy="369332"/>
          </a:xfrm>
          <a:prstGeom prst="rect">
            <a:avLst/>
          </a:prstGeom>
          <a:noFill/>
        </p:spPr>
        <p:txBody>
          <a:bodyPr wrap="none" rtlCol="0">
            <a:spAutoFit/>
          </a:bodyPr>
          <a:lstStyle/>
          <a:p>
            <a:r>
              <a:rPr lang="fr-FR" dirty="0">
                <a:solidFill>
                  <a:schemeClr val="accent1"/>
                </a:solidFill>
                <a:sym typeface="Wingdings" panose="05000000000000000000" pitchFamily="2" charset="2"/>
              </a:rPr>
              <a:t></a:t>
            </a:r>
            <a:endParaRPr lang="fr-FR" dirty="0">
              <a:solidFill>
                <a:schemeClr val="accent1"/>
              </a:solidFill>
            </a:endParaRPr>
          </a:p>
        </p:txBody>
      </p:sp>
      <p:sp>
        <p:nvSpPr>
          <p:cNvPr id="22" name="Title 1">
            <a:extLst>
              <a:ext uri="{FF2B5EF4-FFF2-40B4-BE49-F238E27FC236}">
                <a16:creationId xmlns:a16="http://schemas.microsoft.com/office/drawing/2014/main" id="{F38E89E7-C711-4954-B990-B9BC81C936C8}"/>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24" name="Rectangle 23">
            <a:extLst>
              <a:ext uri="{FF2B5EF4-FFF2-40B4-BE49-F238E27FC236}">
                <a16:creationId xmlns:a16="http://schemas.microsoft.com/office/drawing/2014/main" id="{174C06BF-1219-43F5-A55A-3D8C937C415B}"/>
              </a:ext>
            </a:extLst>
          </p:cNvPr>
          <p:cNvSpPr/>
          <p:nvPr userDrawn="1"/>
        </p:nvSpPr>
        <p:spPr>
          <a:xfrm>
            <a:off x="838199" y="1457744"/>
            <a:ext cx="914400" cy="914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avec coins arrondis en diagonale 24">
            <a:extLst>
              <a:ext uri="{FF2B5EF4-FFF2-40B4-BE49-F238E27FC236}">
                <a16:creationId xmlns:a16="http://schemas.microsoft.com/office/drawing/2014/main" id="{107FA058-72B4-484D-BC25-84174492267A}"/>
              </a:ext>
            </a:extLst>
          </p:cNvPr>
          <p:cNvSpPr/>
          <p:nvPr userDrawn="1"/>
        </p:nvSpPr>
        <p:spPr>
          <a:xfrm>
            <a:off x="838200" y="1457744"/>
            <a:ext cx="2959101" cy="1320287"/>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Subtitle 2">
            <a:extLst>
              <a:ext uri="{FF2B5EF4-FFF2-40B4-BE49-F238E27FC236}">
                <a16:creationId xmlns:a16="http://schemas.microsoft.com/office/drawing/2014/main" id="{9FA2CE0E-3470-45BA-97F5-80DD989C5504}"/>
              </a:ext>
            </a:extLst>
          </p:cNvPr>
          <p:cNvSpPr>
            <a:spLocks noGrp="1"/>
          </p:cNvSpPr>
          <p:nvPr>
            <p:ph type="subTitle" idx="13" hasCustomPrompt="1"/>
          </p:nvPr>
        </p:nvSpPr>
        <p:spPr>
          <a:xfrm>
            <a:off x="1054100" y="1452468"/>
            <a:ext cx="2527300" cy="1325563"/>
          </a:xfrm>
        </p:spPr>
        <p:txBody>
          <a:bodyPr anchor="ct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page</a:t>
            </a:r>
            <a:endParaRPr lang="en-US" dirty="0"/>
          </a:p>
        </p:txBody>
      </p:sp>
    </p:spTree>
    <p:extLst>
      <p:ext uri="{BB962C8B-B14F-4D97-AF65-F5344CB8AC3E}">
        <p14:creationId xmlns:p14="http://schemas.microsoft.com/office/powerpoint/2010/main" val="37287649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eux Contenus - 1">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70764ED2-0190-47C2-A680-552AEBBA80D3}"/>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1463040"/>
            <a:ext cx="5168900" cy="4727991"/>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Content Placeholder 2">
            <a:extLst>
              <a:ext uri="{FF2B5EF4-FFF2-40B4-BE49-F238E27FC236}">
                <a16:creationId xmlns:a16="http://schemas.microsoft.com/office/drawing/2014/main" id="{2D856E5D-636F-4FF3-A6E3-777933F812E2}"/>
              </a:ext>
            </a:extLst>
          </p:cNvPr>
          <p:cNvSpPr>
            <a:spLocks noGrp="1"/>
          </p:cNvSpPr>
          <p:nvPr>
            <p:ph idx="13"/>
          </p:nvPr>
        </p:nvSpPr>
        <p:spPr>
          <a:xfrm>
            <a:off x="6184900" y="1463039"/>
            <a:ext cx="5168900" cy="4727991"/>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2" name="Title 1">
            <a:extLst>
              <a:ext uri="{FF2B5EF4-FFF2-40B4-BE49-F238E27FC236}">
                <a16:creationId xmlns:a16="http://schemas.microsoft.com/office/drawing/2014/main" id="{288D68BC-3D6B-45ED-8F55-F9606734F165}"/>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3676328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ux Contenus - 2">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8C922DEB-9FD4-464A-9F79-3123C7352AB9}"/>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12" name="Rectangle 11">
            <a:extLst>
              <a:ext uri="{FF2B5EF4-FFF2-40B4-BE49-F238E27FC236}">
                <a16:creationId xmlns:a16="http://schemas.microsoft.com/office/drawing/2014/main" id="{0FFD6225-872A-4BEF-A2C3-0D52404F6F0A}"/>
              </a:ext>
            </a:extLst>
          </p:cNvPr>
          <p:cNvSpPr/>
          <p:nvPr userDrawn="1"/>
        </p:nvSpPr>
        <p:spPr>
          <a:xfrm>
            <a:off x="0" y="6173251"/>
            <a:ext cx="12192000" cy="6810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4" name="Date Placeholder 3">
            <a:extLst>
              <a:ext uri="{FF2B5EF4-FFF2-40B4-BE49-F238E27FC236}">
                <a16:creationId xmlns:a16="http://schemas.microsoft.com/office/drawing/2014/main" id="{FBB23AA0-2442-4D60-9FD5-48B72A563276}"/>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15" name="Footer Placeholder 4">
            <a:extLst>
              <a:ext uri="{FF2B5EF4-FFF2-40B4-BE49-F238E27FC236}">
                <a16:creationId xmlns:a16="http://schemas.microsoft.com/office/drawing/2014/main" id="{7CEF7CE8-7D53-4972-AC18-96FF793CAB60}"/>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pic>
        <p:nvPicPr>
          <p:cNvPr id="16" name="Image 15">
            <a:extLst>
              <a:ext uri="{FF2B5EF4-FFF2-40B4-BE49-F238E27FC236}">
                <a16:creationId xmlns:a16="http://schemas.microsoft.com/office/drawing/2014/main" id="{CF98DABA-FD9F-44CE-9D69-099ACA1261C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7" name="Title 1">
            <a:extLst>
              <a:ext uri="{FF2B5EF4-FFF2-40B4-BE49-F238E27FC236}">
                <a16:creationId xmlns:a16="http://schemas.microsoft.com/office/drawing/2014/main" id="{F902DFA0-7871-4035-8B12-42F78C58EC7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8" name="Content Placeholder 2">
            <a:extLst>
              <a:ext uri="{FF2B5EF4-FFF2-40B4-BE49-F238E27FC236}">
                <a16:creationId xmlns:a16="http://schemas.microsoft.com/office/drawing/2014/main" id="{64130F08-7725-41ED-80A4-48E2EB30EFAA}"/>
              </a:ext>
            </a:extLst>
          </p:cNvPr>
          <p:cNvSpPr>
            <a:spLocks noGrp="1"/>
          </p:cNvSpPr>
          <p:nvPr>
            <p:ph idx="1"/>
          </p:nvPr>
        </p:nvSpPr>
        <p:spPr>
          <a:xfrm>
            <a:off x="838200" y="1463040"/>
            <a:ext cx="5168900" cy="4727991"/>
          </a:xfrm>
        </p:spPr>
        <p:txBody>
          <a:bodyPr/>
          <a:lstStyle>
            <a:lvl1pPr marL="228600" indent="-228600">
              <a:buFontTx/>
              <a:buBlip>
                <a:blip r:embed="rId4"/>
              </a:buBlip>
              <a:defRPr/>
            </a:lvl1pPr>
            <a:lvl2pPr marL="685800" indent="-228600">
              <a:buFontTx/>
              <a:buBlip>
                <a:blip r:embed="rId5"/>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9" name="Content Placeholder 2">
            <a:extLst>
              <a:ext uri="{FF2B5EF4-FFF2-40B4-BE49-F238E27FC236}">
                <a16:creationId xmlns:a16="http://schemas.microsoft.com/office/drawing/2014/main" id="{44517F0F-E87D-4C42-85E5-9380F20B3B6C}"/>
              </a:ext>
            </a:extLst>
          </p:cNvPr>
          <p:cNvSpPr>
            <a:spLocks noGrp="1"/>
          </p:cNvSpPr>
          <p:nvPr>
            <p:ph idx="13"/>
          </p:nvPr>
        </p:nvSpPr>
        <p:spPr>
          <a:xfrm>
            <a:off x="6184900" y="1463039"/>
            <a:ext cx="5168900" cy="4727991"/>
          </a:xfrm>
        </p:spPr>
        <p:txBody>
          <a:bodyPr/>
          <a:lstStyle>
            <a:lvl1pPr marL="228600" indent="-228600">
              <a:buFontTx/>
              <a:buBlip>
                <a:blip r:embed="rId4"/>
              </a:buBlip>
              <a:defRPr/>
            </a:lvl1pPr>
            <a:lvl2pPr marL="685800" indent="-228600">
              <a:buFontTx/>
              <a:buBlip>
                <a:blip r:embed="rId5"/>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3495353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ux Contenus - 3">
    <p:spTree>
      <p:nvGrpSpPr>
        <p:cNvPr id="1" name=""/>
        <p:cNvGrpSpPr/>
        <p:nvPr/>
      </p:nvGrpSpPr>
      <p:grpSpPr>
        <a:xfrm>
          <a:off x="0" y="0"/>
          <a:ext cx="0" cy="0"/>
          <a:chOff x="0" y="0"/>
          <a:chExt cx="0" cy="0"/>
        </a:xfrm>
      </p:grpSpPr>
      <p:pic>
        <p:nvPicPr>
          <p:cNvPr id="18" name="Image 17">
            <a:extLst>
              <a:ext uri="{FF2B5EF4-FFF2-40B4-BE49-F238E27FC236}">
                <a16:creationId xmlns:a16="http://schemas.microsoft.com/office/drawing/2014/main" id="{738D9921-0054-4DF2-9D51-3F0C0D9C0C46}"/>
              </a:ext>
            </a:extLst>
          </p:cNvPr>
          <p:cNvPicPr>
            <a:picLocks noChangeAspect="1"/>
          </p:cNvPicPr>
          <p:nvPr userDrawn="1"/>
        </p:nvPicPr>
        <p:blipFill rotWithShape="1">
          <a:blip r:embed="rId2"/>
          <a:srcRect t="66056"/>
          <a:stretch/>
        </p:blipFill>
        <p:spPr>
          <a:xfrm>
            <a:off x="351321" y="-1"/>
            <a:ext cx="11840679" cy="1149355"/>
          </a:xfrm>
          <a:prstGeom prst="rect">
            <a:avLst/>
          </a:prstGeom>
        </p:spPr>
      </p:pic>
      <p:pic>
        <p:nvPicPr>
          <p:cNvPr id="8" name="Image 7">
            <a:extLst>
              <a:ext uri="{FF2B5EF4-FFF2-40B4-BE49-F238E27FC236}">
                <a16:creationId xmlns:a16="http://schemas.microsoft.com/office/drawing/2014/main" id="{91834BFF-4F88-4F87-A264-702498CFDD1F}"/>
              </a:ext>
            </a:extLst>
          </p:cNvPr>
          <p:cNvPicPr>
            <a:picLocks noChangeAspect="1"/>
          </p:cNvPicPr>
          <p:nvPr userDrawn="1"/>
        </p:nvPicPr>
        <p:blipFill rotWithShape="1">
          <a:blip r:embed="rId3"/>
          <a:srcRect l="13750" t="1" b="-357"/>
          <a:stretch/>
        </p:blipFill>
        <p:spPr>
          <a:xfrm>
            <a:off x="-44450" y="2460374"/>
            <a:ext cx="9150350" cy="4411694"/>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2715065"/>
            <a:ext cx="3403600" cy="3406335"/>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Subtitle 2">
            <a:extLst>
              <a:ext uri="{FF2B5EF4-FFF2-40B4-BE49-F238E27FC236}">
                <a16:creationId xmlns:a16="http://schemas.microsoft.com/office/drawing/2014/main" id="{508406FA-21A7-4832-ABAB-5EDDAC1D9493}"/>
              </a:ext>
            </a:extLst>
          </p:cNvPr>
          <p:cNvSpPr>
            <a:spLocks noGrp="1"/>
          </p:cNvSpPr>
          <p:nvPr>
            <p:ph type="subTitle" idx="14" hasCustomPrompt="1"/>
          </p:nvPr>
        </p:nvSpPr>
        <p:spPr>
          <a:xfrm>
            <a:off x="838199" y="1461277"/>
            <a:ext cx="9632951" cy="673100"/>
          </a:xfrm>
        </p:spPr>
        <p:txBody>
          <a:bodyPr anchor="ct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page</a:t>
            </a:r>
            <a:endParaRPr lang="en-US" dirty="0"/>
          </a:p>
        </p:txBody>
      </p:sp>
      <p:sp>
        <p:nvSpPr>
          <p:cNvPr id="16" name="Content Placeholder 2">
            <a:extLst>
              <a:ext uri="{FF2B5EF4-FFF2-40B4-BE49-F238E27FC236}">
                <a16:creationId xmlns:a16="http://schemas.microsoft.com/office/drawing/2014/main" id="{955F7F53-5753-4AAB-AB6B-D1F8EDE43F29}"/>
              </a:ext>
            </a:extLst>
          </p:cNvPr>
          <p:cNvSpPr>
            <a:spLocks noGrp="1"/>
          </p:cNvSpPr>
          <p:nvPr>
            <p:ph idx="15"/>
          </p:nvPr>
        </p:nvSpPr>
        <p:spPr>
          <a:xfrm>
            <a:off x="4737100" y="2715065"/>
            <a:ext cx="3403600" cy="3406335"/>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pic>
        <p:nvPicPr>
          <p:cNvPr id="17" name="Image 16">
            <a:extLst>
              <a:ext uri="{FF2B5EF4-FFF2-40B4-BE49-F238E27FC236}">
                <a16:creationId xmlns:a16="http://schemas.microsoft.com/office/drawing/2014/main" id="{728C19E9-40C3-4D0D-B816-0564D41FE0F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9" name="Rectangle : avec coins arrondis en diagonale 18">
            <a:extLst>
              <a:ext uri="{FF2B5EF4-FFF2-40B4-BE49-F238E27FC236}">
                <a16:creationId xmlns:a16="http://schemas.microsoft.com/office/drawing/2014/main" id="{433652A8-C798-42A5-962A-A350F2B7645E}"/>
              </a:ext>
            </a:extLst>
          </p:cNvPr>
          <p:cNvSpPr/>
          <p:nvPr userDrawn="1"/>
        </p:nvSpPr>
        <p:spPr>
          <a:xfrm>
            <a:off x="8636000" y="3642431"/>
            <a:ext cx="1835150" cy="1835150"/>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Date Placeholder 3">
            <a:extLst>
              <a:ext uri="{FF2B5EF4-FFF2-40B4-BE49-F238E27FC236}">
                <a16:creationId xmlns:a16="http://schemas.microsoft.com/office/drawing/2014/main" id="{62F48B10-DC50-43F3-8A97-34826D34970F}"/>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21" name="Footer Placeholder 4">
            <a:extLst>
              <a:ext uri="{FF2B5EF4-FFF2-40B4-BE49-F238E27FC236}">
                <a16:creationId xmlns:a16="http://schemas.microsoft.com/office/drawing/2014/main" id="{A9677212-95BF-4BD3-8516-159DDE8215CB}"/>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cxnSp>
        <p:nvCxnSpPr>
          <p:cNvPr id="22" name="Connecteur droit 21">
            <a:extLst>
              <a:ext uri="{FF2B5EF4-FFF2-40B4-BE49-F238E27FC236}">
                <a16:creationId xmlns:a16="http://schemas.microsoft.com/office/drawing/2014/main" id="{DA6FA9C0-BBFB-4D46-B73B-F130A63E06BC}"/>
              </a:ext>
            </a:extLst>
          </p:cNvPr>
          <p:cNvCxnSpPr/>
          <p:nvPr userDrawn="1"/>
        </p:nvCxnSpPr>
        <p:spPr>
          <a:xfrm>
            <a:off x="4495800" y="2934087"/>
            <a:ext cx="0" cy="3060701"/>
          </a:xfrm>
          <a:prstGeom prst="line">
            <a:avLst/>
          </a:prstGeom>
          <a:ln>
            <a:solidFill>
              <a:schemeClr val="bg1"/>
            </a:solidFill>
          </a:ln>
        </p:spPr>
        <p:style>
          <a:lnRef idx="1">
            <a:schemeClr val="accent2"/>
          </a:lnRef>
          <a:fillRef idx="0">
            <a:schemeClr val="accent2"/>
          </a:fillRef>
          <a:effectRef idx="0">
            <a:schemeClr val="accent2"/>
          </a:effectRef>
          <a:fontRef idx="minor">
            <a:schemeClr val="tx1"/>
          </a:fontRef>
        </p:style>
      </p:cxnSp>
      <p:sp>
        <p:nvSpPr>
          <p:cNvPr id="15" name="Title 1">
            <a:extLst>
              <a:ext uri="{FF2B5EF4-FFF2-40B4-BE49-F238E27FC236}">
                <a16:creationId xmlns:a16="http://schemas.microsoft.com/office/drawing/2014/main" id="{0867F26B-4A75-4C42-A937-5338A48B3438}"/>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33350402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rois contenus - 1">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D2EDD0AC-9662-421D-8A9E-A003848E3A37}"/>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1463042"/>
            <a:ext cx="3396673" cy="4727990"/>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2" name="Content Placeholder 2">
            <a:extLst>
              <a:ext uri="{FF2B5EF4-FFF2-40B4-BE49-F238E27FC236}">
                <a16:creationId xmlns:a16="http://schemas.microsoft.com/office/drawing/2014/main" id="{A6E37F19-4BBE-4EDC-9342-AC1256CBBA5E}"/>
              </a:ext>
            </a:extLst>
          </p:cNvPr>
          <p:cNvSpPr>
            <a:spLocks noGrp="1"/>
          </p:cNvSpPr>
          <p:nvPr>
            <p:ph idx="13"/>
          </p:nvPr>
        </p:nvSpPr>
        <p:spPr>
          <a:xfrm>
            <a:off x="4397663" y="1463041"/>
            <a:ext cx="3396673" cy="4727990"/>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4" name="Content Placeholder 2">
            <a:extLst>
              <a:ext uri="{FF2B5EF4-FFF2-40B4-BE49-F238E27FC236}">
                <a16:creationId xmlns:a16="http://schemas.microsoft.com/office/drawing/2014/main" id="{8C26D46E-D067-48E1-BE2D-FCF06273DDBE}"/>
              </a:ext>
            </a:extLst>
          </p:cNvPr>
          <p:cNvSpPr>
            <a:spLocks noGrp="1"/>
          </p:cNvSpPr>
          <p:nvPr>
            <p:ph idx="14"/>
          </p:nvPr>
        </p:nvSpPr>
        <p:spPr>
          <a:xfrm>
            <a:off x="7957127" y="1463041"/>
            <a:ext cx="3396673" cy="4727990"/>
          </a:xfrm>
        </p:spPr>
        <p:txBody>
          <a:bodyPr/>
          <a:lstStyle>
            <a:lvl1pPr marL="228600" indent="-228600">
              <a:buFontTx/>
              <a:buBlip>
                <a:blip r:embed="rId3"/>
              </a:buBlip>
              <a:defRPr/>
            </a:lvl1pPr>
            <a:lvl2pPr marL="685800" indent="-228600">
              <a:buFontTx/>
              <a:buBlip>
                <a:blip r:embed="rId4"/>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5" name="Title 1">
            <a:extLst>
              <a:ext uri="{FF2B5EF4-FFF2-40B4-BE49-F238E27FC236}">
                <a16:creationId xmlns:a16="http://schemas.microsoft.com/office/drawing/2014/main" id="{0C872A82-B7FE-4A3B-BB26-80F7666A10F5}"/>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40065231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ois contenus - 2">
    <p:spTree>
      <p:nvGrpSpPr>
        <p:cNvPr id="1" name=""/>
        <p:cNvGrpSpPr/>
        <p:nvPr/>
      </p:nvGrpSpPr>
      <p:grpSpPr>
        <a:xfrm>
          <a:off x="0" y="0"/>
          <a:ext cx="0" cy="0"/>
          <a:chOff x="0" y="0"/>
          <a:chExt cx="0" cy="0"/>
        </a:xfrm>
      </p:grpSpPr>
      <p:pic>
        <p:nvPicPr>
          <p:cNvPr id="21" name="Image 20">
            <a:extLst>
              <a:ext uri="{FF2B5EF4-FFF2-40B4-BE49-F238E27FC236}">
                <a16:creationId xmlns:a16="http://schemas.microsoft.com/office/drawing/2014/main" id="{B859E46A-850C-4EE0-8C57-7C8C815D4D51}"/>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15" name="Rectangle 14">
            <a:extLst>
              <a:ext uri="{FF2B5EF4-FFF2-40B4-BE49-F238E27FC236}">
                <a16:creationId xmlns:a16="http://schemas.microsoft.com/office/drawing/2014/main" id="{8FC8EE89-40EE-4904-A1BA-21049A9FBD7D}"/>
              </a:ext>
            </a:extLst>
          </p:cNvPr>
          <p:cNvSpPr/>
          <p:nvPr userDrawn="1"/>
        </p:nvSpPr>
        <p:spPr>
          <a:xfrm>
            <a:off x="0" y="6173251"/>
            <a:ext cx="12192000" cy="6810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79523D1B-2184-4DC8-B51E-4451D7C13BEB}"/>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Slide Number Placeholder 5">
            <a:extLst>
              <a:ext uri="{FF2B5EF4-FFF2-40B4-BE49-F238E27FC236}">
                <a16:creationId xmlns:a16="http://schemas.microsoft.com/office/drawing/2014/main" id="{E0929630-D5C0-4F30-83A1-8602FE6E94E0}"/>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8" name="Date Placeholder 3">
            <a:extLst>
              <a:ext uri="{FF2B5EF4-FFF2-40B4-BE49-F238E27FC236}">
                <a16:creationId xmlns:a16="http://schemas.microsoft.com/office/drawing/2014/main" id="{79A8047B-59A8-4082-A1D3-4FE3D68D78CB}"/>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dirty="0"/>
          </a:p>
        </p:txBody>
      </p:sp>
      <p:sp>
        <p:nvSpPr>
          <p:cNvPr id="19" name="Footer Placeholder 4">
            <a:extLst>
              <a:ext uri="{FF2B5EF4-FFF2-40B4-BE49-F238E27FC236}">
                <a16:creationId xmlns:a16="http://schemas.microsoft.com/office/drawing/2014/main" id="{5F621580-DC8C-45F2-836C-3B4E47A66388}"/>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pic>
        <p:nvPicPr>
          <p:cNvPr id="20" name="Image 19">
            <a:extLst>
              <a:ext uri="{FF2B5EF4-FFF2-40B4-BE49-F238E27FC236}">
                <a16:creationId xmlns:a16="http://schemas.microsoft.com/office/drawing/2014/main" id="{05713FCF-0EFC-4C68-B46C-AC40233325A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3" name="Title 1">
            <a:extLst>
              <a:ext uri="{FF2B5EF4-FFF2-40B4-BE49-F238E27FC236}">
                <a16:creationId xmlns:a16="http://schemas.microsoft.com/office/drawing/2014/main" id="{1863B3B8-A56A-4F7D-B520-07A11B6694D5}"/>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22" name="Content Placeholder 2">
            <a:extLst>
              <a:ext uri="{FF2B5EF4-FFF2-40B4-BE49-F238E27FC236}">
                <a16:creationId xmlns:a16="http://schemas.microsoft.com/office/drawing/2014/main" id="{23ED6D57-D498-49B2-9DEA-76A48275A1AA}"/>
              </a:ext>
            </a:extLst>
          </p:cNvPr>
          <p:cNvSpPr>
            <a:spLocks noGrp="1"/>
          </p:cNvSpPr>
          <p:nvPr>
            <p:ph idx="1"/>
          </p:nvPr>
        </p:nvSpPr>
        <p:spPr>
          <a:xfrm>
            <a:off x="838200" y="1463042"/>
            <a:ext cx="3396673" cy="4727990"/>
          </a:xfrm>
        </p:spPr>
        <p:txBody>
          <a:bodyPr/>
          <a:lstStyle>
            <a:lvl1pPr marL="228600" indent="-228600">
              <a:buFontTx/>
              <a:buBlip>
                <a:blip r:embed="rId4"/>
              </a:buBlip>
              <a:defRPr/>
            </a:lvl1pPr>
            <a:lvl2pPr marL="685800" indent="-228600">
              <a:buFontTx/>
              <a:buBlip>
                <a:blip r:embed="rId5"/>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23" name="Content Placeholder 2">
            <a:extLst>
              <a:ext uri="{FF2B5EF4-FFF2-40B4-BE49-F238E27FC236}">
                <a16:creationId xmlns:a16="http://schemas.microsoft.com/office/drawing/2014/main" id="{89A4D4AB-4A6E-4B81-8BA2-53A61D77F097}"/>
              </a:ext>
            </a:extLst>
          </p:cNvPr>
          <p:cNvSpPr>
            <a:spLocks noGrp="1"/>
          </p:cNvSpPr>
          <p:nvPr>
            <p:ph idx="13"/>
          </p:nvPr>
        </p:nvSpPr>
        <p:spPr>
          <a:xfrm>
            <a:off x="4397663" y="1463041"/>
            <a:ext cx="3396673" cy="4727990"/>
          </a:xfrm>
        </p:spPr>
        <p:txBody>
          <a:bodyPr/>
          <a:lstStyle>
            <a:lvl1pPr marL="228600" indent="-228600">
              <a:buFontTx/>
              <a:buBlip>
                <a:blip r:embed="rId4"/>
              </a:buBlip>
              <a:defRPr/>
            </a:lvl1pPr>
            <a:lvl2pPr marL="685800" indent="-228600">
              <a:buFontTx/>
              <a:buBlip>
                <a:blip r:embed="rId5"/>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24" name="Content Placeholder 2">
            <a:extLst>
              <a:ext uri="{FF2B5EF4-FFF2-40B4-BE49-F238E27FC236}">
                <a16:creationId xmlns:a16="http://schemas.microsoft.com/office/drawing/2014/main" id="{A81DF97D-DAE6-49EB-B82B-67FBFBDCF101}"/>
              </a:ext>
            </a:extLst>
          </p:cNvPr>
          <p:cNvSpPr>
            <a:spLocks noGrp="1"/>
          </p:cNvSpPr>
          <p:nvPr>
            <p:ph idx="14"/>
          </p:nvPr>
        </p:nvSpPr>
        <p:spPr>
          <a:xfrm>
            <a:off x="7957127" y="1463041"/>
            <a:ext cx="3396673" cy="4727990"/>
          </a:xfrm>
        </p:spPr>
        <p:txBody>
          <a:bodyPr/>
          <a:lstStyle>
            <a:lvl1pPr marL="228600" indent="-228600">
              <a:buFontTx/>
              <a:buBlip>
                <a:blip r:embed="rId4"/>
              </a:buBlip>
              <a:defRPr/>
            </a:lvl1pPr>
            <a:lvl2pPr marL="685800" indent="-228600">
              <a:buFontTx/>
              <a:buBlip>
                <a:blip r:embed="rId5"/>
              </a:buBlip>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7843824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tre encadrés et contenu">
    <p:spTree>
      <p:nvGrpSpPr>
        <p:cNvPr id="1" name=""/>
        <p:cNvGrpSpPr/>
        <p:nvPr/>
      </p:nvGrpSpPr>
      <p:grpSpPr>
        <a:xfrm>
          <a:off x="0" y="0"/>
          <a:ext cx="0" cy="0"/>
          <a:chOff x="0" y="0"/>
          <a:chExt cx="0" cy="0"/>
        </a:xfrm>
      </p:grpSpPr>
      <p:pic>
        <p:nvPicPr>
          <p:cNvPr id="23" name="Image 22">
            <a:extLst>
              <a:ext uri="{FF2B5EF4-FFF2-40B4-BE49-F238E27FC236}">
                <a16:creationId xmlns:a16="http://schemas.microsoft.com/office/drawing/2014/main" id="{F52171D0-FDCE-4EE8-88D7-07AE0996C782}"/>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0" name="Graphique 9">
            <a:extLst>
              <a:ext uri="{FF2B5EF4-FFF2-40B4-BE49-F238E27FC236}">
                <a16:creationId xmlns:a16="http://schemas.microsoft.com/office/drawing/2014/main" id="{1B846C72-A8B1-420C-8B69-0F83B30BE86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84663" y="1993337"/>
            <a:ext cx="558786" cy="3764107"/>
          </a:xfrm>
          <a:prstGeom prst="rect">
            <a:avLst/>
          </a:prstGeom>
        </p:spPr>
      </p:pic>
      <p:sp>
        <p:nvSpPr>
          <p:cNvPr id="15" name="Rectangle : avec coins arrondis en diagonale 14">
            <a:extLst>
              <a:ext uri="{FF2B5EF4-FFF2-40B4-BE49-F238E27FC236}">
                <a16:creationId xmlns:a16="http://schemas.microsoft.com/office/drawing/2014/main" id="{A4B20F58-666B-4BFF-AACE-4EB82C04C4CE}"/>
              </a:ext>
            </a:extLst>
          </p:cNvPr>
          <p:cNvSpPr/>
          <p:nvPr userDrawn="1"/>
        </p:nvSpPr>
        <p:spPr>
          <a:xfrm>
            <a:off x="3368675" y="1537168"/>
            <a:ext cx="2492829" cy="2202543"/>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avec coins arrondis en diagonale 17">
            <a:extLst>
              <a:ext uri="{FF2B5EF4-FFF2-40B4-BE49-F238E27FC236}">
                <a16:creationId xmlns:a16="http://schemas.microsoft.com/office/drawing/2014/main" id="{E25172FC-7A48-49BA-BE13-8ACC7C5E7E54}"/>
              </a:ext>
            </a:extLst>
          </p:cNvPr>
          <p:cNvSpPr/>
          <p:nvPr userDrawn="1"/>
        </p:nvSpPr>
        <p:spPr>
          <a:xfrm>
            <a:off x="838198" y="3782219"/>
            <a:ext cx="2492829" cy="2202543"/>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avec coins arrondis en diagonale 18">
            <a:extLst>
              <a:ext uri="{FF2B5EF4-FFF2-40B4-BE49-F238E27FC236}">
                <a16:creationId xmlns:a16="http://schemas.microsoft.com/office/drawing/2014/main" id="{95BC1122-D7A0-4B9C-8DEA-B8DB8C5FB400}"/>
              </a:ext>
            </a:extLst>
          </p:cNvPr>
          <p:cNvSpPr/>
          <p:nvPr userDrawn="1"/>
        </p:nvSpPr>
        <p:spPr>
          <a:xfrm rot="5400000">
            <a:off x="3513818" y="3643835"/>
            <a:ext cx="2202543" cy="2492829"/>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avec coins arrondis en diagonale 19">
            <a:extLst>
              <a:ext uri="{FF2B5EF4-FFF2-40B4-BE49-F238E27FC236}">
                <a16:creationId xmlns:a16="http://schemas.microsoft.com/office/drawing/2014/main" id="{4EE0032C-97DE-423F-BA52-043A2635B887}"/>
              </a:ext>
            </a:extLst>
          </p:cNvPr>
          <p:cNvSpPr/>
          <p:nvPr userDrawn="1"/>
        </p:nvSpPr>
        <p:spPr>
          <a:xfrm rot="5400000">
            <a:off x="983340" y="1392025"/>
            <a:ext cx="2202543" cy="2492829"/>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contenu 11">
            <a:extLst>
              <a:ext uri="{FF2B5EF4-FFF2-40B4-BE49-F238E27FC236}">
                <a16:creationId xmlns:a16="http://schemas.microsoft.com/office/drawing/2014/main" id="{497B20CA-98A5-43D8-983C-61A8D7889AC5}"/>
              </a:ext>
            </a:extLst>
          </p:cNvPr>
          <p:cNvSpPr>
            <a:spLocks noGrp="1"/>
          </p:cNvSpPr>
          <p:nvPr>
            <p:ph sz="quarter" idx="13"/>
          </p:nvPr>
        </p:nvSpPr>
        <p:spPr>
          <a:xfrm>
            <a:off x="6608065" y="1797065"/>
            <a:ext cx="4328224" cy="396038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1" name="Espace réservé du contenu 20">
            <a:extLst>
              <a:ext uri="{FF2B5EF4-FFF2-40B4-BE49-F238E27FC236}">
                <a16:creationId xmlns:a16="http://schemas.microsoft.com/office/drawing/2014/main" id="{AC117B33-4E65-4139-A106-8C964633263D}"/>
              </a:ext>
            </a:extLst>
          </p:cNvPr>
          <p:cNvSpPr>
            <a:spLocks noGrp="1"/>
          </p:cNvSpPr>
          <p:nvPr>
            <p:ph sz="quarter" idx="14"/>
          </p:nvPr>
        </p:nvSpPr>
        <p:spPr>
          <a:xfrm>
            <a:off x="1066229" y="1797064"/>
            <a:ext cx="2036763" cy="16827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sp>
        <p:nvSpPr>
          <p:cNvPr id="34" name="Espace réservé du contenu 20">
            <a:extLst>
              <a:ext uri="{FF2B5EF4-FFF2-40B4-BE49-F238E27FC236}">
                <a16:creationId xmlns:a16="http://schemas.microsoft.com/office/drawing/2014/main" id="{AF00ED24-67E0-444E-92CA-1A069898C613}"/>
              </a:ext>
            </a:extLst>
          </p:cNvPr>
          <p:cNvSpPr>
            <a:spLocks noGrp="1"/>
          </p:cNvSpPr>
          <p:nvPr>
            <p:ph sz="quarter" idx="15"/>
          </p:nvPr>
        </p:nvSpPr>
        <p:spPr>
          <a:xfrm>
            <a:off x="3596706" y="1797064"/>
            <a:ext cx="2036763" cy="16827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sp>
        <p:nvSpPr>
          <p:cNvPr id="43" name="Espace réservé du contenu 20">
            <a:extLst>
              <a:ext uri="{FF2B5EF4-FFF2-40B4-BE49-F238E27FC236}">
                <a16:creationId xmlns:a16="http://schemas.microsoft.com/office/drawing/2014/main" id="{A924CB50-EB96-4817-B0AF-7FBD74592C45}"/>
              </a:ext>
            </a:extLst>
          </p:cNvPr>
          <p:cNvSpPr>
            <a:spLocks noGrp="1"/>
          </p:cNvSpPr>
          <p:nvPr>
            <p:ph sz="quarter" idx="16"/>
          </p:nvPr>
        </p:nvSpPr>
        <p:spPr>
          <a:xfrm>
            <a:off x="1066229" y="4048875"/>
            <a:ext cx="2036763" cy="16827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sp>
        <p:nvSpPr>
          <p:cNvPr id="44" name="Espace réservé du contenu 20">
            <a:extLst>
              <a:ext uri="{FF2B5EF4-FFF2-40B4-BE49-F238E27FC236}">
                <a16:creationId xmlns:a16="http://schemas.microsoft.com/office/drawing/2014/main" id="{3A74974B-9C01-42B7-B7DF-D27A270B419E}"/>
              </a:ext>
            </a:extLst>
          </p:cNvPr>
          <p:cNvSpPr>
            <a:spLocks noGrp="1"/>
          </p:cNvSpPr>
          <p:nvPr>
            <p:ph sz="quarter" idx="17"/>
          </p:nvPr>
        </p:nvSpPr>
        <p:spPr>
          <a:xfrm>
            <a:off x="3609816" y="4049319"/>
            <a:ext cx="2036763" cy="16827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sp>
        <p:nvSpPr>
          <p:cNvPr id="22" name="Title 1">
            <a:extLst>
              <a:ext uri="{FF2B5EF4-FFF2-40B4-BE49-F238E27FC236}">
                <a16:creationId xmlns:a16="http://schemas.microsoft.com/office/drawing/2014/main" id="{E4F3BFD6-EF6D-4937-A530-E71E5C8E22A1}"/>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279660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87E6A6D2-E2F8-4779-9EDB-F9F348FBDAAC}"/>
              </a:ext>
            </a:extLst>
          </p:cNvPr>
          <p:cNvPicPr>
            <a:picLocks noChangeAspect="1"/>
          </p:cNvPicPr>
          <p:nvPr userDrawn="1"/>
        </p:nvPicPr>
        <p:blipFill rotWithShape="1">
          <a:blip r:embed="rId2"/>
          <a:srcRect l="6195" t="11042"/>
          <a:stretch/>
        </p:blipFill>
        <p:spPr>
          <a:xfrm>
            <a:off x="0" y="-1"/>
            <a:ext cx="3581400" cy="610076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4036866" y="20742"/>
            <a:ext cx="7315200" cy="1104674"/>
          </a:xfrm>
        </p:spPr>
        <p:txBody>
          <a:bodyPr/>
          <a:lstStyle>
            <a:lvl1pPr>
              <a:defRPr>
                <a:solidFill>
                  <a:srgbClr val="002060"/>
                </a:solidFill>
              </a:defRPr>
            </a:lvl1pPr>
          </a:lstStyle>
          <a:p>
            <a:r>
              <a:rPr lang="fr-FR" dirty="0"/>
              <a:t>Curriculum Vitae</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Espace réservé pour une image  9">
            <a:extLst>
              <a:ext uri="{FF2B5EF4-FFF2-40B4-BE49-F238E27FC236}">
                <a16:creationId xmlns:a16="http://schemas.microsoft.com/office/drawing/2014/main" id="{C1ADCDA6-C90B-4069-A752-50C118EB2FB3}"/>
              </a:ext>
            </a:extLst>
          </p:cNvPr>
          <p:cNvSpPr>
            <a:spLocks noGrp="1"/>
          </p:cNvSpPr>
          <p:nvPr>
            <p:ph type="pic" sz="quarter" idx="13"/>
          </p:nvPr>
        </p:nvSpPr>
        <p:spPr>
          <a:xfrm>
            <a:off x="1089624" y="314325"/>
            <a:ext cx="1400175" cy="1400175"/>
          </a:xfrm>
        </p:spPr>
        <p:txBody>
          <a:bodyPr/>
          <a:lstStyle/>
          <a:p>
            <a:r>
              <a:rPr lang="fr-FR"/>
              <a:t>Cliquez sur l'icône pour ajouter une image</a:t>
            </a:r>
          </a:p>
        </p:txBody>
      </p:sp>
      <p:pic>
        <p:nvPicPr>
          <p:cNvPr id="11" name="Image 10">
            <a:extLst>
              <a:ext uri="{FF2B5EF4-FFF2-40B4-BE49-F238E27FC236}">
                <a16:creationId xmlns:a16="http://schemas.microsoft.com/office/drawing/2014/main" id="{17BDD987-33F1-43DC-8295-E57EAEB4E59C}"/>
              </a:ext>
            </a:extLst>
          </p:cNvPr>
          <p:cNvPicPr>
            <a:picLocks noChangeAspect="1"/>
          </p:cNvPicPr>
          <p:nvPr userDrawn="1"/>
        </p:nvPicPr>
        <p:blipFill rotWithShape="1">
          <a:blip r:embed="rId4"/>
          <a:srcRect b="93564"/>
          <a:stretch/>
        </p:blipFill>
        <p:spPr>
          <a:xfrm>
            <a:off x="762446" y="3374235"/>
            <a:ext cx="2054530" cy="242888"/>
          </a:xfrm>
          <a:prstGeom prst="rect">
            <a:avLst/>
          </a:prstGeom>
        </p:spPr>
      </p:pic>
      <p:sp>
        <p:nvSpPr>
          <p:cNvPr id="15" name="Espace réservé du texte 14">
            <a:extLst>
              <a:ext uri="{FF2B5EF4-FFF2-40B4-BE49-F238E27FC236}">
                <a16:creationId xmlns:a16="http://schemas.microsoft.com/office/drawing/2014/main" id="{14039E18-DA24-4FE0-A036-EA8341252CBC}"/>
              </a:ext>
            </a:extLst>
          </p:cNvPr>
          <p:cNvSpPr>
            <a:spLocks noGrp="1"/>
          </p:cNvSpPr>
          <p:nvPr>
            <p:ph type="body" sz="quarter" idx="14" hasCustomPrompt="1"/>
          </p:nvPr>
        </p:nvSpPr>
        <p:spPr>
          <a:xfrm>
            <a:off x="305003" y="1954213"/>
            <a:ext cx="2969417" cy="371475"/>
          </a:xfrm>
        </p:spPr>
        <p:txBody>
          <a:bodyPr>
            <a:normAutofit/>
          </a:bodyPr>
          <a:lstStyle>
            <a:lvl1pPr marL="0" indent="0" algn="ctr">
              <a:buNone/>
              <a:defRPr sz="20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Prénom NOM</a:t>
            </a:r>
          </a:p>
        </p:txBody>
      </p:sp>
      <p:sp>
        <p:nvSpPr>
          <p:cNvPr id="16" name="Espace réservé du texte 14">
            <a:extLst>
              <a:ext uri="{FF2B5EF4-FFF2-40B4-BE49-F238E27FC236}">
                <a16:creationId xmlns:a16="http://schemas.microsoft.com/office/drawing/2014/main" id="{9CD3BBE2-3ABB-4DBB-9C05-9817C520234B}"/>
              </a:ext>
            </a:extLst>
          </p:cNvPr>
          <p:cNvSpPr>
            <a:spLocks noGrp="1"/>
          </p:cNvSpPr>
          <p:nvPr>
            <p:ph type="body" sz="quarter" idx="15" hasCustomPrompt="1"/>
          </p:nvPr>
        </p:nvSpPr>
        <p:spPr>
          <a:xfrm>
            <a:off x="305003" y="2352677"/>
            <a:ext cx="2969417" cy="371475"/>
          </a:xfrm>
        </p:spPr>
        <p:txBody>
          <a:bodyPr/>
          <a:lstStyle>
            <a:lvl1pPr marL="0" indent="0" algn="ctr">
              <a:buNone/>
              <a:defRPr sz="18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Intitulé du poste</a:t>
            </a:r>
          </a:p>
        </p:txBody>
      </p:sp>
      <p:sp>
        <p:nvSpPr>
          <p:cNvPr id="17" name="Espace réservé du texte 14">
            <a:extLst>
              <a:ext uri="{FF2B5EF4-FFF2-40B4-BE49-F238E27FC236}">
                <a16:creationId xmlns:a16="http://schemas.microsoft.com/office/drawing/2014/main" id="{6BA8D911-54C1-436F-B448-0C253BFE1995}"/>
              </a:ext>
            </a:extLst>
          </p:cNvPr>
          <p:cNvSpPr>
            <a:spLocks noGrp="1"/>
          </p:cNvSpPr>
          <p:nvPr>
            <p:ph type="body" sz="quarter" idx="16" hasCustomPrompt="1"/>
          </p:nvPr>
        </p:nvSpPr>
        <p:spPr>
          <a:xfrm>
            <a:off x="305003" y="2769392"/>
            <a:ext cx="2969417" cy="371475"/>
          </a:xfrm>
        </p:spPr>
        <p:txBody>
          <a:bodyPr>
            <a:normAutofit/>
          </a:bodyPr>
          <a:lstStyle>
            <a:lvl1pPr marL="0" indent="0" algn="ctr">
              <a:buNone/>
              <a:defRPr sz="18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Années d’expérience</a:t>
            </a:r>
          </a:p>
        </p:txBody>
      </p:sp>
      <p:sp>
        <p:nvSpPr>
          <p:cNvPr id="18" name="Espace réservé du texte 14">
            <a:extLst>
              <a:ext uri="{FF2B5EF4-FFF2-40B4-BE49-F238E27FC236}">
                <a16:creationId xmlns:a16="http://schemas.microsoft.com/office/drawing/2014/main" id="{9A60C33C-749B-498B-BD86-D6F687AE0CF8}"/>
              </a:ext>
            </a:extLst>
          </p:cNvPr>
          <p:cNvSpPr>
            <a:spLocks noGrp="1"/>
          </p:cNvSpPr>
          <p:nvPr>
            <p:ph type="body" sz="quarter" idx="17" hasCustomPrompt="1"/>
          </p:nvPr>
        </p:nvSpPr>
        <p:spPr>
          <a:xfrm>
            <a:off x="305003" y="3773694"/>
            <a:ext cx="2969417" cy="526055"/>
          </a:xfrm>
        </p:spPr>
        <p:txBody>
          <a:bodyPr anchor="ctr">
            <a:noAutofit/>
          </a:bodyPr>
          <a:lstStyle>
            <a:lvl1pPr marL="0" indent="0" algn="ctr">
              <a:buFont typeface="Arial" panose="020B0604020202020204" pitchFamily="34" charset="0"/>
              <a:buNone/>
              <a:defRPr sz="20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Formation</a:t>
            </a:r>
          </a:p>
        </p:txBody>
      </p:sp>
      <p:sp>
        <p:nvSpPr>
          <p:cNvPr id="19" name="Espace réservé du texte 14">
            <a:extLst>
              <a:ext uri="{FF2B5EF4-FFF2-40B4-BE49-F238E27FC236}">
                <a16:creationId xmlns:a16="http://schemas.microsoft.com/office/drawing/2014/main" id="{572ECD38-4A16-49CC-9878-CEF112EE8780}"/>
              </a:ext>
            </a:extLst>
          </p:cNvPr>
          <p:cNvSpPr>
            <a:spLocks noGrp="1"/>
          </p:cNvSpPr>
          <p:nvPr>
            <p:ph type="body" sz="quarter" idx="18" hasCustomPrompt="1"/>
          </p:nvPr>
        </p:nvSpPr>
        <p:spPr>
          <a:xfrm>
            <a:off x="305003" y="4341022"/>
            <a:ext cx="2969417" cy="371475"/>
          </a:xfrm>
        </p:spPr>
        <p:txBody>
          <a:bodyPr>
            <a:noAutofit/>
          </a:bodyPr>
          <a:lstStyle>
            <a:lvl1pPr marL="285750" indent="-285750" algn="l">
              <a:buFontTx/>
              <a:buBlip>
                <a:blip r:embed="rId5"/>
              </a:buBlip>
              <a:defRPr sz="12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2008 : Nom de la formation</a:t>
            </a:r>
          </a:p>
          <a:p>
            <a:pPr lvl="0"/>
            <a:r>
              <a:rPr lang="fr-FR" dirty="0"/>
              <a:t>2005 : Nom de la formation</a:t>
            </a:r>
          </a:p>
          <a:p>
            <a:pPr lvl="0"/>
            <a:r>
              <a:rPr lang="fr-FR" dirty="0"/>
              <a:t>2002 : Nom de la formation</a:t>
            </a:r>
          </a:p>
          <a:p>
            <a:pPr lvl="0"/>
            <a:endParaRPr lang="fr-FR" dirty="0"/>
          </a:p>
          <a:p>
            <a:pPr lvl="0"/>
            <a:endParaRPr lang="fr-FR" dirty="0"/>
          </a:p>
          <a:p>
            <a:pPr lvl="0"/>
            <a:endParaRPr lang="fr-FR" dirty="0"/>
          </a:p>
        </p:txBody>
      </p:sp>
      <p:sp>
        <p:nvSpPr>
          <p:cNvPr id="23" name="Rectangle : avec coins arrondis en diagonale 22">
            <a:extLst>
              <a:ext uri="{FF2B5EF4-FFF2-40B4-BE49-F238E27FC236}">
                <a16:creationId xmlns:a16="http://schemas.microsoft.com/office/drawing/2014/main" id="{07C195A6-4716-4A8A-AB03-FF7F0F0BC84A}"/>
              </a:ext>
            </a:extLst>
          </p:cNvPr>
          <p:cNvSpPr/>
          <p:nvPr userDrawn="1"/>
        </p:nvSpPr>
        <p:spPr>
          <a:xfrm>
            <a:off x="3457575" y="1199550"/>
            <a:ext cx="526055" cy="526055"/>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 avec coins arrondis en diagonale 23">
            <a:extLst>
              <a:ext uri="{FF2B5EF4-FFF2-40B4-BE49-F238E27FC236}">
                <a16:creationId xmlns:a16="http://schemas.microsoft.com/office/drawing/2014/main" id="{9AFB7768-6FAB-4F13-ACBF-1E8E8234DF2C}"/>
              </a:ext>
            </a:extLst>
          </p:cNvPr>
          <p:cNvSpPr/>
          <p:nvPr userDrawn="1"/>
        </p:nvSpPr>
        <p:spPr>
          <a:xfrm>
            <a:off x="3457574" y="3409861"/>
            <a:ext cx="526055" cy="526055"/>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Subtitle 2">
            <a:extLst>
              <a:ext uri="{FF2B5EF4-FFF2-40B4-BE49-F238E27FC236}">
                <a16:creationId xmlns:a16="http://schemas.microsoft.com/office/drawing/2014/main" id="{16754107-50C6-4D7C-B276-F04BDB278800}"/>
              </a:ext>
            </a:extLst>
          </p:cNvPr>
          <p:cNvSpPr>
            <a:spLocks noGrp="1"/>
          </p:cNvSpPr>
          <p:nvPr>
            <p:ph type="subTitle" idx="19" hasCustomPrompt="1"/>
          </p:nvPr>
        </p:nvSpPr>
        <p:spPr>
          <a:xfrm>
            <a:off x="4036866" y="1215221"/>
            <a:ext cx="5576888" cy="510385"/>
          </a:xfrm>
        </p:spPr>
        <p:txBody>
          <a:bodyPr anchor="ctr">
            <a:normAutofit/>
          </a:bodyPr>
          <a:lstStyle>
            <a:lvl1pPr marL="0" indent="0" algn="l">
              <a:buNone/>
              <a:defRPr sz="20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Compétences clés</a:t>
            </a:r>
            <a:endParaRPr lang="en-US" dirty="0"/>
          </a:p>
        </p:txBody>
      </p:sp>
      <p:sp>
        <p:nvSpPr>
          <p:cNvPr id="28" name="Espace réservé du texte 27">
            <a:extLst>
              <a:ext uri="{FF2B5EF4-FFF2-40B4-BE49-F238E27FC236}">
                <a16:creationId xmlns:a16="http://schemas.microsoft.com/office/drawing/2014/main" id="{C8FB29FE-0785-4B31-A45B-D411CF5D2A09}"/>
              </a:ext>
            </a:extLst>
          </p:cNvPr>
          <p:cNvSpPr>
            <a:spLocks noGrp="1"/>
          </p:cNvSpPr>
          <p:nvPr>
            <p:ph type="body" sz="quarter" idx="20" hasCustomPrompt="1"/>
          </p:nvPr>
        </p:nvSpPr>
        <p:spPr>
          <a:xfrm>
            <a:off x="4036866" y="3432979"/>
            <a:ext cx="5576888" cy="502937"/>
          </a:xfrm>
        </p:spPr>
        <p:txBody>
          <a:bodyPr anchor="ctr">
            <a:noAutofit/>
          </a:bodyPr>
          <a:lstStyle>
            <a:lvl1pPr marL="0" indent="0">
              <a:buFont typeface="Arial" panose="020B0604020202020204" pitchFamily="34" charset="0"/>
              <a:buNone/>
              <a:defRPr sz="2000">
                <a:latin typeface="+mj-lt"/>
              </a:defRPr>
            </a:lvl1pPr>
          </a:lstStyle>
          <a:p>
            <a:pPr lvl="0"/>
            <a:r>
              <a:rPr lang="fr-FR" dirty="0"/>
              <a:t>Expériences significatives</a:t>
            </a:r>
          </a:p>
        </p:txBody>
      </p:sp>
      <p:sp>
        <p:nvSpPr>
          <p:cNvPr id="29" name="Espace réservé du texte 14">
            <a:extLst>
              <a:ext uri="{FF2B5EF4-FFF2-40B4-BE49-F238E27FC236}">
                <a16:creationId xmlns:a16="http://schemas.microsoft.com/office/drawing/2014/main" id="{C136A6A2-A03D-4D93-8209-9A3F67A2110D}"/>
              </a:ext>
            </a:extLst>
          </p:cNvPr>
          <p:cNvSpPr>
            <a:spLocks noGrp="1"/>
          </p:cNvSpPr>
          <p:nvPr>
            <p:ph type="body" sz="quarter" idx="21" hasCustomPrompt="1"/>
          </p:nvPr>
        </p:nvSpPr>
        <p:spPr>
          <a:xfrm>
            <a:off x="4036866" y="1758092"/>
            <a:ext cx="7315200" cy="1414306"/>
          </a:xfrm>
        </p:spPr>
        <p:txBody>
          <a:bodyPr>
            <a:normAutofit/>
          </a:bodyPr>
          <a:lstStyle>
            <a:lvl1pPr marL="0" indent="0" algn="l">
              <a:buFontTx/>
              <a:buNone/>
              <a:defRPr sz="1200" i="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Langages : Lorem Ipsum</a:t>
            </a:r>
          </a:p>
          <a:p>
            <a:pPr lvl="0"/>
            <a:r>
              <a:rPr lang="fr-FR" dirty="0"/>
              <a:t>Environnement : Lorem Ipsum</a:t>
            </a:r>
          </a:p>
          <a:p>
            <a:pPr lvl="0"/>
            <a:r>
              <a:rPr lang="fr-FR" dirty="0"/>
              <a:t>Outils : Lorem Ipsum</a:t>
            </a:r>
          </a:p>
          <a:p>
            <a:pPr lvl="0"/>
            <a:r>
              <a:rPr lang="fr-FR" dirty="0"/>
              <a:t>MOA : Lorem Ipsum</a:t>
            </a:r>
          </a:p>
          <a:p>
            <a:pPr lvl="0"/>
            <a:endParaRPr lang="fr-FR" dirty="0"/>
          </a:p>
          <a:p>
            <a:pPr lvl="0"/>
            <a:endParaRPr lang="fr-FR" dirty="0"/>
          </a:p>
        </p:txBody>
      </p:sp>
      <p:sp>
        <p:nvSpPr>
          <p:cNvPr id="30" name="Espace réservé du texte 14">
            <a:extLst>
              <a:ext uri="{FF2B5EF4-FFF2-40B4-BE49-F238E27FC236}">
                <a16:creationId xmlns:a16="http://schemas.microsoft.com/office/drawing/2014/main" id="{5B07046E-77EB-49D2-AAB6-4DDB8F82B3BB}"/>
              </a:ext>
            </a:extLst>
          </p:cNvPr>
          <p:cNvSpPr>
            <a:spLocks noGrp="1"/>
          </p:cNvSpPr>
          <p:nvPr>
            <p:ph type="body" sz="quarter" idx="22" hasCustomPrompt="1"/>
          </p:nvPr>
        </p:nvSpPr>
        <p:spPr>
          <a:xfrm>
            <a:off x="4036866" y="3967890"/>
            <a:ext cx="7315200" cy="2305910"/>
          </a:xfrm>
        </p:spPr>
        <p:txBody>
          <a:bodyPr>
            <a:normAutofit/>
          </a:bodyPr>
          <a:lstStyle>
            <a:lvl1pPr marL="0" indent="0" algn="l">
              <a:buFont typeface="Arial" panose="020B0604020202020204" pitchFamily="34" charset="0"/>
              <a:buNone/>
              <a:defRPr sz="12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Expérience 1</a:t>
            </a:r>
          </a:p>
          <a:p>
            <a:pPr lvl="0"/>
            <a:r>
              <a:rPr lang="fr-FR" dirty="0"/>
              <a:t>Donec vel </a:t>
            </a:r>
            <a:r>
              <a:rPr lang="fr-FR" dirty="0" err="1"/>
              <a:t>metus</a:t>
            </a:r>
            <a:r>
              <a:rPr lang="fr-FR" dirty="0"/>
              <a:t> </a:t>
            </a:r>
            <a:r>
              <a:rPr lang="fr-FR" dirty="0" err="1"/>
              <a:t>dolor</a:t>
            </a:r>
            <a:r>
              <a:rPr lang="fr-FR" dirty="0"/>
              <a:t>. </a:t>
            </a:r>
            <a:r>
              <a:rPr lang="fr-FR" dirty="0" err="1"/>
              <a:t>Quisque</a:t>
            </a:r>
            <a:r>
              <a:rPr lang="fr-FR" dirty="0"/>
              <a:t> </a:t>
            </a:r>
            <a:r>
              <a:rPr lang="fr-FR" dirty="0" err="1"/>
              <a:t>placerat</a:t>
            </a:r>
            <a:r>
              <a:rPr lang="fr-FR" dirty="0"/>
              <a:t> </a:t>
            </a:r>
            <a:r>
              <a:rPr lang="fr-FR" dirty="0" err="1"/>
              <a:t>metus</a:t>
            </a:r>
            <a:r>
              <a:rPr lang="fr-FR" dirty="0"/>
              <a:t> nec </a:t>
            </a:r>
            <a:r>
              <a:rPr lang="fr-FR" dirty="0" err="1"/>
              <a:t>viverra</a:t>
            </a:r>
            <a:r>
              <a:rPr lang="fr-FR" dirty="0"/>
              <a:t> </a:t>
            </a:r>
            <a:r>
              <a:rPr lang="fr-FR" dirty="0" err="1"/>
              <a:t>sagittis</a:t>
            </a:r>
            <a:r>
              <a:rPr lang="fr-FR" dirty="0"/>
              <a:t>. </a:t>
            </a:r>
            <a:r>
              <a:rPr lang="fr-FR" dirty="0" err="1"/>
              <a:t>Maecenas</a:t>
            </a:r>
            <a:r>
              <a:rPr lang="fr-FR" dirty="0"/>
              <a:t> </a:t>
            </a:r>
            <a:r>
              <a:rPr lang="fr-FR" dirty="0" err="1"/>
              <a:t>eget</a:t>
            </a:r>
            <a:r>
              <a:rPr lang="fr-FR" dirty="0"/>
              <a:t> diam et </a:t>
            </a:r>
            <a:r>
              <a:rPr lang="fr-FR" dirty="0" err="1"/>
              <a:t>lorem</a:t>
            </a:r>
            <a:r>
              <a:rPr lang="fr-FR" dirty="0"/>
              <a:t> mollis dictum. Donec </a:t>
            </a:r>
            <a:r>
              <a:rPr lang="fr-FR" dirty="0" err="1"/>
              <a:t>blandit</a:t>
            </a:r>
            <a:r>
              <a:rPr lang="fr-FR" dirty="0"/>
              <a:t> rhoncus </a:t>
            </a:r>
            <a:r>
              <a:rPr lang="fr-FR" dirty="0" err="1"/>
              <a:t>sapien</a:t>
            </a:r>
            <a:r>
              <a:rPr lang="fr-FR" dirty="0"/>
              <a:t> </a:t>
            </a:r>
            <a:r>
              <a:rPr lang="fr-FR" dirty="0" err="1"/>
              <a:t>sit</a:t>
            </a:r>
            <a:r>
              <a:rPr lang="fr-FR" dirty="0"/>
              <a:t>.</a:t>
            </a:r>
          </a:p>
          <a:p>
            <a:pPr lvl="0"/>
            <a:r>
              <a:rPr lang="fr-FR" dirty="0"/>
              <a:t>Expérience 2</a:t>
            </a:r>
          </a:p>
          <a:p>
            <a:pPr lvl="0"/>
            <a:r>
              <a:rPr lang="fr-FR" dirty="0"/>
              <a:t>Donec vel </a:t>
            </a:r>
            <a:r>
              <a:rPr lang="fr-FR" dirty="0" err="1"/>
              <a:t>metus</a:t>
            </a:r>
            <a:r>
              <a:rPr lang="fr-FR" dirty="0"/>
              <a:t> </a:t>
            </a:r>
            <a:r>
              <a:rPr lang="fr-FR" dirty="0" err="1"/>
              <a:t>dolor</a:t>
            </a:r>
            <a:r>
              <a:rPr lang="fr-FR" dirty="0"/>
              <a:t>. </a:t>
            </a:r>
            <a:r>
              <a:rPr lang="fr-FR" dirty="0" err="1"/>
              <a:t>Quisque</a:t>
            </a:r>
            <a:r>
              <a:rPr lang="fr-FR" dirty="0"/>
              <a:t> </a:t>
            </a:r>
            <a:r>
              <a:rPr lang="fr-FR" dirty="0" err="1"/>
              <a:t>placerat</a:t>
            </a:r>
            <a:r>
              <a:rPr lang="fr-FR" dirty="0"/>
              <a:t> </a:t>
            </a:r>
            <a:r>
              <a:rPr lang="fr-FR" dirty="0" err="1"/>
              <a:t>metus</a:t>
            </a:r>
            <a:r>
              <a:rPr lang="fr-FR" dirty="0"/>
              <a:t> nec </a:t>
            </a:r>
            <a:r>
              <a:rPr lang="fr-FR" dirty="0" err="1"/>
              <a:t>viverra</a:t>
            </a:r>
            <a:r>
              <a:rPr lang="fr-FR" dirty="0"/>
              <a:t> </a:t>
            </a:r>
            <a:r>
              <a:rPr lang="fr-FR" dirty="0" err="1"/>
              <a:t>sagittis</a:t>
            </a:r>
            <a:r>
              <a:rPr lang="fr-FR" dirty="0"/>
              <a:t>. </a:t>
            </a:r>
            <a:r>
              <a:rPr lang="fr-FR" dirty="0" err="1"/>
              <a:t>Maecenas</a:t>
            </a:r>
            <a:r>
              <a:rPr lang="fr-FR" dirty="0"/>
              <a:t> </a:t>
            </a:r>
            <a:r>
              <a:rPr lang="fr-FR" dirty="0" err="1"/>
              <a:t>eget</a:t>
            </a:r>
            <a:r>
              <a:rPr lang="fr-FR" dirty="0"/>
              <a:t> diam et </a:t>
            </a:r>
            <a:r>
              <a:rPr lang="fr-FR" dirty="0" err="1"/>
              <a:t>lorem</a:t>
            </a:r>
            <a:r>
              <a:rPr lang="fr-FR" dirty="0"/>
              <a:t> mollis dictum. Donec </a:t>
            </a:r>
            <a:r>
              <a:rPr lang="fr-FR" dirty="0" err="1"/>
              <a:t>blandit</a:t>
            </a:r>
            <a:r>
              <a:rPr lang="fr-FR" dirty="0"/>
              <a:t> rhoncus </a:t>
            </a:r>
            <a:r>
              <a:rPr lang="fr-FR" dirty="0" err="1"/>
              <a:t>sapien</a:t>
            </a:r>
            <a:r>
              <a:rPr lang="fr-FR" dirty="0"/>
              <a:t> </a:t>
            </a:r>
            <a:r>
              <a:rPr lang="fr-FR" dirty="0" err="1"/>
              <a:t>sit</a:t>
            </a:r>
            <a:r>
              <a:rPr lang="fr-FR" dirty="0"/>
              <a:t>.</a:t>
            </a:r>
          </a:p>
          <a:p>
            <a:pPr lvl="0"/>
            <a:r>
              <a:rPr lang="fr-FR" dirty="0"/>
              <a:t>Expérience 3</a:t>
            </a:r>
          </a:p>
          <a:p>
            <a:pPr lvl="0"/>
            <a:r>
              <a:rPr lang="fr-FR" dirty="0"/>
              <a:t>Donec vel </a:t>
            </a:r>
            <a:r>
              <a:rPr lang="fr-FR" dirty="0" err="1"/>
              <a:t>metus</a:t>
            </a:r>
            <a:r>
              <a:rPr lang="fr-FR" dirty="0"/>
              <a:t> </a:t>
            </a:r>
            <a:r>
              <a:rPr lang="fr-FR" dirty="0" err="1"/>
              <a:t>dolor</a:t>
            </a:r>
            <a:r>
              <a:rPr lang="fr-FR" dirty="0"/>
              <a:t>. </a:t>
            </a:r>
            <a:r>
              <a:rPr lang="fr-FR" dirty="0" err="1"/>
              <a:t>Quisque</a:t>
            </a:r>
            <a:r>
              <a:rPr lang="fr-FR" dirty="0"/>
              <a:t> </a:t>
            </a:r>
            <a:r>
              <a:rPr lang="fr-FR" dirty="0" err="1"/>
              <a:t>placerat</a:t>
            </a:r>
            <a:r>
              <a:rPr lang="fr-FR" dirty="0"/>
              <a:t> </a:t>
            </a:r>
            <a:r>
              <a:rPr lang="fr-FR" dirty="0" err="1"/>
              <a:t>metus</a:t>
            </a:r>
            <a:r>
              <a:rPr lang="fr-FR" dirty="0"/>
              <a:t> nec </a:t>
            </a:r>
            <a:r>
              <a:rPr lang="fr-FR" dirty="0" err="1"/>
              <a:t>viverra</a:t>
            </a:r>
            <a:r>
              <a:rPr lang="fr-FR" dirty="0"/>
              <a:t> </a:t>
            </a:r>
            <a:r>
              <a:rPr lang="fr-FR" dirty="0" err="1"/>
              <a:t>sagittis</a:t>
            </a:r>
            <a:r>
              <a:rPr lang="fr-FR" dirty="0"/>
              <a:t>. </a:t>
            </a:r>
            <a:r>
              <a:rPr lang="fr-FR" dirty="0" err="1"/>
              <a:t>Maecenas</a:t>
            </a:r>
            <a:r>
              <a:rPr lang="fr-FR" dirty="0"/>
              <a:t> </a:t>
            </a:r>
            <a:r>
              <a:rPr lang="fr-FR" dirty="0" err="1"/>
              <a:t>eget</a:t>
            </a:r>
            <a:r>
              <a:rPr lang="fr-FR" dirty="0"/>
              <a:t> diam et </a:t>
            </a:r>
            <a:r>
              <a:rPr lang="fr-FR" dirty="0" err="1"/>
              <a:t>lorem</a:t>
            </a:r>
            <a:r>
              <a:rPr lang="fr-FR" dirty="0"/>
              <a:t> mollis dictum. Donec </a:t>
            </a:r>
            <a:r>
              <a:rPr lang="fr-FR" dirty="0" err="1"/>
              <a:t>blandit</a:t>
            </a:r>
            <a:r>
              <a:rPr lang="fr-FR" dirty="0"/>
              <a:t> rhoncus </a:t>
            </a:r>
            <a:r>
              <a:rPr lang="fr-FR" dirty="0" err="1"/>
              <a:t>sapien</a:t>
            </a:r>
            <a:r>
              <a:rPr lang="fr-FR" dirty="0"/>
              <a:t> </a:t>
            </a:r>
            <a:r>
              <a:rPr lang="fr-FR" dirty="0" err="1"/>
              <a:t>sit</a:t>
            </a:r>
            <a:r>
              <a:rPr lang="fr-FR" dirty="0"/>
              <a:t>.</a:t>
            </a:r>
          </a:p>
          <a:p>
            <a:pPr lvl="0"/>
            <a:endParaRPr lang="fr-FR" dirty="0"/>
          </a:p>
          <a:p>
            <a:pPr lvl="0"/>
            <a:endParaRPr lang="fr-FR" dirty="0"/>
          </a:p>
          <a:p>
            <a:pPr lvl="0"/>
            <a:endParaRPr lang="fr-FR" dirty="0"/>
          </a:p>
          <a:p>
            <a:pPr lvl="0"/>
            <a:endParaRPr lang="fr-FR" dirty="0"/>
          </a:p>
        </p:txBody>
      </p:sp>
    </p:spTree>
    <p:extLst>
      <p:ext uri="{BB962C8B-B14F-4D97-AF65-F5344CB8AC3E}">
        <p14:creationId xmlns:p14="http://schemas.microsoft.com/office/powerpoint/2010/main" val="37023338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Only">
    <p:bg>
      <p:bgPr>
        <a:solidFill>
          <a:srgbClr val="FFFDF9"/>
        </a:solidFill>
        <a:effectLst/>
      </p:bgPr>
    </p:bg>
    <p:spTree>
      <p:nvGrpSpPr>
        <p:cNvPr id="1" name=""/>
        <p:cNvGrpSpPr/>
        <p:nvPr/>
      </p:nvGrpSpPr>
      <p:grpSpPr>
        <a:xfrm>
          <a:off x="0" y="0"/>
          <a:ext cx="0" cy="0"/>
          <a:chOff x="0" y="0"/>
          <a:chExt cx="0" cy="0"/>
        </a:xfrm>
      </p:grpSpPr>
      <p:pic>
        <p:nvPicPr>
          <p:cNvPr id="3" name="Picture 2" descr="A close up of a hexagon&#10;&#10;Description automatically generated">
            <a:extLst>
              <a:ext uri="{FF2B5EF4-FFF2-40B4-BE49-F238E27FC236}">
                <a16:creationId xmlns:a16="http://schemas.microsoft.com/office/drawing/2014/main" id="{8E137068-7BA3-6088-0C65-0CB23AC06398}"/>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1123409" y="5814699"/>
            <a:ext cx="868680" cy="796908"/>
          </a:xfrm>
          <a:prstGeom prst="rect">
            <a:avLst/>
          </a:prstGeom>
        </p:spPr>
      </p:pic>
      <p:sp>
        <p:nvSpPr>
          <p:cNvPr id="6" name="Footer Placeholder 5">
            <a:extLst>
              <a:ext uri="{FF2B5EF4-FFF2-40B4-BE49-F238E27FC236}">
                <a16:creationId xmlns:a16="http://schemas.microsoft.com/office/drawing/2014/main" id="{BBF18DD5-394A-4676-966A-43A5BAC6E006}"/>
              </a:ext>
            </a:extLst>
          </p:cNvPr>
          <p:cNvSpPr>
            <a:spLocks noGrp="1"/>
          </p:cNvSpPr>
          <p:nvPr>
            <p:ph type="ftr" sz="quarter" idx="10"/>
          </p:nvPr>
        </p:nvSpPr>
        <p:spPr/>
        <p:txBody>
          <a:bodyPr/>
          <a:lstStyle/>
          <a:p>
            <a:r>
              <a:rPr lang="en-US"/>
              <a:t>Microsoft Fabric</a:t>
            </a:r>
          </a:p>
        </p:txBody>
      </p:sp>
      <p:sp>
        <p:nvSpPr>
          <p:cNvPr id="7" name="Slide Number Placeholder 6">
            <a:extLst>
              <a:ext uri="{FF2B5EF4-FFF2-40B4-BE49-F238E27FC236}">
                <a16:creationId xmlns:a16="http://schemas.microsoft.com/office/drawing/2014/main" id="{2A399517-6D70-91AD-1227-F9D6955CDA7B}"/>
              </a:ext>
            </a:extLst>
          </p:cNvPr>
          <p:cNvSpPr>
            <a:spLocks noGrp="1"/>
          </p:cNvSpPr>
          <p:nvPr>
            <p:ph type="sldNum" sz="quarter" idx="11"/>
          </p:nvPr>
        </p:nvSpPr>
        <p:spPr/>
        <p:txBody>
          <a:bodyPr/>
          <a:lstStyle/>
          <a:p>
            <a:fld id="{B1356FBF-028C-F74E-A7B4-9B8ED246DD1B}" type="slidenum">
              <a:rPr lang="en-US" smtClean="0"/>
              <a:pPr/>
              <a:t>‹N°›</a:t>
            </a:fld>
            <a:endParaRPr lang="en-US"/>
          </a:p>
        </p:txBody>
      </p:sp>
      <p:sp>
        <p:nvSpPr>
          <p:cNvPr id="10" name="Title 9">
            <a:extLst>
              <a:ext uri="{FF2B5EF4-FFF2-40B4-BE49-F238E27FC236}">
                <a16:creationId xmlns:a16="http://schemas.microsoft.com/office/drawing/2014/main" id="{2536199F-AFBB-90E6-3138-4F79DE029AB5}"/>
              </a:ext>
            </a:extLst>
          </p:cNvPr>
          <p:cNvSpPr>
            <a:spLocks noGrp="1"/>
          </p:cNvSpPr>
          <p:nvPr>
            <p:ph type="title"/>
          </p:nvPr>
        </p:nvSpPr>
        <p:spPr>
          <a:xfrm>
            <a:off x="581025" y="365125"/>
            <a:ext cx="11029949" cy="549275"/>
          </a:xfrm>
        </p:spPr>
        <p:txBody>
          <a:bodyPr anchor="b">
            <a:noAutofit/>
          </a:bodyPr>
          <a:lstStyle/>
          <a:p>
            <a:r>
              <a:rPr lang="en-US"/>
              <a:t>Click to edit Master title style</a:t>
            </a:r>
          </a:p>
        </p:txBody>
      </p:sp>
    </p:spTree>
    <p:extLst>
      <p:ext uri="{BB962C8B-B14F-4D97-AF65-F5344CB8AC3E}">
        <p14:creationId xmlns:p14="http://schemas.microsoft.com/office/powerpoint/2010/main" val="3334637439"/>
      </p:ext>
    </p:extLst>
  </p:cSld>
  <p:clrMapOvr>
    <a:masterClrMapping/>
  </p:clrMapOvr>
  <p:transition>
    <p:fade/>
  </p:transition>
  <p:extLst>
    <p:ext uri="{DCECCB84-F9BA-43D5-87BE-67443E8EF086}">
      <p15:sldGuideLst xmlns:p15="http://schemas.microsoft.com/office/powerpoint/2012/main">
        <p15:guide id="10" pos="1967">
          <p15:clr>
            <a:srgbClr val="A4A3A4"/>
          </p15:clr>
        </p15:guide>
        <p15:guide id="18" pos="4343">
          <p15:clr>
            <a:srgbClr val="A4A3A4"/>
          </p15:clr>
        </p15:guide>
        <p15:guide id="19" pos="4526">
          <p15:clr>
            <a:srgbClr val="A4A3A4"/>
          </p15:clr>
        </p15:guide>
        <p15:guide id="21" pos="5120">
          <p15:clr>
            <a:srgbClr val="A4A3A4"/>
          </p15:clr>
        </p15:guide>
        <p15:guide id="25" pos="6308">
          <p15:clr>
            <a:srgbClr val="A4A3A4"/>
          </p15:clr>
        </p15:guide>
        <p15:guide id="26" orient="horz" pos="924">
          <p15:clr>
            <a:srgbClr val="9FCC3B"/>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9E7EB12-65FC-643E-0176-52947BFA932E}"/>
              </a:ext>
            </a:extLst>
          </p:cNvPr>
          <p:cNvSpPr>
            <a:spLocks noGrp="1"/>
          </p:cNvSpPr>
          <p:nvPr>
            <p:ph type="sldNum" sz="quarter" idx="10"/>
          </p:nvPr>
        </p:nvSpPr>
        <p:spPr/>
        <p:txBody>
          <a:bodyPr/>
          <a:lstStyle/>
          <a:p>
            <a:fld id="{B1356FBF-028C-F74E-A7B4-9B8ED246DD1B}" type="slidenum">
              <a:rPr lang="en-US" smtClean="0"/>
              <a:pPr/>
              <a:t>‹N°›</a:t>
            </a:fld>
            <a:endParaRPr lang="en-US"/>
          </a:p>
        </p:txBody>
      </p:sp>
      <p:sp>
        <p:nvSpPr>
          <p:cNvPr id="4" name="Footer Placeholder 3">
            <a:extLst>
              <a:ext uri="{FF2B5EF4-FFF2-40B4-BE49-F238E27FC236}">
                <a16:creationId xmlns:a16="http://schemas.microsoft.com/office/drawing/2014/main" id="{21F17F31-F4C0-C97A-C10B-6C9854C006B5}"/>
              </a:ext>
            </a:extLst>
          </p:cNvPr>
          <p:cNvSpPr>
            <a:spLocks noGrp="1"/>
          </p:cNvSpPr>
          <p:nvPr>
            <p:ph type="ftr" sz="quarter" idx="11"/>
          </p:nvPr>
        </p:nvSpPr>
        <p:spPr/>
        <p:txBody>
          <a:bodyPr/>
          <a:lstStyle/>
          <a:p>
            <a:r>
              <a:rPr lang="en-US"/>
              <a:t>Microsoft Fabric</a:t>
            </a:r>
          </a:p>
        </p:txBody>
      </p:sp>
    </p:spTree>
    <p:extLst>
      <p:ext uri="{BB962C8B-B14F-4D97-AF65-F5344CB8AC3E}">
        <p14:creationId xmlns:p14="http://schemas.microsoft.com/office/powerpoint/2010/main" val="42628201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ide bleu">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8BB39-B02C-47A0-B9F6-7E27D7FB182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468387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8BB39-B02C-47A0-B9F6-7E27D7FB182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3" name="Rectangle : avec coins arrondis en diagonale 2">
            <a:extLst>
              <a:ext uri="{FF2B5EF4-FFF2-40B4-BE49-F238E27FC236}">
                <a16:creationId xmlns:a16="http://schemas.microsoft.com/office/drawing/2014/main" id="{DBF2BE83-D906-4FAC-9FDE-06ECAD7B513E}"/>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Date Placeholder 3">
            <a:extLst>
              <a:ext uri="{FF2B5EF4-FFF2-40B4-BE49-F238E27FC236}">
                <a16:creationId xmlns:a16="http://schemas.microsoft.com/office/drawing/2014/main" id="{25DC1F87-4CA1-4BBA-A56C-5F8D7DA5B2D5}"/>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a:p>
        </p:txBody>
      </p:sp>
      <p:sp>
        <p:nvSpPr>
          <p:cNvPr id="6" name="Footer Placeholder 4">
            <a:extLst>
              <a:ext uri="{FF2B5EF4-FFF2-40B4-BE49-F238E27FC236}">
                <a16:creationId xmlns:a16="http://schemas.microsoft.com/office/drawing/2014/main" id="{3AF17787-38FF-4AFF-87A8-8B05C2F597CF}"/>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sp>
        <p:nvSpPr>
          <p:cNvPr id="7" name="Slide Number Placeholder 5">
            <a:extLst>
              <a:ext uri="{FF2B5EF4-FFF2-40B4-BE49-F238E27FC236}">
                <a16:creationId xmlns:a16="http://schemas.microsoft.com/office/drawing/2014/main" id="{CD7CD565-2B81-4F10-A9AC-92D6AB21ABEA}"/>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9" name="Image 8">
            <a:extLst>
              <a:ext uri="{FF2B5EF4-FFF2-40B4-BE49-F238E27FC236}">
                <a16:creationId xmlns:a16="http://schemas.microsoft.com/office/drawing/2014/main" id="{E50D7210-FAB3-46D0-B1DE-47ED72F346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0" name="Title 1">
            <a:extLst>
              <a:ext uri="{FF2B5EF4-FFF2-40B4-BE49-F238E27FC236}">
                <a16:creationId xmlns:a16="http://schemas.microsoft.com/office/drawing/2014/main" id="{C28B5858-D4E9-4630-9E3D-815D40E59461}"/>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30685465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u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8BB39-B02C-47A0-B9F6-7E27D7FB182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3" name="Rectangle : avec coins arrondis en diagonale 2">
            <a:extLst>
              <a:ext uri="{FF2B5EF4-FFF2-40B4-BE49-F238E27FC236}">
                <a16:creationId xmlns:a16="http://schemas.microsoft.com/office/drawing/2014/main" id="{DBF2BE83-D906-4FAC-9FDE-06ECAD7B513E}"/>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Date Placeholder 3">
            <a:extLst>
              <a:ext uri="{FF2B5EF4-FFF2-40B4-BE49-F238E27FC236}">
                <a16:creationId xmlns:a16="http://schemas.microsoft.com/office/drawing/2014/main" id="{25DC1F87-4CA1-4BBA-A56C-5F8D7DA5B2D5}"/>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a:p>
        </p:txBody>
      </p:sp>
      <p:sp>
        <p:nvSpPr>
          <p:cNvPr id="6" name="Footer Placeholder 4">
            <a:extLst>
              <a:ext uri="{FF2B5EF4-FFF2-40B4-BE49-F238E27FC236}">
                <a16:creationId xmlns:a16="http://schemas.microsoft.com/office/drawing/2014/main" id="{3AF17787-38FF-4AFF-87A8-8B05C2F597CF}"/>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sp>
        <p:nvSpPr>
          <p:cNvPr id="7" name="Slide Number Placeholder 5">
            <a:extLst>
              <a:ext uri="{FF2B5EF4-FFF2-40B4-BE49-F238E27FC236}">
                <a16:creationId xmlns:a16="http://schemas.microsoft.com/office/drawing/2014/main" id="{CD7CD565-2B81-4F10-A9AC-92D6AB21ABEA}"/>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9" name="Image 8">
            <a:extLst>
              <a:ext uri="{FF2B5EF4-FFF2-40B4-BE49-F238E27FC236}">
                <a16:creationId xmlns:a16="http://schemas.microsoft.com/office/drawing/2014/main" id="{E50D7210-FAB3-46D0-B1DE-47ED72F346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0" name="Title 1">
            <a:extLst>
              <a:ext uri="{FF2B5EF4-FFF2-40B4-BE49-F238E27FC236}">
                <a16:creationId xmlns:a16="http://schemas.microsoft.com/office/drawing/2014/main" id="{C28B5858-D4E9-4630-9E3D-815D40E59461}"/>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1" name="Content Placeholder 2">
            <a:extLst>
              <a:ext uri="{FF2B5EF4-FFF2-40B4-BE49-F238E27FC236}">
                <a16:creationId xmlns:a16="http://schemas.microsoft.com/office/drawing/2014/main" id="{4CC91D36-B858-40DD-BEF2-4CB22C2A1F28}"/>
              </a:ext>
            </a:extLst>
          </p:cNvPr>
          <p:cNvSpPr>
            <a:spLocks noGrp="1"/>
          </p:cNvSpPr>
          <p:nvPr>
            <p:ph idx="1"/>
          </p:nvPr>
        </p:nvSpPr>
        <p:spPr>
          <a:xfrm>
            <a:off x="838200" y="1463040"/>
            <a:ext cx="10515600"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42602301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u avec encart logo">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pic>
        <p:nvPicPr>
          <p:cNvPr id="3" name="Image 2">
            <a:extLst>
              <a:ext uri="{FF2B5EF4-FFF2-40B4-BE49-F238E27FC236}">
                <a16:creationId xmlns:a16="http://schemas.microsoft.com/office/drawing/2014/main" id="{506019FE-1411-47C0-8F2F-B9FCBB122DEA}"/>
              </a:ext>
            </a:extLst>
          </p:cNvPr>
          <p:cNvPicPr>
            <a:picLocks noChangeAspect="1"/>
          </p:cNvPicPr>
          <p:nvPr userDrawn="1"/>
        </p:nvPicPr>
        <p:blipFill rotWithShape="1">
          <a:blip r:embed="rId2"/>
          <a:srcRect l="27659"/>
          <a:stretch/>
        </p:blipFill>
        <p:spPr>
          <a:xfrm>
            <a:off x="-3740" y="1821815"/>
            <a:ext cx="2743200" cy="3792041"/>
          </a:xfrm>
          <a:prstGeom prst="rect">
            <a:avLst/>
          </a:prstGeom>
        </p:spPr>
      </p:pic>
      <p:pic>
        <p:nvPicPr>
          <p:cNvPr id="30" name="Image 29">
            <a:extLst>
              <a:ext uri="{FF2B5EF4-FFF2-40B4-BE49-F238E27FC236}">
                <a16:creationId xmlns:a16="http://schemas.microsoft.com/office/drawing/2014/main" id="{9381C26B-2617-437E-AE26-7A8671DD0D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28" name="Content Placeholder 2">
            <a:extLst>
              <a:ext uri="{FF2B5EF4-FFF2-40B4-BE49-F238E27FC236}">
                <a16:creationId xmlns:a16="http://schemas.microsoft.com/office/drawing/2014/main" id="{1B257025-C419-4062-AD73-17B1168C7813}"/>
              </a:ext>
            </a:extLst>
          </p:cNvPr>
          <p:cNvSpPr>
            <a:spLocks noGrp="1"/>
          </p:cNvSpPr>
          <p:nvPr>
            <p:ph idx="1"/>
          </p:nvPr>
        </p:nvSpPr>
        <p:spPr>
          <a:xfrm>
            <a:off x="4211393" y="1821815"/>
            <a:ext cx="7142407" cy="3769519"/>
          </a:xfrm>
        </p:spPr>
        <p:txBody>
          <a:bodyPr anchor="ctr"/>
          <a:lstStyle>
            <a:lvl1pPr marL="457200" indent="-457200">
              <a:buFont typeface="Arial" panose="020B0604020202020204" pitchFamily="34" charset="0"/>
              <a:buChar char="•"/>
              <a:defRPr>
                <a:solidFill>
                  <a:schemeClr val="bg1"/>
                </a:solidFill>
              </a:defRPr>
            </a:lvl1pPr>
            <a:lvl2pPr marL="800100" indent="-34290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1" name="Title 1">
            <a:extLst>
              <a:ext uri="{FF2B5EF4-FFF2-40B4-BE49-F238E27FC236}">
                <a16:creationId xmlns:a16="http://schemas.microsoft.com/office/drawing/2014/main" id="{A9CD932F-9ED9-4B8D-9868-0703CDE7B523}"/>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pic>
        <p:nvPicPr>
          <p:cNvPr id="2" name="Image 1">
            <a:extLst>
              <a:ext uri="{FF2B5EF4-FFF2-40B4-BE49-F238E27FC236}">
                <a16:creationId xmlns:a16="http://schemas.microsoft.com/office/drawing/2014/main" id="{D11650CB-F9CF-427E-BE7E-0E1F5D9ED653}"/>
              </a:ext>
            </a:extLst>
          </p:cNvPr>
          <p:cNvPicPr>
            <a:picLocks noChangeAspect="1"/>
          </p:cNvPicPr>
          <p:nvPr userDrawn="1"/>
        </p:nvPicPr>
        <p:blipFill rotWithShape="1">
          <a:blip r:embed="rId4"/>
          <a:srcRect l="70949"/>
          <a:stretch/>
        </p:blipFill>
        <p:spPr>
          <a:xfrm>
            <a:off x="3176994" y="1810561"/>
            <a:ext cx="596865" cy="3773751"/>
          </a:xfrm>
          <a:prstGeom prst="rect">
            <a:avLst/>
          </a:prstGeom>
        </p:spPr>
      </p:pic>
      <p:sp>
        <p:nvSpPr>
          <p:cNvPr id="10" name="Espace réservé pour une image  9">
            <a:extLst>
              <a:ext uri="{FF2B5EF4-FFF2-40B4-BE49-F238E27FC236}">
                <a16:creationId xmlns:a16="http://schemas.microsoft.com/office/drawing/2014/main" id="{019A5687-3865-45F8-B1F7-A0D1FC66F088}"/>
              </a:ext>
            </a:extLst>
          </p:cNvPr>
          <p:cNvSpPr>
            <a:spLocks noGrp="1"/>
          </p:cNvSpPr>
          <p:nvPr>
            <p:ph type="pic" sz="quarter" idx="13"/>
          </p:nvPr>
        </p:nvSpPr>
        <p:spPr>
          <a:xfrm>
            <a:off x="170091" y="2847885"/>
            <a:ext cx="2395537" cy="1739900"/>
          </a:xfrm>
        </p:spPr>
        <p:txBody>
          <a:bodyPr/>
          <a:lstStyle/>
          <a:p>
            <a:endParaRPr lang="fr-FR"/>
          </a:p>
        </p:txBody>
      </p:sp>
    </p:spTree>
    <p:extLst>
      <p:ext uri="{BB962C8B-B14F-4D97-AF65-F5344CB8AC3E}">
        <p14:creationId xmlns:p14="http://schemas.microsoft.com/office/powerpoint/2010/main" val="4004216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eux contenus - 3">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1EB5549B-0E89-48FF-868F-5A9AB6A0EDE8}"/>
              </a:ext>
            </a:extLst>
          </p:cNvPr>
          <p:cNvSpPr>
            <a:spLocks noGrp="1"/>
          </p:cNvSpPr>
          <p:nvPr>
            <p:ph idx="15"/>
          </p:nvPr>
        </p:nvSpPr>
        <p:spPr>
          <a:xfrm>
            <a:off x="6184900" y="1463038"/>
            <a:ext cx="5168900"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2" name="Rectangle 1">
            <a:extLst>
              <a:ext uri="{FF2B5EF4-FFF2-40B4-BE49-F238E27FC236}">
                <a16:creationId xmlns:a16="http://schemas.microsoft.com/office/drawing/2014/main" id="{6FC8BB39-B02C-47A0-B9F6-7E27D7FB182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3" name="Rectangle : avec coins arrondis en diagonale 2">
            <a:extLst>
              <a:ext uri="{FF2B5EF4-FFF2-40B4-BE49-F238E27FC236}">
                <a16:creationId xmlns:a16="http://schemas.microsoft.com/office/drawing/2014/main" id="{DBF2BE83-D906-4FAC-9FDE-06ECAD7B513E}"/>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Date Placeholder 3">
            <a:extLst>
              <a:ext uri="{FF2B5EF4-FFF2-40B4-BE49-F238E27FC236}">
                <a16:creationId xmlns:a16="http://schemas.microsoft.com/office/drawing/2014/main" id="{25DC1F87-4CA1-4BBA-A56C-5F8D7DA5B2D5}"/>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a:p>
        </p:txBody>
      </p:sp>
      <p:sp>
        <p:nvSpPr>
          <p:cNvPr id="6" name="Footer Placeholder 4">
            <a:extLst>
              <a:ext uri="{FF2B5EF4-FFF2-40B4-BE49-F238E27FC236}">
                <a16:creationId xmlns:a16="http://schemas.microsoft.com/office/drawing/2014/main" id="{3AF17787-38FF-4AFF-87A8-8B05C2F597CF}"/>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sp>
        <p:nvSpPr>
          <p:cNvPr id="7" name="Slide Number Placeholder 5">
            <a:extLst>
              <a:ext uri="{FF2B5EF4-FFF2-40B4-BE49-F238E27FC236}">
                <a16:creationId xmlns:a16="http://schemas.microsoft.com/office/drawing/2014/main" id="{CD7CD565-2B81-4F10-A9AC-92D6AB21ABEA}"/>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9" name="Image 8">
            <a:extLst>
              <a:ext uri="{FF2B5EF4-FFF2-40B4-BE49-F238E27FC236}">
                <a16:creationId xmlns:a16="http://schemas.microsoft.com/office/drawing/2014/main" id="{E50D7210-FAB3-46D0-B1DE-47ED72F346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0" name="Title 1">
            <a:extLst>
              <a:ext uri="{FF2B5EF4-FFF2-40B4-BE49-F238E27FC236}">
                <a16:creationId xmlns:a16="http://schemas.microsoft.com/office/drawing/2014/main" id="{C28B5858-D4E9-4630-9E3D-815D40E59461}"/>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1" name="Content Placeholder 2">
            <a:extLst>
              <a:ext uri="{FF2B5EF4-FFF2-40B4-BE49-F238E27FC236}">
                <a16:creationId xmlns:a16="http://schemas.microsoft.com/office/drawing/2014/main" id="{4CC91D36-B858-40DD-BEF2-4CB22C2A1F28}"/>
              </a:ext>
            </a:extLst>
          </p:cNvPr>
          <p:cNvSpPr>
            <a:spLocks noGrp="1"/>
          </p:cNvSpPr>
          <p:nvPr>
            <p:ph idx="1"/>
          </p:nvPr>
        </p:nvSpPr>
        <p:spPr>
          <a:xfrm>
            <a:off x="838200" y="1463040"/>
            <a:ext cx="5168900"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5" name="Content Placeholder 2">
            <a:extLst>
              <a:ext uri="{FF2B5EF4-FFF2-40B4-BE49-F238E27FC236}">
                <a16:creationId xmlns:a16="http://schemas.microsoft.com/office/drawing/2014/main" id="{7E8AFF79-14C6-469D-8629-DC8748143510}"/>
              </a:ext>
            </a:extLst>
          </p:cNvPr>
          <p:cNvSpPr>
            <a:spLocks noGrp="1"/>
          </p:cNvSpPr>
          <p:nvPr>
            <p:ph idx="16"/>
          </p:nvPr>
        </p:nvSpPr>
        <p:spPr>
          <a:xfrm>
            <a:off x="6184900" y="1463038"/>
            <a:ext cx="5168900"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2446522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rois contenus - 3">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1EB5549B-0E89-48FF-868F-5A9AB6A0EDE8}"/>
              </a:ext>
            </a:extLst>
          </p:cNvPr>
          <p:cNvSpPr>
            <a:spLocks noGrp="1"/>
          </p:cNvSpPr>
          <p:nvPr>
            <p:ph idx="15"/>
          </p:nvPr>
        </p:nvSpPr>
        <p:spPr>
          <a:xfrm>
            <a:off x="6184900" y="1463038"/>
            <a:ext cx="5168900"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2" name="Rectangle 1">
            <a:extLst>
              <a:ext uri="{FF2B5EF4-FFF2-40B4-BE49-F238E27FC236}">
                <a16:creationId xmlns:a16="http://schemas.microsoft.com/office/drawing/2014/main" id="{6FC8BB39-B02C-47A0-B9F6-7E27D7FB182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3" name="Rectangle : avec coins arrondis en diagonale 2">
            <a:extLst>
              <a:ext uri="{FF2B5EF4-FFF2-40B4-BE49-F238E27FC236}">
                <a16:creationId xmlns:a16="http://schemas.microsoft.com/office/drawing/2014/main" id="{DBF2BE83-D906-4FAC-9FDE-06ECAD7B513E}"/>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Date Placeholder 3">
            <a:extLst>
              <a:ext uri="{FF2B5EF4-FFF2-40B4-BE49-F238E27FC236}">
                <a16:creationId xmlns:a16="http://schemas.microsoft.com/office/drawing/2014/main" id="{25DC1F87-4CA1-4BBA-A56C-5F8D7DA5B2D5}"/>
              </a:ext>
            </a:extLst>
          </p:cNvPr>
          <p:cNvSpPr>
            <a:spLocks noGrp="1"/>
          </p:cNvSpPr>
          <p:nvPr>
            <p:ph type="dt" sz="half" idx="10"/>
          </p:nvPr>
        </p:nvSpPr>
        <p:spPr>
          <a:xfrm>
            <a:off x="838200" y="6356350"/>
            <a:ext cx="2743200" cy="365125"/>
          </a:xfrm>
        </p:spPr>
        <p:txBody>
          <a:bodyPr/>
          <a:lstStyle>
            <a:lvl1pPr>
              <a:defRPr>
                <a:solidFill>
                  <a:schemeClr val="bg1"/>
                </a:solidFill>
              </a:defRPr>
            </a:lvl1pPr>
          </a:lstStyle>
          <a:p>
            <a:fld id="{2B8B315D-1A6B-4A62-AE3F-D0C0DFC1C7BF}" type="datetime1">
              <a:rPr lang="fr-FR" smtClean="0"/>
              <a:pPr/>
              <a:t>10/07/2025</a:t>
            </a:fld>
            <a:endParaRPr lang="fr-FR"/>
          </a:p>
        </p:txBody>
      </p:sp>
      <p:sp>
        <p:nvSpPr>
          <p:cNvPr id="6" name="Footer Placeholder 4">
            <a:extLst>
              <a:ext uri="{FF2B5EF4-FFF2-40B4-BE49-F238E27FC236}">
                <a16:creationId xmlns:a16="http://schemas.microsoft.com/office/drawing/2014/main" id="{3AF17787-38FF-4AFF-87A8-8B05C2F597CF}"/>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fr-FR" dirty="0"/>
          </a:p>
        </p:txBody>
      </p:sp>
      <p:sp>
        <p:nvSpPr>
          <p:cNvPr id="7" name="Slide Number Placeholder 5">
            <a:extLst>
              <a:ext uri="{FF2B5EF4-FFF2-40B4-BE49-F238E27FC236}">
                <a16:creationId xmlns:a16="http://schemas.microsoft.com/office/drawing/2014/main" id="{CD7CD565-2B81-4F10-A9AC-92D6AB21ABEA}"/>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9" name="Image 8">
            <a:extLst>
              <a:ext uri="{FF2B5EF4-FFF2-40B4-BE49-F238E27FC236}">
                <a16:creationId xmlns:a16="http://schemas.microsoft.com/office/drawing/2014/main" id="{E50D7210-FAB3-46D0-B1DE-47ED72F346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0" name="Title 1">
            <a:extLst>
              <a:ext uri="{FF2B5EF4-FFF2-40B4-BE49-F238E27FC236}">
                <a16:creationId xmlns:a16="http://schemas.microsoft.com/office/drawing/2014/main" id="{C28B5858-D4E9-4630-9E3D-815D40E59461}"/>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1" name="Content Placeholder 2">
            <a:extLst>
              <a:ext uri="{FF2B5EF4-FFF2-40B4-BE49-F238E27FC236}">
                <a16:creationId xmlns:a16="http://schemas.microsoft.com/office/drawing/2014/main" id="{4CC91D36-B858-40DD-BEF2-4CB22C2A1F28}"/>
              </a:ext>
            </a:extLst>
          </p:cNvPr>
          <p:cNvSpPr>
            <a:spLocks noGrp="1"/>
          </p:cNvSpPr>
          <p:nvPr>
            <p:ph idx="1"/>
          </p:nvPr>
        </p:nvSpPr>
        <p:spPr>
          <a:xfrm>
            <a:off x="838200" y="1463040"/>
            <a:ext cx="3396673"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3" name="Content Placeholder 2">
            <a:extLst>
              <a:ext uri="{FF2B5EF4-FFF2-40B4-BE49-F238E27FC236}">
                <a16:creationId xmlns:a16="http://schemas.microsoft.com/office/drawing/2014/main" id="{0C78B38E-B1C1-4EEF-B8E5-EAAC324ED3FF}"/>
              </a:ext>
            </a:extLst>
          </p:cNvPr>
          <p:cNvSpPr>
            <a:spLocks noGrp="1"/>
          </p:cNvSpPr>
          <p:nvPr>
            <p:ph idx="16"/>
          </p:nvPr>
        </p:nvSpPr>
        <p:spPr>
          <a:xfrm>
            <a:off x="7957127" y="1463038"/>
            <a:ext cx="3396673"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6" name="Content Placeholder 2">
            <a:extLst>
              <a:ext uri="{FF2B5EF4-FFF2-40B4-BE49-F238E27FC236}">
                <a16:creationId xmlns:a16="http://schemas.microsoft.com/office/drawing/2014/main" id="{1D8B8638-6C75-496C-A23C-B77A6C5BF7EE}"/>
              </a:ext>
            </a:extLst>
          </p:cNvPr>
          <p:cNvSpPr>
            <a:spLocks noGrp="1"/>
          </p:cNvSpPr>
          <p:nvPr>
            <p:ph idx="17"/>
          </p:nvPr>
        </p:nvSpPr>
        <p:spPr>
          <a:xfrm>
            <a:off x="4403106" y="1463038"/>
            <a:ext cx="3396673" cy="4727992"/>
          </a:xfrm>
        </p:spPr>
        <p:txBody>
          <a:bodyPr/>
          <a:lstStyle>
            <a:lvl1pPr marL="342900" indent="-342900">
              <a:buFont typeface="Arial" panose="020B0604020202020204" pitchFamily="34" charset="0"/>
              <a:buChar char="•"/>
              <a:defRPr>
                <a:solidFill>
                  <a:schemeClr val="bg1"/>
                </a:solidFill>
              </a:defRPr>
            </a:lvl1pPr>
            <a:lvl2pPr marL="742950" indent="-285750">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29552825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etit contenu - 1">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CFC2C8CC-B974-478D-97BE-5447EB3A193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951" r="14872"/>
          <a:stretch/>
        </p:blipFill>
        <p:spPr>
          <a:xfrm>
            <a:off x="-1" y="0"/>
            <a:ext cx="12191999" cy="6858000"/>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pic>
        <p:nvPicPr>
          <p:cNvPr id="14" name="Image 13">
            <a:extLst>
              <a:ext uri="{FF2B5EF4-FFF2-40B4-BE49-F238E27FC236}">
                <a16:creationId xmlns:a16="http://schemas.microsoft.com/office/drawing/2014/main" id="{8BD6FE51-8808-46F7-A8A9-2882457D4158}"/>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200" y="1448974"/>
            <a:ext cx="6298870" cy="3514913"/>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5" name="Image 14">
            <a:extLst>
              <a:ext uri="{FF2B5EF4-FFF2-40B4-BE49-F238E27FC236}">
                <a16:creationId xmlns:a16="http://schemas.microsoft.com/office/drawing/2014/main" id="{8CFEFE3B-07C0-481E-B385-C9E81095733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12" name="Title 1">
            <a:extLst>
              <a:ext uri="{FF2B5EF4-FFF2-40B4-BE49-F238E27FC236}">
                <a16:creationId xmlns:a16="http://schemas.microsoft.com/office/drawing/2014/main" id="{6FF469E6-5C5B-4983-B78F-FF4270005BEB}"/>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8029236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etit contenu - 2">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48F2AA07-1128-4010-9293-21E6A239F4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89"/>
          <a:stretch/>
        </p:blipFill>
        <p:spPr>
          <a:xfrm>
            <a:off x="0" y="-757"/>
            <a:ext cx="12192000" cy="6858757"/>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5" name="Image 14">
            <a:extLst>
              <a:ext uri="{FF2B5EF4-FFF2-40B4-BE49-F238E27FC236}">
                <a16:creationId xmlns:a16="http://schemas.microsoft.com/office/drawing/2014/main" id="{8CFEFE3B-07C0-481E-B385-C9E81095733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4" name="Image 13">
            <a:extLst>
              <a:ext uri="{FF2B5EF4-FFF2-40B4-BE49-F238E27FC236}">
                <a16:creationId xmlns:a16="http://schemas.microsoft.com/office/drawing/2014/main" id="{3A18D433-EF72-4B1A-9D76-82183243BCD5}"/>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2" name="Title 1">
            <a:extLst>
              <a:ext uri="{FF2B5EF4-FFF2-40B4-BE49-F238E27FC236}">
                <a16:creationId xmlns:a16="http://schemas.microsoft.com/office/drawing/2014/main" id="{A82ED958-96BE-429F-A37E-BB2BC7CA2F1F}"/>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86AEC39B-471F-442E-8C79-548D18379C09}"/>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40519525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etit contenu - 3">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5C3D9FF8-63EA-4C79-A292-52190B7AD19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3109" r="10713"/>
          <a:stretch/>
        </p:blipFill>
        <p:spPr>
          <a:xfrm flipH="1">
            <a:off x="-2" y="0"/>
            <a:ext cx="12192002" cy="6858002"/>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5" name="Image 14">
            <a:extLst>
              <a:ext uri="{FF2B5EF4-FFF2-40B4-BE49-F238E27FC236}">
                <a16:creationId xmlns:a16="http://schemas.microsoft.com/office/drawing/2014/main" id="{8CFEFE3B-07C0-481E-B385-C9E81095733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3" name="Image 12">
            <a:extLst>
              <a:ext uri="{FF2B5EF4-FFF2-40B4-BE49-F238E27FC236}">
                <a16:creationId xmlns:a16="http://schemas.microsoft.com/office/drawing/2014/main" id="{EEC9A2E4-CB60-41E5-B13A-2C7C6DEF57E4}"/>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2" name="Title 1">
            <a:extLst>
              <a:ext uri="{FF2B5EF4-FFF2-40B4-BE49-F238E27FC236}">
                <a16:creationId xmlns:a16="http://schemas.microsoft.com/office/drawing/2014/main" id="{CCBF22EC-9A3A-45A2-B5E0-286DD72B536B}"/>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AFC74AF5-03E5-4E53-95A4-1461715CB4ED}"/>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9703692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etit contenu - 4">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9A753D29-1127-4334-98E3-4A135C6175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 t="2932" b="12898"/>
          <a:stretch/>
        </p:blipFill>
        <p:spPr>
          <a:xfrm>
            <a:off x="0" y="-1"/>
            <a:ext cx="12192000" cy="6858001"/>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5" name="Image 14">
            <a:extLst>
              <a:ext uri="{FF2B5EF4-FFF2-40B4-BE49-F238E27FC236}">
                <a16:creationId xmlns:a16="http://schemas.microsoft.com/office/drawing/2014/main" id="{8CFEFE3B-07C0-481E-B385-C9E81095733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4" name="Image 13">
            <a:extLst>
              <a:ext uri="{FF2B5EF4-FFF2-40B4-BE49-F238E27FC236}">
                <a16:creationId xmlns:a16="http://schemas.microsoft.com/office/drawing/2014/main" id="{B6B5FBC0-3672-4BED-93BA-C8D4B27680BB}"/>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3" name="Title 1">
            <a:extLst>
              <a:ext uri="{FF2B5EF4-FFF2-40B4-BE49-F238E27FC236}">
                <a16:creationId xmlns:a16="http://schemas.microsoft.com/office/drawing/2014/main" id="{D88C2F17-0C37-4A6C-82FA-3292CC9BB9F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4E902316-C20C-46B8-A13B-68752A8B0CDC}"/>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8438705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etit contenu - 5">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05A1B17B-89B5-4AD7-AA45-9DDA1692FA2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87" t="3152" r="10970" b="23611"/>
          <a:stretch/>
        </p:blipFill>
        <p:spPr>
          <a:xfrm>
            <a:off x="-1" y="-1"/>
            <a:ext cx="12192001" cy="6858001"/>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5" name="Image 14">
            <a:extLst>
              <a:ext uri="{FF2B5EF4-FFF2-40B4-BE49-F238E27FC236}">
                <a16:creationId xmlns:a16="http://schemas.microsoft.com/office/drawing/2014/main" id="{8CFEFE3B-07C0-481E-B385-C9E81095733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4" name="Image 13">
            <a:extLst>
              <a:ext uri="{FF2B5EF4-FFF2-40B4-BE49-F238E27FC236}">
                <a16:creationId xmlns:a16="http://schemas.microsoft.com/office/drawing/2014/main" id="{BCE0926F-D80D-41DA-B9B3-0309F5EAAEC4}"/>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2" name="Title 1">
            <a:extLst>
              <a:ext uri="{FF2B5EF4-FFF2-40B4-BE49-F238E27FC236}">
                <a16:creationId xmlns:a16="http://schemas.microsoft.com/office/drawing/2014/main" id="{55A18E13-2602-4504-ADAD-EA1230D9DB9C}"/>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C819BDDB-F231-4E22-89D3-5B86F74AAC72}"/>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25947051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etit contenu - 6">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6868AA68-DD9F-4AE8-AD7B-C81145FAA92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278" t="5628" r="7784" b="21222"/>
          <a:stretch/>
        </p:blipFill>
        <p:spPr>
          <a:xfrm>
            <a:off x="1" y="20741"/>
            <a:ext cx="12192000" cy="6837260"/>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4" name="Image 13">
            <a:extLst>
              <a:ext uri="{FF2B5EF4-FFF2-40B4-BE49-F238E27FC236}">
                <a16:creationId xmlns:a16="http://schemas.microsoft.com/office/drawing/2014/main" id="{2A27B16A-36CE-49BD-A397-440816C4A4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5" name="Image 14">
            <a:extLst>
              <a:ext uri="{FF2B5EF4-FFF2-40B4-BE49-F238E27FC236}">
                <a16:creationId xmlns:a16="http://schemas.microsoft.com/office/drawing/2014/main" id="{98B8C1F4-B76A-4415-AAB6-60BEF7B4A514}"/>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3" name="Title 1">
            <a:extLst>
              <a:ext uri="{FF2B5EF4-FFF2-40B4-BE49-F238E27FC236}">
                <a16:creationId xmlns:a16="http://schemas.microsoft.com/office/drawing/2014/main" id="{E9DA33F8-E3CE-4E02-A129-D01C2D7B4A0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406E3C43-6032-478F-AB47-145C485AF7FE}"/>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13932228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etit contenu - 7">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06393C9A-6BD0-4356-9790-000E0424B1D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904" t="19187" b="17530"/>
          <a:stretch/>
        </p:blipFill>
        <p:spPr>
          <a:xfrm flipH="1">
            <a:off x="0" y="0"/>
            <a:ext cx="12192000" cy="6858000"/>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BE5FAA0B-8466-449E-903F-27EC043EFFE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5" name="Image 14">
            <a:extLst>
              <a:ext uri="{FF2B5EF4-FFF2-40B4-BE49-F238E27FC236}">
                <a16:creationId xmlns:a16="http://schemas.microsoft.com/office/drawing/2014/main" id="{500A5B4C-7DCD-4649-B84E-1B1D3813EE2F}"/>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4" name="Title 1">
            <a:extLst>
              <a:ext uri="{FF2B5EF4-FFF2-40B4-BE49-F238E27FC236}">
                <a16:creationId xmlns:a16="http://schemas.microsoft.com/office/drawing/2014/main" id="{729E4DDB-8767-4F2B-B66E-CE33476A3D29}"/>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60499CAE-688B-4863-91F8-D1A3AB6A89E2}"/>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12081836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etit contenu - 8">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0D1ADC72-5D4D-4669-966A-1F6F97B690E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4" t="8237" r="22295" b="26232"/>
          <a:stretch/>
        </p:blipFill>
        <p:spPr>
          <a:xfrm>
            <a:off x="-14820" y="0"/>
            <a:ext cx="12206820" cy="6858000"/>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4" name="Image 13">
            <a:extLst>
              <a:ext uri="{FF2B5EF4-FFF2-40B4-BE49-F238E27FC236}">
                <a16:creationId xmlns:a16="http://schemas.microsoft.com/office/drawing/2014/main" id="{D67853FD-7024-424B-9703-5F13304E263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5" name="Image 14">
            <a:extLst>
              <a:ext uri="{FF2B5EF4-FFF2-40B4-BE49-F238E27FC236}">
                <a16:creationId xmlns:a16="http://schemas.microsoft.com/office/drawing/2014/main" id="{11B30256-8C12-4FE8-9F42-003DBC6BFF1E}"/>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3" name="Title 1">
            <a:extLst>
              <a:ext uri="{FF2B5EF4-FFF2-40B4-BE49-F238E27FC236}">
                <a16:creationId xmlns:a16="http://schemas.microsoft.com/office/drawing/2014/main" id="{86781B8C-3858-4C9A-ACD5-FF4A9996D572}"/>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E7C83239-C3FA-4C03-BE98-D4BDF6DEE921}"/>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13917160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etit contenu - 9">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4D1F6B00-336F-4343-AA24-9059F18535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8" b="12967"/>
          <a:stretch/>
        </p:blipFill>
        <p:spPr>
          <a:xfrm>
            <a:off x="0" y="0"/>
            <a:ext cx="12192000" cy="6858000"/>
          </a:xfrm>
          <a:prstGeom prst="rect">
            <a:avLst/>
          </a:prstGeom>
        </p:spPr>
      </p:pic>
      <p:pic>
        <p:nvPicPr>
          <p:cNvPr id="8" name="Image 7">
            <a:extLst>
              <a:ext uri="{FF2B5EF4-FFF2-40B4-BE49-F238E27FC236}">
                <a16:creationId xmlns:a16="http://schemas.microsoft.com/office/drawing/2014/main" id="{885B401F-17DA-488F-8A87-C23EE4DEC58C}"/>
              </a:ext>
            </a:extLst>
          </p:cNvPr>
          <p:cNvPicPr>
            <a:picLocks noChangeAspect="1"/>
          </p:cNvPicPr>
          <p:nvPr userDrawn="1"/>
        </p:nvPicPr>
        <p:blipFill rotWithShape="1">
          <a:blip r:embed="rId3"/>
          <a:srcRect t="29725"/>
          <a:stretch/>
        </p:blipFill>
        <p:spPr>
          <a:xfrm>
            <a:off x="0" y="0"/>
            <a:ext cx="7576457" cy="532084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5" name="Image 14">
            <a:extLst>
              <a:ext uri="{FF2B5EF4-FFF2-40B4-BE49-F238E27FC236}">
                <a16:creationId xmlns:a16="http://schemas.microsoft.com/office/drawing/2014/main" id="{24919E74-19B9-420E-9675-D7C938EFFA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4" name="Image 13">
            <a:extLst>
              <a:ext uri="{FF2B5EF4-FFF2-40B4-BE49-F238E27FC236}">
                <a16:creationId xmlns:a16="http://schemas.microsoft.com/office/drawing/2014/main" id="{EA93EF1E-A964-483C-8E20-A03C2E07F05D}"/>
              </a:ext>
            </a:extLst>
          </p:cNvPr>
          <p:cNvPicPr>
            <a:picLocks noChangeAspect="1"/>
          </p:cNvPicPr>
          <p:nvPr userDrawn="1"/>
        </p:nvPicPr>
        <p:blipFill rotWithShape="1">
          <a:blip r:embed="rId5"/>
          <a:srcRect t="66056"/>
          <a:stretch/>
        </p:blipFill>
        <p:spPr>
          <a:xfrm>
            <a:off x="351321" y="-1"/>
            <a:ext cx="11840679" cy="1149355"/>
          </a:xfrm>
          <a:prstGeom prst="rect">
            <a:avLst/>
          </a:prstGeom>
        </p:spPr>
      </p:pic>
      <p:sp>
        <p:nvSpPr>
          <p:cNvPr id="13" name="Title 1">
            <a:extLst>
              <a:ext uri="{FF2B5EF4-FFF2-40B4-BE49-F238E27FC236}">
                <a16:creationId xmlns:a16="http://schemas.microsoft.com/office/drawing/2014/main" id="{2E0557CD-926A-47AC-A72A-37C03614444E}"/>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1BDD21AE-0A86-49CC-8669-7074E5D12B06}"/>
              </a:ext>
            </a:extLst>
          </p:cNvPr>
          <p:cNvSpPr>
            <a:spLocks noGrp="1"/>
          </p:cNvSpPr>
          <p:nvPr>
            <p:ph idx="1"/>
          </p:nvPr>
        </p:nvSpPr>
        <p:spPr>
          <a:xfrm>
            <a:off x="838200" y="1448974"/>
            <a:ext cx="6298870" cy="3514913"/>
          </a:xfrm>
        </p:spPr>
        <p:txBody>
          <a:bodyPr/>
          <a:lstStyle>
            <a:lvl1pPr marL="228600" indent="-228600">
              <a:buFontTx/>
              <a:buBlip>
                <a:blip r:embed="rId6"/>
              </a:buBlip>
              <a:defRPr/>
            </a:lvl1pPr>
            <a:lvl2pPr marL="685800" indent="-228600">
              <a:buFontTx/>
              <a:buBlip>
                <a:blip r:embed="rId7"/>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4665701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u et image droite - 1">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1DEA7531-A434-4664-8E1C-B98F51E62DE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0780" t="4134" r="5260" b="3934"/>
          <a:stretch/>
        </p:blipFill>
        <p:spPr>
          <a:xfrm>
            <a:off x="8073190" y="1812509"/>
            <a:ext cx="3200400" cy="306597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838199" y="1448972"/>
            <a:ext cx="6781801" cy="4727991"/>
          </a:xfrm>
        </p:spPr>
        <p:txBody>
          <a:bodyPr/>
          <a:lstStyle>
            <a:lvl1pPr marL="228600" indent="-228600">
              <a:buFontTx/>
              <a:buBlip>
                <a:blip r:embed="rId3"/>
              </a:buBlip>
              <a:defRPr/>
            </a:lvl1pPr>
            <a:lvl2pPr marL="685800" indent="-228600">
              <a:buFontTx/>
              <a:buBlip>
                <a:blip r:embed="rId4"/>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Rectangle : avec coins arrondis en diagonale 9">
            <a:extLst>
              <a:ext uri="{FF2B5EF4-FFF2-40B4-BE49-F238E27FC236}">
                <a16:creationId xmlns:a16="http://schemas.microsoft.com/office/drawing/2014/main" id="{89C160C5-7CEC-4168-91D3-531F8AD9E93D}"/>
              </a:ext>
            </a:extLst>
          </p:cNvPr>
          <p:cNvSpPr/>
          <p:nvPr userDrawn="1"/>
        </p:nvSpPr>
        <p:spPr>
          <a:xfrm>
            <a:off x="7928429" y="1601956"/>
            <a:ext cx="3500665" cy="3500665"/>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avec coins arrondis en diagonale 17">
            <a:extLst>
              <a:ext uri="{FF2B5EF4-FFF2-40B4-BE49-F238E27FC236}">
                <a16:creationId xmlns:a16="http://schemas.microsoft.com/office/drawing/2014/main" id="{58BBED9E-AB85-4550-9CF1-2243C2DEEA25}"/>
              </a:ext>
            </a:extLst>
          </p:cNvPr>
          <p:cNvSpPr/>
          <p:nvPr userDrawn="1"/>
        </p:nvSpPr>
        <p:spPr>
          <a:xfrm rot="5400000">
            <a:off x="10831804" y="4425275"/>
            <a:ext cx="781190" cy="781190"/>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avec coins arrondis en diagonale 18">
            <a:extLst>
              <a:ext uri="{FF2B5EF4-FFF2-40B4-BE49-F238E27FC236}">
                <a16:creationId xmlns:a16="http://schemas.microsoft.com/office/drawing/2014/main" id="{D44A8173-4049-495D-89DA-29CE9B6A4776}"/>
              </a:ext>
            </a:extLst>
          </p:cNvPr>
          <p:cNvSpPr/>
          <p:nvPr userDrawn="1"/>
        </p:nvSpPr>
        <p:spPr>
          <a:xfrm>
            <a:off x="8207730" y="4982328"/>
            <a:ext cx="1494614" cy="1494614"/>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Image 15">
            <a:extLst>
              <a:ext uri="{FF2B5EF4-FFF2-40B4-BE49-F238E27FC236}">
                <a16:creationId xmlns:a16="http://schemas.microsoft.com/office/drawing/2014/main" id="{78FDF291-ECFF-4DBC-8B76-D855AFF8A19F}"/>
              </a:ext>
            </a:extLst>
          </p:cNvPr>
          <p:cNvPicPr>
            <a:picLocks noChangeAspect="1"/>
          </p:cNvPicPr>
          <p:nvPr userDrawn="1"/>
        </p:nvPicPr>
        <p:blipFill rotWithShape="1">
          <a:blip r:embed="rId6"/>
          <a:srcRect t="66056"/>
          <a:stretch/>
        </p:blipFill>
        <p:spPr>
          <a:xfrm>
            <a:off x="351321" y="-1"/>
            <a:ext cx="11840679" cy="1149355"/>
          </a:xfrm>
          <a:prstGeom prst="rect">
            <a:avLst/>
          </a:prstGeom>
        </p:spPr>
      </p:pic>
      <p:sp>
        <p:nvSpPr>
          <p:cNvPr id="15" name="Title 1">
            <a:extLst>
              <a:ext uri="{FF2B5EF4-FFF2-40B4-BE49-F238E27FC236}">
                <a16:creationId xmlns:a16="http://schemas.microsoft.com/office/drawing/2014/main" id="{E2AA36DF-C292-401C-93E6-7AC5BA9C6641}"/>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2373224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u et image droite - 2">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97DD0901-F6CF-48A6-83DD-112F84E916D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1700" t="13797" r="10970" b="31471"/>
          <a:stretch/>
        </p:blipFill>
        <p:spPr>
          <a:xfrm>
            <a:off x="8137358" y="1860635"/>
            <a:ext cx="3102330" cy="3033892"/>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Rectangle : avec coins arrondis en diagonale 9">
            <a:extLst>
              <a:ext uri="{FF2B5EF4-FFF2-40B4-BE49-F238E27FC236}">
                <a16:creationId xmlns:a16="http://schemas.microsoft.com/office/drawing/2014/main" id="{89C160C5-7CEC-4168-91D3-531F8AD9E93D}"/>
              </a:ext>
            </a:extLst>
          </p:cNvPr>
          <p:cNvSpPr/>
          <p:nvPr userDrawn="1"/>
        </p:nvSpPr>
        <p:spPr>
          <a:xfrm>
            <a:off x="7928429" y="1601956"/>
            <a:ext cx="3500665" cy="3500665"/>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avec coins arrondis en diagonale 17">
            <a:extLst>
              <a:ext uri="{FF2B5EF4-FFF2-40B4-BE49-F238E27FC236}">
                <a16:creationId xmlns:a16="http://schemas.microsoft.com/office/drawing/2014/main" id="{58BBED9E-AB85-4550-9CF1-2243C2DEEA25}"/>
              </a:ext>
            </a:extLst>
          </p:cNvPr>
          <p:cNvSpPr/>
          <p:nvPr userDrawn="1"/>
        </p:nvSpPr>
        <p:spPr>
          <a:xfrm rot="5400000">
            <a:off x="10831804" y="4425275"/>
            <a:ext cx="781190" cy="781190"/>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avec coins arrondis en diagonale 18">
            <a:extLst>
              <a:ext uri="{FF2B5EF4-FFF2-40B4-BE49-F238E27FC236}">
                <a16:creationId xmlns:a16="http://schemas.microsoft.com/office/drawing/2014/main" id="{D44A8173-4049-495D-89DA-29CE9B6A4776}"/>
              </a:ext>
            </a:extLst>
          </p:cNvPr>
          <p:cNvSpPr/>
          <p:nvPr userDrawn="1"/>
        </p:nvSpPr>
        <p:spPr>
          <a:xfrm>
            <a:off x="8207730" y="4982328"/>
            <a:ext cx="1494614" cy="1494614"/>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Image 15">
            <a:extLst>
              <a:ext uri="{FF2B5EF4-FFF2-40B4-BE49-F238E27FC236}">
                <a16:creationId xmlns:a16="http://schemas.microsoft.com/office/drawing/2014/main" id="{669209EE-12EA-44B6-A1FD-2F4D811DC6E1}"/>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14" name="Title 1">
            <a:extLst>
              <a:ext uri="{FF2B5EF4-FFF2-40B4-BE49-F238E27FC236}">
                <a16:creationId xmlns:a16="http://schemas.microsoft.com/office/drawing/2014/main" id="{6D18B4B7-2858-43FC-B1AB-F3CC83079A7E}"/>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7" name="Content Placeholder 2">
            <a:extLst>
              <a:ext uri="{FF2B5EF4-FFF2-40B4-BE49-F238E27FC236}">
                <a16:creationId xmlns:a16="http://schemas.microsoft.com/office/drawing/2014/main" id="{98B6896F-D5CA-42E5-830F-02B0609EFBE0}"/>
              </a:ext>
            </a:extLst>
          </p:cNvPr>
          <p:cNvSpPr>
            <a:spLocks noGrp="1"/>
          </p:cNvSpPr>
          <p:nvPr>
            <p:ph idx="1"/>
          </p:nvPr>
        </p:nvSpPr>
        <p:spPr>
          <a:xfrm>
            <a:off x="838199" y="1448972"/>
            <a:ext cx="6781801" cy="4727991"/>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24603841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u et image droite - 3">
    <p:spTree>
      <p:nvGrpSpPr>
        <p:cNvPr id="1" name=""/>
        <p:cNvGrpSpPr/>
        <p:nvPr/>
      </p:nvGrpSpPr>
      <p:grpSpPr>
        <a:xfrm>
          <a:off x="0" y="0"/>
          <a:ext cx="0" cy="0"/>
          <a:chOff x="0" y="0"/>
          <a:chExt cx="0" cy="0"/>
        </a:xfrm>
      </p:grpSpPr>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grpSp>
        <p:nvGrpSpPr>
          <p:cNvPr id="8" name="Groupe 7">
            <a:extLst>
              <a:ext uri="{FF2B5EF4-FFF2-40B4-BE49-F238E27FC236}">
                <a16:creationId xmlns:a16="http://schemas.microsoft.com/office/drawing/2014/main" id="{CE1EDBF3-683D-403D-9665-1282EEAD802F}"/>
              </a:ext>
            </a:extLst>
          </p:cNvPr>
          <p:cNvGrpSpPr/>
          <p:nvPr userDrawn="1"/>
        </p:nvGrpSpPr>
        <p:grpSpPr>
          <a:xfrm>
            <a:off x="7928429" y="1601956"/>
            <a:ext cx="3500665" cy="3500665"/>
            <a:chOff x="7928429" y="1714500"/>
            <a:chExt cx="3500665" cy="3500665"/>
          </a:xfrm>
        </p:grpSpPr>
        <p:pic>
          <p:nvPicPr>
            <p:cNvPr id="15" name="Image 14">
              <a:extLst>
                <a:ext uri="{FF2B5EF4-FFF2-40B4-BE49-F238E27FC236}">
                  <a16:creationId xmlns:a16="http://schemas.microsoft.com/office/drawing/2014/main" id="{F64F5455-3013-43F2-A4FD-9100E0767350}"/>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4600" t="18859" r="22841" b="5910"/>
            <a:stretch/>
          </p:blipFill>
          <p:spPr>
            <a:xfrm>
              <a:off x="8066637" y="1933303"/>
              <a:ext cx="3200400" cy="3057725"/>
            </a:xfrm>
            <a:prstGeom prst="rect">
              <a:avLst/>
            </a:prstGeom>
          </p:spPr>
        </p:pic>
        <p:sp>
          <p:nvSpPr>
            <p:cNvPr id="10" name="Rectangle : avec coins arrondis en diagonale 9">
              <a:extLst>
                <a:ext uri="{FF2B5EF4-FFF2-40B4-BE49-F238E27FC236}">
                  <a16:creationId xmlns:a16="http://schemas.microsoft.com/office/drawing/2014/main" id="{89C160C5-7CEC-4168-91D3-531F8AD9E93D}"/>
                </a:ext>
              </a:extLst>
            </p:cNvPr>
            <p:cNvSpPr/>
            <p:nvPr userDrawn="1"/>
          </p:nvSpPr>
          <p:spPr>
            <a:xfrm>
              <a:off x="7928429" y="1714500"/>
              <a:ext cx="3500665" cy="3500665"/>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8" name="Rectangle : avec coins arrondis en diagonale 17">
            <a:extLst>
              <a:ext uri="{FF2B5EF4-FFF2-40B4-BE49-F238E27FC236}">
                <a16:creationId xmlns:a16="http://schemas.microsoft.com/office/drawing/2014/main" id="{58BBED9E-AB85-4550-9CF1-2243C2DEEA25}"/>
              </a:ext>
            </a:extLst>
          </p:cNvPr>
          <p:cNvSpPr/>
          <p:nvPr userDrawn="1"/>
        </p:nvSpPr>
        <p:spPr>
          <a:xfrm rot="5400000">
            <a:off x="10831804" y="4425275"/>
            <a:ext cx="781190" cy="781190"/>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avec coins arrondis en diagonale 18">
            <a:extLst>
              <a:ext uri="{FF2B5EF4-FFF2-40B4-BE49-F238E27FC236}">
                <a16:creationId xmlns:a16="http://schemas.microsoft.com/office/drawing/2014/main" id="{D44A8173-4049-495D-89DA-29CE9B6A4776}"/>
              </a:ext>
            </a:extLst>
          </p:cNvPr>
          <p:cNvSpPr/>
          <p:nvPr userDrawn="1"/>
        </p:nvSpPr>
        <p:spPr>
          <a:xfrm>
            <a:off x="8207730" y="4982328"/>
            <a:ext cx="1494614" cy="1494614"/>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Image 16">
            <a:extLst>
              <a:ext uri="{FF2B5EF4-FFF2-40B4-BE49-F238E27FC236}">
                <a16:creationId xmlns:a16="http://schemas.microsoft.com/office/drawing/2014/main" id="{52ADC13C-B56A-4484-8C94-AE383BA8397F}"/>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16" name="Title 1">
            <a:extLst>
              <a:ext uri="{FF2B5EF4-FFF2-40B4-BE49-F238E27FC236}">
                <a16:creationId xmlns:a16="http://schemas.microsoft.com/office/drawing/2014/main" id="{D11861CD-204D-4447-872E-9D87BC2352BD}"/>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20" name="Content Placeholder 2">
            <a:extLst>
              <a:ext uri="{FF2B5EF4-FFF2-40B4-BE49-F238E27FC236}">
                <a16:creationId xmlns:a16="http://schemas.microsoft.com/office/drawing/2014/main" id="{447CFBB5-82D9-4D81-9D93-64248237B057}"/>
              </a:ext>
            </a:extLst>
          </p:cNvPr>
          <p:cNvSpPr>
            <a:spLocks noGrp="1"/>
          </p:cNvSpPr>
          <p:nvPr>
            <p:ph idx="1"/>
          </p:nvPr>
        </p:nvSpPr>
        <p:spPr>
          <a:xfrm>
            <a:off x="838199" y="1448972"/>
            <a:ext cx="6781801" cy="4727991"/>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5585749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u et image droite - 4">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354D106E-9CFD-472F-9C75-EF793049304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2660" t="10730" r="7047" b="14076"/>
          <a:stretch/>
        </p:blipFill>
        <p:spPr>
          <a:xfrm>
            <a:off x="8165432" y="1824543"/>
            <a:ext cx="3072064" cy="3063521"/>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Rectangle : avec coins arrondis en diagonale 9">
            <a:extLst>
              <a:ext uri="{FF2B5EF4-FFF2-40B4-BE49-F238E27FC236}">
                <a16:creationId xmlns:a16="http://schemas.microsoft.com/office/drawing/2014/main" id="{89C160C5-7CEC-4168-91D3-531F8AD9E93D}"/>
              </a:ext>
            </a:extLst>
          </p:cNvPr>
          <p:cNvSpPr/>
          <p:nvPr userDrawn="1"/>
        </p:nvSpPr>
        <p:spPr>
          <a:xfrm>
            <a:off x="7928429" y="1601956"/>
            <a:ext cx="3500665" cy="3500665"/>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avec coins arrondis en diagonale 17">
            <a:extLst>
              <a:ext uri="{FF2B5EF4-FFF2-40B4-BE49-F238E27FC236}">
                <a16:creationId xmlns:a16="http://schemas.microsoft.com/office/drawing/2014/main" id="{58BBED9E-AB85-4550-9CF1-2243C2DEEA25}"/>
              </a:ext>
            </a:extLst>
          </p:cNvPr>
          <p:cNvSpPr/>
          <p:nvPr userDrawn="1"/>
        </p:nvSpPr>
        <p:spPr>
          <a:xfrm rot="5400000">
            <a:off x="10831804" y="4425275"/>
            <a:ext cx="781190" cy="781190"/>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avec coins arrondis en diagonale 19">
            <a:extLst>
              <a:ext uri="{FF2B5EF4-FFF2-40B4-BE49-F238E27FC236}">
                <a16:creationId xmlns:a16="http://schemas.microsoft.com/office/drawing/2014/main" id="{54D53844-005C-4A8B-AE9E-95A473DE6839}"/>
              </a:ext>
            </a:extLst>
          </p:cNvPr>
          <p:cNvSpPr/>
          <p:nvPr userDrawn="1"/>
        </p:nvSpPr>
        <p:spPr>
          <a:xfrm>
            <a:off x="8207730" y="4982328"/>
            <a:ext cx="1494614" cy="1494614"/>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Image 15">
            <a:extLst>
              <a:ext uri="{FF2B5EF4-FFF2-40B4-BE49-F238E27FC236}">
                <a16:creationId xmlns:a16="http://schemas.microsoft.com/office/drawing/2014/main" id="{8E9BE9EB-F5AD-43F6-805B-BBA97AB2A5D6}"/>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15" name="Title 1">
            <a:extLst>
              <a:ext uri="{FF2B5EF4-FFF2-40B4-BE49-F238E27FC236}">
                <a16:creationId xmlns:a16="http://schemas.microsoft.com/office/drawing/2014/main" id="{19217829-4BCB-48BE-9A6A-FADDA7075825}"/>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7" name="Content Placeholder 2">
            <a:extLst>
              <a:ext uri="{FF2B5EF4-FFF2-40B4-BE49-F238E27FC236}">
                <a16:creationId xmlns:a16="http://schemas.microsoft.com/office/drawing/2014/main" id="{DFF746AA-F87B-4061-BB91-08B77885A8F3}"/>
              </a:ext>
            </a:extLst>
          </p:cNvPr>
          <p:cNvSpPr>
            <a:spLocks noGrp="1"/>
          </p:cNvSpPr>
          <p:nvPr>
            <p:ph idx="1"/>
          </p:nvPr>
        </p:nvSpPr>
        <p:spPr>
          <a:xfrm>
            <a:off x="838199" y="1448972"/>
            <a:ext cx="6781801" cy="4727991"/>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5938897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u et image droite - 5">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C4C23486-3903-4DA1-8254-AC34F7E2E3B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3799" t="7605" r="17582" b="49484"/>
          <a:stretch/>
        </p:blipFill>
        <p:spPr>
          <a:xfrm>
            <a:off x="8112455" y="1811828"/>
            <a:ext cx="3200401" cy="3102300"/>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0" name="Rectangle : avec coins arrondis en diagonale 9">
            <a:extLst>
              <a:ext uri="{FF2B5EF4-FFF2-40B4-BE49-F238E27FC236}">
                <a16:creationId xmlns:a16="http://schemas.microsoft.com/office/drawing/2014/main" id="{89C160C5-7CEC-4168-91D3-531F8AD9E93D}"/>
              </a:ext>
            </a:extLst>
          </p:cNvPr>
          <p:cNvSpPr/>
          <p:nvPr userDrawn="1"/>
        </p:nvSpPr>
        <p:spPr>
          <a:xfrm>
            <a:off x="7928429" y="1615644"/>
            <a:ext cx="3500665" cy="3500665"/>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avec coins arrondis en diagonale 17">
            <a:extLst>
              <a:ext uri="{FF2B5EF4-FFF2-40B4-BE49-F238E27FC236}">
                <a16:creationId xmlns:a16="http://schemas.microsoft.com/office/drawing/2014/main" id="{58BBED9E-AB85-4550-9CF1-2243C2DEEA25}"/>
              </a:ext>
            </a:extLst>
          </p:cNvPr>
          <p:cNvSpPr/>
          <p:nvPr userDrawn="1"/>
        </p:nvSpPr>
        <p:spPr>
          <a:xfrm rot="5400000">
            <a:off x="10831804" y="4438963"/>
            <a:ext cx="781190" cy="781190"/>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1B42B7D9-2C72-415C-ABA0-EDD86AA2C614}"/>
              </a:ext>
            </a:extLst>
          </p:cNvPr>
          <p:cNvSpPr/>
          <p:nvPr userDrawn="1"/>
        </p:nvSpPr>
        <p:spPr>
          <a:xfrm>
            <a:off x="8207730" y="4996016"/>
            <a:ext cx="1494614" cy="1494614"/>
          </a:xfrm>
          <a:prstGeom prst="round2DiagRect">
            <a:avLst>
              <a:gd name="adj1" fmla="val 3048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Image 16">
            <a:extLst>
              <a:ext uri="{FF2B5EF4-FFF2-40B4-BE49-F238E27FC236}">
                <a16:creationId xmlns:a16="http://schemas.microsoft.com/office/drawing/2014/main" id="{146181F4-A34D-442F-85FA-B6E31E319D17}"/>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15" name="Title 1">
            <a:extLst>
              <a:ext uri="{FF2B5EF4-FFF2-40B4-BE49-F238E27FC236}">
                <a16:creationId xmlns:a16="http://schemas.microsoft.com/office/drawing/2014/main" id="{000B817C-D0DC-45EE-8032-27F5EA307769}"/>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9" name="Content Placeholder 2">
            <a:extLst>
              <a:ext uri="{FF2B5EF4-FFF2-40B4-BE49-F238E27FC236}">
                <a16:creationId xmlns:a16="http://schemas.microsoft.com/office/drawing/2014/main" id="{06303859-CBA7-4D7F-B3C7-832D83E0DCA8}"/>
              </a:ext>
            </a:extLst>
          </p:cNvPr>
          <p:cNvSpPr>
            <a:spLocks noGrp="1"/>
          </p:cNvSpPr>
          <p:nvPr>
            <p:ph idx="1"/>
          </p:nvPr>
        </p:nvSpPr>
        <p:spPr>
          <a:xfrm>
            <a:off x="838199" y="1448972"/>
            <a:ext cx="6781801" cy="4727991"/>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4142092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u et image gauche - 1">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2C9C00DB-9FAA-4F7F-86A1-D6875137BE10}"/>
              </a:ext>
            </a:extLst>
          </p:cNvPr>
          <p:cNvPicPr>
            <a:picLocks noChangeAspect="1"/>
          </p:cNvPicPr>
          <p:nvPr userDrawn="1"/>
        </p:nvPicPr>
        <p:blipFill rotWithShape="1">
          <a:blip r:embed="rId2"/>
          <a:srcRect l="56799" t="2475" r="2819" b="13732"/>
          <a:stretch/>
        </p:blipFill>
        <p:spPr>
          <a:xfrm>
            <a:off x="0" y="1392024"/>
            <a:ext cx="3274324" cy="546597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Content Placeholder 2"/>
          <p:cNvSpPr>
            <a:spLocks noGrp="1"/>
          </p:cNvSpPr>
          <p:nvPr>
            <p:ph idx="1"/>
          </p:nvPr>
        </p:nvSpPr>
        <p:spPr>
          <a:xfrm>
            <a:off x="3581399" y="1453809"/>
            <a:ext cx="7772399" cy="4784940"/>
          </a:xfrm>
        </p:spPr>
        <p:txBody>
          <a:bodyPr/>
          <a:lstStyle>
            <a:lvl1pPr marL="228600" indent="-228600">
              <a:buFontTx/>
              <a:buBlip>
                <a:blip r:embed="rId3"/>
              </a:buBlip>
              <a:defRPr/>
            </a:lvl1pPr>
            <a:lvl2pPr marL="685800" indent="-228600">
              <a:buFontTx/>
              <a:buBlip>
                <a:blip r:embed="rId4"/>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4" name="Image 13">
            <a:extLst>
              <a:ext uri="{FF2B5EF4-FFF2-40B4-BE49-F238E27FC236}">
                <a16:creationId xmlns:a16="http://schemas.microsoft.com/office/drawing/2014/main" id="{C6D3EA94-B5F0-40A7-8456-8E11947EC9E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5" name="Image 14">
            <a:extLst>
              <a:ext uri="{FF2B5EF4-FFF2-40B4-BE49-F238E27FC236}">
                <a16:creationId xmlns:a16="http://schemas.microsoft.com/office/drawing/2014/main" id="{DE931A53-38EF-4139-BBE9-74CED2AD2173}"/>
              </a:ext>
            </a:extLst>
          </p:cNvPr>
          <p:cNvPicPr>
            <a:picLocks noChangeAspect="1"/>
          </p:cNvPicPr>
          <p:nvPr userDrawn="1"/>
        </p:nvPicPr>
        <p:blipFill rotWithShape="1">
          <a:blip r:embed="rId6"/>
          <a:srcRect t="66056"/>
          <a:stretch/>
        </p:blipFill>
        <p:spPr>
          <a:xfrm>
            <a:off x="351321" y="-1"/>
            <a:ext cx="11840679" cy="1149355"/>
          </a:xfrm>
          <a:prstGeom prst="rect">
            <a:avLst/>
          </a:prstGeom>
        </p:spPr>
      </p:pic>
      <p:sp>
        <p:nvSpPr>
          <p:cNvPr id="12" name="Title 1">
            <a:extLst>
              <a:ext uri="{FF2B5EF4-FFF2-40B4-BE49-F238E27FC236}">
                <a16:creationId xmlns:a16="http://schemas.microsoft.com/office/drawing/2014/main" id="{4C3002C9-C8B2-4718-B05D-4C1525BC5A67}"/>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2521584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u et image gauche - 2">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A088AF6F-0921-41E9-B31D-8B77A0916256}"/>
              </a:ext>
            </a:extLst>
          </p:cNvPr>
          <p:cNvPicPr>
            <a:picLocks noChangeAspect="1"/>
          </p:cNvPicPr>
          <p:nvPr userDrawn="1"/>
        </p:nvPicPr>
        <p:blipFill rotWithShape="1">
          <a:blip r:embed="rId2"/>
          <a:srcRect l="12582" b="16048"/>
          <a:stretch/>
        </p:blipFill>
        <p:spPr>
          <a:xfrm>
            <a:off x="0" y="1367045"/>
            <a:ext cx="3590891" cy="54909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20" name="Image 19">
            <a:extLst>
              <a:ext uri="{FF2B5EF4-FFF2-40B4-BE49-F238E27FC236}">
                <a16:creationId xmlns:a16="http://schemas.microsoft.com/office/drawing/2014/main" id="{64EE550D-B485-4BB6-9071-B962FFCD1F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3" name="Image 12">
            <a:extLst>
              <a:ext uri="{FF2B5EF4-FFF2-40B4-BE49-F238E27FC236}">
                <a16:creationId xmlns:a16="http://schemas.microsoft.com/office/drawing/2014/main" id="{F4304FCB-28D0-4F61-9357-A5EB1CD69402}"/>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12" name="Title 1">
            <a:extLst>
              <a:ext uri="{FF2B5EF4-FFF2-40B4-BE49-F238E27FC236}">
                <a16:creationId xmlns:a16="http://schemas.microsoft.com/office/drawing/2014/main" id="{E5A4CEBD-967C-4517-8F49-FB3442945FF9}"/>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5" name="Content Placeholder 2">
            <a:extLst>
              <a:ext uri="{FF2B5EF4-FFF2-40B4-BE49-F238E27FC236}">
                <a16:creationId xmlns:a16="http://schemas.microsoft.com/office/drawing/2014/main" id="{F9E8D327-33F7-47EE-AD41-D4DCE5066196}"/>
              </a:ext>
            </a:extLst>
          </p:cNvPr>
          <p:cNvSpPr>
            <a:spLocks noGrp="1"/>
          </p:cNvSpPr>
          <p:nvPr>
            <p:ph idx="1"/>
          </p:nvPr>
        </p:nvSpPr>
        <p:spPr>
          <a:xfrm>
            <a:off x="3581399" y="1453809"/>
            <a:ext cx="7772399" cy="4784940"/>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162158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u et image gauche - 3">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18AC71EA-4692-47ED-87D8-455DABA2243A}"/>
              </a:ext>
            </a:extLst>
          </p:cNvPr>
          <p:cNvPicPr>
            <a:picLocks noChangeAspect="1"/>
          </p:cNvPicPr>
          <p:nvPr userDrawn="1"/>
        </p:nvPicPr>
        <p:blipFill rotWithShape="1">
          <a:blip r:embed="rId2"/>
          <a:srcRect l="13910" t="5744" r="9831" b="16492"/>
          <a:stretch/>
        </p:blipFill>
        <p:spPr>
          <a:xfrm>
            <a:off x="-1" y="1714500"/>
            <a:ext cx="3176715" cy="515801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14" name="Image 13">
            <a:extLst>
              <a:ext uri="{FF2B5EF4-FFF2-40B4-BE49-F238E27FC236}">
                <a16:creationId xmlns:a16="http://schemas.microsoft.com/office/drawing/2014/main" id="{1AC78175-95C9-4279-A1B2-C922EE9D67D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pic>
        <p:nvPicPr>
          <p:cNvPr id="13" name="Image 12">
            <a:extLst>
              <a:ext uri="{FF2B5EF4-FFF2-40B4-BE49-F238E27FC236}">
                <a16:creationId xmlns:a16="http://schemas.microsoft.com/office/drawing/2014/main" id="{BEDD493A-1EBB-44DD-BBC9-A321808DDB6B}"/>
              </a:ext>
            </a:extLst>
          </p:cNvPr>
          <p:cNvPicPr>
            <a:picLocks noChangeAspect="1"/>
          </p:cNvPicPr>
          <p:nvPr userDrawn="1"/>
        </p:nvPicPr>
        <p:blipFill rotWithShape="1">
          <a:blip r:embed="rId4"/>
          <a:srcRect t="66056"/>
          <a:stretch/>
        </p:blipFill>
        <p:spPr>
          <a:xfrm>
            <a:off x="351321" y="-1"/>
            <a:ext cx="11840679" cy="1149355"/>
          </a:xfrm>
          <a:prstGeom prst="rect">
            <a:avLst/>
          </a:prstGeom>
        </p:spPr>
      </p:pic>
      <p:sp>
        <p:nvSpPr>
          <p:cNvPr id="12" name="Title 1">
            <a:extLst>
              <a:ext uri="{FF2B5EF4-FFF2-40B4-BE49-F238E27FC236}">
                <a16:creationId xmlns:a16="http://schemas.microsoft.com/office/drawing/2014/main" id="{C6D02B3E-53B8-4D42-BB54-C244E6E3CB70}"/>
              </a:ext>
            </a:extLst>
          </p:cNvPr>
          <p:cNvSpPr>
            <a:spLocks noGrp="1"/>
          </p:cNvSpPr>
          <p:nvPr>
            <p:ph type="title" hasCustomPrompt="1"/>
          </p:nvPr>
        </p:nvSpPr>
        <p:spPr>
          <a:xfrm>
            <a:off x="838200" y="20742"/>
            <a:ext cx="10515600" cy="1104674"/>
          </a:xfrm>
        </p:spPr>
        <p:txBody>
          <a:bodyPr/>
          <a:lstStyle>
            <a:lvl1pPr>
              <a:defRPr>
                <a:solidFill>
                  <a:schemeClr val="bg1"/>
                </a:solidFill>
              </a:defRPr>
            </a:lvl1pPr>
          </a:lstStyle>
          <a:p>
            <a:r>
              <a:rPr lang="fr-FR" dirty="0"/>
              <a:t>Titre de la page</a:t>
            </a:r>
            <a:endParaRPr lang="en-US" dirty="0"/>
          </a:p>
        </p:txBody>
      </p:sp>
      <p:sp>
        <p:nvSpPr>
          <p:cNvPr id="16" name="Content Placeholder 2">
            <a:extLst>
              <a:ext uri="{FF2B5EF4-FFF2-40B4-BE49-F238E27FC236}">
                <a16:creationId xmlns:a16="http://schemas.microsoft.com/office/drawing/2014/main" id="{D467E916-7736-46F1-80D1-AB1622F8E7C7}"/>
              </a:ext>
            </a:extLst>
          </p:cNvPr>
          <p:cNvSpPr>
            <a:spLocks noGrp="1"/>
          </p:cNvSpPr>
          <p:nvPr>
            <p:ph idx="1"/>
          </p:nvPr>
        </p:nvSpPr>
        <p:spPr>
          <a:xfrm>
            <a:off x="3581399" y="1453809"/>
            <a:ext cx="7772399" cy="4784940"/>
          </a:xfrm>
        </p:spPr>
        <p:txBody>
          <a:bodyPr/>
          <a:lstStyle>
            <a:lvl1pPr marL="228600" indent="-228600">
              <a:buFontTx/>
              <a:buBlip>
                <a:blip r:embed="rId5"/>
              </a:buBlip>
              <a:defRPr/>
            </a:lvl1pPr>
            <a:lvl2pPr marL="685800" indent="-228600">
              <a:buFontTx/>
              <a:buBlip>
                <a:blip r:embed="rId6"/>
              </a:buBlip>
              <a:defRPr/>
            </a:lvl2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5073408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re de la présentati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C5FE29B-A3D7-4FDB-A699-563DD001430C}"/>
              </a:ext>
            </a:extLst>
          </p:cNvPr>
          <p:cNvSpPr/>
          <p:nvPr userDrawn="1"/>
        </p:nvSpPr>
        <p:spPr>
          <a:xfrm>
            <a:off x="0" y="0"/>
            <a:ext cx="12192000" cy="2133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14B9ABD7-94D1-4A98-99B3-203C85F01553}"/>
              </a:ext>
            </a:extLst>
          </p:cNvPr>
          <p:cNvSpPr/>
          <p:nvPr userDrawn="1"/>
        </p:nvSpPr>
        <p:spPr>
          <a:xfrm rot="5400000">
            <a:off x="4046473" y="-3826336"/>
            <a:ext cx="4099055" cy="12192002"/>
          </a:xfrm>
          <a:prstGeom prst="round2DiagRect">
            <a:avLst>
              <a:gd name="adj1" fmla="val 23958"/>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ctrTitle" hasCustomPrompt="1"/>
          </p:nvPr>
        </p:nvSpPr>
        <p:spPr>
          <a:xfrm>
            <a:off x="838200" y="4319193"/>
            <a:ext cx="10515600" cy="1149211"/>
          </a:xfrm>
        </p:spPr>
        <p:txBody>
          <a:bodyPr anchor="b">
            <a:normAutofit/>
          </a:bodyPr>
          <a:lstStyle>
            <a:lvl1pPr algn="ctr">
              <a:defRPr sz="4800">
                <a:latin typeface="+mj-lt"/>
              </a:defRPr>
            </a:lvl1pPr>
          </a:lstStyle>
          <a:p>
            <a:r>
              <a:rPr lang="fr-FR" dirty="0"/>
              <a:t>Titre de la présentation</a:t>
            </a:r>
            <a:endParaRPr lang="en-US" dirty="0"/>
          </a:p>
        </p:txBody>
      </p:sp>
      <p:sp>
        <p:nvSpPr>
          <p:cNvPr id="3" name="Subtitle 2"/>
          <p:cNvSpPr>
            <a:spLocks noGrp="1"/>
          </p:cNvSpPr>
          <p:nvPr>
            <p:ph type="subTitle" idx="1" hasCustomPrompt="1"/>
          </p:nvPr>
        </p:nvSpPr>
        <p:spPr>
          <a:xfrm>
            <a:off x="838199" y="5467340"/>
            <a:ext cx="10515599" cy="88901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présentation</a:t>
            </a:r>
            <a:endParaRPr lang="en-US" dirty="0"/>
          </a:p>
        </p:txBody>
      </p:sp>
      <p:sp>
        <p:nvSpPr>
          <p:cNvPr id="4" name="Date Placeholder 3"/>
          <p:cNvSpPr>
            <a:spLocks noGrp="1"/>
          </p:cNvSpPr>
          <p:nvPr>
            <p:ph type="dt" sz="half" idx="10"/>
          </p:nvPr>
        </p:nvSpPr>
        <p:spPr/>
        <p:txBody>
          <a:bodyPr/>
          <a:lstStyle/>
          <a:p>
            <a:fld id="{77EABCD4-8A67-4804-80CB-2DC22B54F27C}" type="datetime1">
              <a:rPr lang="fr-FR" smtClean="0"/>
              <a:t>10/07/2025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3DE39C-8A81-4508-8EC3-8C55B05C4E7E}" type="slidenum">
              <a:rPr lang="fr-FR" smtClean="0"/>
              <a:t>‹N°›</a:t>
            </a:fld>
            <a:endParaRPr lang="fr-FR"/>
          </a:p>
        </p:txBody>
      </p:sp>
      <p:pic>
        <p:nvPicPr>
          <p:cNvPr id="9" name="Image 8">
            <a:extLst>
              <a:ext uri="{FF2B5EF4-FFF2-40B4-BE49-F238E27FC236}">
                <a16:creationId xmlns:a16="http://schemas.microsoft.com/office/drawing/2014/main" id="{B016F367-151D-4D4E-8214-BE93B2BCED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49749" y="2892708"/>
            <a:ext cx="3492501" cy="914871"/>
          </a:xfrm>
          <a:prstGeom prst="rect">
            <a:avLst/>
          </a:prstGeom>
        </p:spPr>
      </p:pic>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07501" y="1524426"/>
            <a:ext cx="976994" cy="1005953"/>
          </a:xfrm>
          <a:prstGeom prst="rect">
            <a:avLst/>
          </a:prstGeom>
        </p:spPr>
      </p:pic>
      <p:pic>
        <p:nvPicPr>
          <p:cNvPr id="16" name="Graphique 15">
            <a:extLst>
              <a:ext uri="{FF2B5EF4-FFF2-40B4-BE49-F238E27FC236}">
                <a16:creationId xmlns:a16="http://schemas.microsoft.com/office/drawing/2014/main" id="{C47884EB-ACAA-4C86-9A79-D982E6B3ADD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532" y="140617"/>
            <a:ext cx="5334001" cy="676763"/>
          </a:xfrm>
          <a:prstGeom prst="rect">
            <a:avLst/>
          </a:prstGeom>
        </p:spPr>
      </p:pic>
    </p:spTree>
    <p:extLst>
      <p:ext uri="{BB962C8B-B14F-4D97-AF65-F5344CB8AC3E}">
        <p14:creationId xmlns:p14="http://schemas.microsoft.com/office/powerpoint/2010/main" val="30696954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BE33C521-75DA-4E82-A5C4-C6DF866380DA}"/>
              </a:ext>
            </a:extLst>
          </p:cNvPr>
          <p:cNvPicPr>
            <a:picLocks noChangeAspect="1"/>
          </p:cNvPicPr>
          <p:nvPr userDrawn="1"/>
        </p:nvPicPr>
        <p:blipFill rotWithShape="1">
          <a:blip r:embed="rId2"/>
          <a:srcRect l="5812" t="26141"/>
          <a:stretch/>
        </p:blipFill>
        <p:spPr>
          <a:xfrm>
            <a:off x="0" y="0"/>
            <a:ext cx="9652000" cy="6858000"/>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28" name="Content Placeholder 2">
            <a:extLst>
              <a:ext uri="{FF2B5EF4-FFF2-40B4-BE49-F238E27FC236}">
                <a16:creationId xmlns:a16="http://schemas.microsoft.com/office/drawing/2014/main" id="{1B257025-C419-4062-AD73-17B1168C7813}"/>
              </a:ext>
            </a:extLst>
          </p:cNvPr>
          <p:cNvSpPr>
            <a:spLocks noGrp="1"/>
          </p:cNvSpPr>
          <p:nvPr>
            <p:ph idx="1" hasCustomPrompt="1"/>
          </p:nvPr>
        </p:nvSpPr>
        <p:spPr>
          <a:xfrm>
            <a:off x="838201" y="1772533"/>
            <a:ext cx="5257800" cy="4057957"/>
          </a:xfrm>
        </p:spPr>
        <p:txBody>
          <a:bodyPr anchor="ctr"/>
          <a:lstStyle>
            <a:lvl1pPr marL="0" indent="0">
              <a:buFont typeface="Arial" panose="020B0604020202020204" pitchFamily="34" charset="0"/>
              <a:buNone/>
              <a:defRPr>
                <a:solidFill>
                  <a:schemeClr val="tx1"/>
                </a:solidFill>
                <a:latin typeface="+mj-lt"/>
              </a:defRPr>
            </a:lvl1pPr>
            <a:lvl2pPr marL="800100" indent="-342900">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a-DK" dirty="0"/>
              <a:t>Lorem ipsum dolor sit amet</a:t>
            </a:r>
            <a:endParaRPr lang="en-US" dirty="0"/>
          </a:p>
        </p:txBody>
      </p:sp>
      <p:pic>
        <p:nvPicPr>
          <p:cNvPr id="14" name="Image 13">
            <a:extLst>
              <a:ext uri="{FF2B5EF4-FFF2-40B4-BE49-F238E27FC236}">
                <a16:creationId xmlns:a16="http://schemas.microsoft.com/office/drawing/2014/main" id="{6C8804A4-FDCD-42C3-9CEC-D869EECDA2B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16" name="Content Placeholder 2">
            <a:extLst>
              <a:ext uri="{FF2B5EF4-FFF2-40B4-BE49-F238E27FC236}">
                <a16:creationId xmlns:a16="http://schemas.microsoft.com/office/drawing/2014/main" id="{9CC6AB17-9DCF-45D3-B3CB-6ABDDD511998}"/>
              </a:ext>
            </a:extLst>
          </p:cNvPr>
          <p:cNvSpPr>
            <a:spLocks noGrp="1"/>
          </p:cNvSpPr>
          <p:nvPr>
            <p:ph idx="13" hasCustomPrompt="1"/>
          </p:nvPr>
        </p:nvSpPr>
        <p:spPr>
          <a:xfrm>
            <a:off x="6123709" y="1772534"/>
            <a:ext cx="1143000" cy="4057956"/>
          </a:xfrm>
        </p:spPr>
        <p:txBody>
          <a:bodyPr anchor="ctr"/>
          <a:lstStyle>
            <a:lvl1pPr marL="0" indent="0">
              <a:buFont typeface="Arial" panose="020B0604020202020204" pitchFamily="34" charset="0"/>
              <a:buNone/>
              <a:defRPr>
                <a:solidFill>
                  <a:schemeClr val="accent3"/>
                </a:solidFill>
                <a:latin typeface="+mj-lt"/>
              </a:defRPr>
            </a:lvl1pPr>
            <a:lvl2pPr marL="800100" indent="-342900">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p. 24</a:t>
            </a:r>
            <a:endParaRPr lang="en-US" dirty="0"/>
          </a:p>
        </p:txBody>
      </p:sp>
      <p:sp>
        <p:nvSpPr>
          <p:cNvPr id="12" name="Title 1">
            <a:extLst>
              <a:ext uri="{FF2B5EF4-FFF2-40B4-BE49-F238E27FC236}">
                <a16:creationId xmlns:a16="http://schemas.microsoft.com/office/drawing/2014/main" id="{F95D5BB5-C3A3-41D1-BBD6-49FB1A4E2481}"/>
              </a:ext>
            </a:extLst>
          </p:cNvPr>
          <p:cNvSpPr>
            <a:spLocks noGrp="1"/>
          </p:cNvSpPr>
          <p:nvPr>
            <p:ph type="title" hasCustomPrompt="1"/>
          </p:nvPr>
        </p:nvSpPr>
        <p:spPr>
          <a:xfrm>
            <a:off x="838200" y="20742"/>
            <a:ext cx="10515600" cy="1104674"/>
          </a:xfrm>
        </p:spPr>
        <p:txBody>
          <a:bodyPr/>
          <a:lstStyle>
            <a:lvl1pPr>
              <a:defRPr>
                <a:solidFill>
                  <a:srgbClr val="002060"/>
                </a:solidFill>
              </a:defRPr>
            </a:lvl1pPr>
          </a:lstStyle>
          <a:p>
            <a:r>
              <a:rPr lang="fr-FR" dirty="0"/>
              <a:t>Sommaire</a:t>
            </a:r>
            <a:endParaRPr lang="en-US" dirty="0"/>
          </a:p>
        </p:txBody>
      </p:sp>
    </p:spTree>
    <p:extLst>
      <p:ext uri="{BB962C8B-B14F-4D97-AF65-F5344CB8AC3E}">
        <p14:creationId xmlns:p14="http://schemas.microsoft.com/office/powerpoint/2010/main" val="289819974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Titre de section -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02DC6DC-D9F3-4099-BA90-5C7766137306}"/>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9" name="Graphique 8">
            <a:extLst>
              <a:ext uri="{FF2B5EF4-FFF2-40B4-BE49-F238E27FC236}">
                <a16:creationId xmlns:a16="http://schemas.microsoft.com/office/drawing/2014/main" id="{D16146C4-D4FA-4735-8D3D-42A826A5760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9855" y="5818354"/>
            <a:ext cx="5334001" cy="676763"/>
          </a:xfrm>
          <a:prstGeom prst="rect">
            <a:avLst/>
          </a:prstGeom>
        </p:spPr>
      </p:pic>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avec coins arrondis en diagonale 12">
            <a:extLst>
              <a:ext uri="{FF2B5EF4-FFF2-40B4-BE49-F238E27FC236}">
                <a16:creationId xmlns:a16="http://schemas.microsoft.com/office/drawing/2014/main" id="{BBF42F35-3317-48DE-912D-C9E65FA54847}"/>
              </a:ext>
            </a:extLst>
          </p:cNvPr>
          <p:cNvSpPr/>
          <p:nvPr userDrawn="1"/>
        </p:nvSpPr>
        <p:spPr>
          <a:xfrm>
            <a:off x="5012911" y="1434546"/>
            <a:ext cx="380725" cy="380725"/>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pic>
        <p:nvPicPr>
          <p:cNvPr id="18" name="Image 17">
            <a:extLst>
              <a:ext uri="{FF2B5EF4-FFF2-40B4-BE49-F238E27FC236}">
                <a16:creationId xmlns:a16="http://schemas.microsoft.com/office/drawing/2014/main" id="{1B120236-023C-403F-8477-5A9360CD0200}"/>
              </a:ext>
            </a:extLst>
          </p:cNvPr>
          <p:cNvPicPr>
            <a:picLocks noChangeAspect="1"/>
          </p:cNvPicPr>
          <p:nvPr userDrawn="1"/>
        </p:nvPicPr>
        <p:blipFill rotWithShape="1">
          <a:blip r:embed="rId4"/>
          <a:srcRect t="43736"/>
          <a:stretch/>
        </p:blipFill>
        <p:spPr>
          <a:xfrm>
            <a:off x="5547695" y="0"/>
            <a:ext cx="2286198" cy="1286302"/>
          </a:xfrm>
          <a:prstGeom prst="rect">
            <a:avLst/>
          </a:prstGeom>
        </p:spPr>
      </p:pic>
    </p:spTree>
    <p:extLst>
      <p:ext uri="{BB962C8B-B14F-4D97-AF65-F5344CB8AC3E}">
        <p14:creationId xmlns:p14="http://schemas.microsoft.com/office/powerpoint/2010/main" val="31143287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Titre de section - 2">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94A3C453-DCE2-4F3F-9EF3-92B8BC64FB1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951" r="14872"/>
          <a:stretch/>
        </p:blipFill>
        <p:spPr>
          <a:xfrm>
            <a:off x="-1" y="0"/>
            <a:ext cx="12191999" cy="6858000"/>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130327740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Titre de section - 3">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BA3B8B4B-30A4-427E-8EE8-33519EBD91A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89"/>
          <a:stretch/>
        </p:blipFill>
        <p:spPr>
          <a:xfrm>
            <a:off x="0" y="-757"/>
            <a:ext cx="12192000" cy="6858757"/>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23389212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Titre de section - 4">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670DBA16-3FA7-45AC-B65C-937CD89715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3109" r="10713"/>
          <a:stretch/>
        </p:blipFill>
        <p:spPr>
          <a:xfrm flipH="1">
            <a:off x="-2" y="0"/>
            <a:ext cx="12192002" cy="6858002"/>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20411698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Titre de section - 5">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B82FC89-3267-45E7-A1B3-71316CB625E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80" t="2932" b="12898"/>
          <a:stretch/>
        </p:blipFill>
        <p:spPr>
          <a:xfrm>
            <a:off x="-55145" y="-1"/>
            <a:ext cx="12247145" cy="6858001"/>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4186779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Titre de section - 6">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ECC49B47-A628-46A7-9A02-FD6E8255CB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87" t="3152" r="10970" b="23611"/>
          <a:stretch/>
        </p:blipFill>
        <p:spPr>
          <a:xfrm>
            <a:off x="-1" y="-1"/>
            <a:ext cx="12192001" cy="6858001"/>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64368328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Titre de section - 7">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A511FAF7-96E1-4B25-A83D-38D99345EF3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51" t="10260" r="6650" b="12181"/>
          <a:stretch/>
        </p:blipFill>
        <p:spPr>
          <a:xfrm>
            <a:off x="0" y="-1"/>
            <a:ext cx="12192000" cy="6858001"/>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2706434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Titre de section - 8">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71AC2D74-125C-4B1E-9C91-E7A9F74CFFE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5" t="17724" r="22202" b="16745"/>
          <a:stretch/>
        </p:blipFill>
        <p:spPr>
          <a:xfrm>
            <a:off x="0" y="0"/>
            <a:ext cx="12192000" cy="6858000"/>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175887894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Titre de section - 9">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A642A103-57D6-4797-98FB-1B73A5A5AD7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904" t="19187" b="17530"/>
          <a:stretch/>
        </p:blipFill>
        <p:spPr>
          <a:xfrm flipH="1">
            <a:off x="0" y="0"/>
            <a:ext cx="12192000" cy="6858000"/>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41024714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Titre de section - 10">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62F1DFC9-82A8-4869-BB99-992D10CA30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8" b="12967"/>
          <a:stretch/>
        </p:blipFill>
        <p:spPr>
          <a:xfrm>
            <a:off x="0" y="0"/>
            <a:ext cx="12192000" cy="6858000"/>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831850" y="2001078"/>
            <a:ext cx="4028661" cy="4028661"/>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1242667" y="3000204"/>
            <a:ext cx="758411" cy="758411"/>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p:cNvSpPr>
            <a:spLocks noGrp="1"/>
          </p:cNvSpPr>
          <p:nvPr>
            <p:ph type="title" hasCustomPrompt="1"/>
          </p:nvPr>
        </p:nvSpPr>
        <p:spPr>
          <a:xfrm>
            <a:off x="1242667" y="4015407"/>
            <a:ext cx="3183559" cy="1063833"/>
          </a:xfrm>
        </p:spPr>
        <p:txBody>
          <a:bodyPr anchor="ctr">
            <a:noAutofit/>
          </a:bodyPr>
          <a:lstStyle>
            <a:lvl1pPr>
              <a:defRPr sz="2800"/>
            </a:lvl1pPr>
          </a:lstStyle>
          <a:p>
            <a:r>
              <a:rPr lang="fr-FR" dirty="0"/>
              <a:t>Titre de section</a:t>
            </a:r>
            <a:endParaRPr lang="en-US" dirty="0"/>
          </a:p>
        </p:txBody>
      </p:sp>
      <p:sp>
        <p:nvSpPr>
          <p:cNvPr id="3" name="Text Placeholder 2"/>
          <p:cNvSpPr>
            <a:spLocks noGrp="1"/>
          </p:cNvSpPr>
          <p:nvPr>
            <p:ph type="body" idx="1" hasCustomPrompt="1"/>
          </p:nvPr>
        </p:nvSpPr>
        <p:spPr>
          <a:xfrm>
            <a:off x="1242667" y="3170615"/>
            <a:ext cx="758411" cy="516769"/>
          </a:xfrm>
        </p:spPr>
        <p:txBody>
          <a:bodyPr/>
          <a:lstStyle>
            <a:lvl1pPr marL="0" indent="0" algn="ctr">
              <a:buNone/>
              <a:defRPr sz="24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N°</a:t>
            </a:r>
          </a:p>
        </p:txBody>
      </p:sp>
    </p:spTree>
    <p:extLst>
      <p:ext uri="{BB962C8B-B14F-4D97-AF65-F5344CB8AC3E}">
        <p14:creationId xmlns:p14="http://schemas.microsoft.com/office/powerpoint/2010/main" val="14089111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ransition - 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C5FE29B-A3D7-4FDB-A699-563DD001430C}"/>
              </a:ext>
            </a:extLst>
          </p:cNvPr>
          <p:cNvSpPr/>
          <p:nvPr userDrawn="1"/>
        </p:nvSpPr>
        <p:spPr>
          <a:xfrm>
            <a:off x="0" y="0"/>
            <a:ext cx="12192000" cy="409905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14B9ABD7-94D1-4A98-99B3-203C85F01553}"/>
              </a:ext>
            </a:extLst>
          </p:cNvPr>
          <p:cNvSpPr/>
          <p:nvPr userDrawn="1"/>
        </p:nvSpPr>
        <p:spPr>
          <a:xfrm rot="5400000">
            <a:off x="4046473" y="-1281752"/>
            <a:ext cx="4099055" cy="12192002"/>
          </a:xfrm>
          <a:prstGeom prst="round2DiagRect">
            <a:avLst>
              <a:gd name="adj1" fmla="val 23958"/>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41552" y="4033697"/>
            <a:ext cx="1108896" cy="1141765"/>
          </a:xfrm>
          <a:prstGeom prst="rect">
            <a:avLst/>
          </a:prstGeom>
        </p:spPr>
      </p:pic>
      <p:pic>
        <p:nvPicPr>
          <p:cNvPr id="16" name="Graphique 15">
            <a:extLst>
              <a:ext uri="{FF2B5EF4-FFF2-40B4-BE49-F238E27FC236}">
                <a16:creationId xmlns:a16="http://schemas.microsoft.com/office/drawing/2014/main" id="{C47884EB-ACAA-4C86-9A79-D982E6B3ADD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532" y="140617"/>
            <a:ext cx="5334001" cy="676763"/>
          </a:xfrm>
          <a:prstGeom prst="rect">
            <a:avLst/>
          </a:prstGeom>
        </p:spPr>
      </p:pic>
      <p:sp>
        <p:nvSpPr>
          <p:cNvPr id="14" name="Title 1">
            <a:extLst>
              <a:ext uri="{FF2B5EF4-FFF2-40B4-BE49-F238E27FC236}">
                <a16:creationId xmlns:a16="http://schemas.microsoft.com/office/drawing/2014/main" id="{DBF6C4EF-0A70-444F-BBF0-6F8B7DEA78D9}"/>
              </a:ext>
            </a:extLst>
          </p:cNvPr>
          <p:cNvSpPr>
            <a:spLocks noGrp="1"/>
          </p:cNvSpPr>
          <p:nvPr>
            <p:ph type="title" hasCustomPrompt="1"/>
          </p:nvPr>
        </p:nvSpPr>
        <p:spPr>
          <a:xfrm>
            <a:off x="838200" y="1910477"/>
            <a:ext cx="10515600" cy="1325563"/>
          </a:xfrm>
        </p:spPr>
        <p:txBody>
          <a:bodyPr/>
          <a:lstStyle>
            <a:lvl1pPr algn="ct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342019036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ransition - 2">
    <p:spTree>
      <p:nvGrpSpPr>
        <p:cNvPr id="1" name=""/>
        <p:cNvGrpSpPr/>
        <p:nvPr/>
      </p:nvGrpSpPr>
      <p:grpSpPr>
        <a:xfrm>
          <a:off x="0" y="0"/>
          <a:ext cx="0" cy="0"/>
          <a:chOff x="0" y="0"/>
          <a:chExt cx="0" cy="0"/>
        </a:xfrm>
      </p:grpSpPr>
      <p:pic>
        <p:nvPicPr>
          <p:cNvPr id="3" name="Image 2" descr="Une image contenant table&#10;&#10;Description générée automatiquement">
            <a:extLst>
              <a:ext uri="{FF2B5EF4-FFF2-40B4-BE49-F238E27FC236}">
                <a16:creationId xmlns:a16="http://schemas.microsoft.com/office/drawing/2014/main" id="{1875303D-9C94-4E71-9A37-001F6C9845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Image 7">
            <a:extLst>
              <a:ext uri="{FF2B5EF4-FFF2-40B4-BE49-F238E27FC236}">
                <a16:creationId xmlns:a16="http://schemas.microsoft.com/office/drawing/2014/main" id="{4E523264-687C-41A5-8A34-97D833F68C4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541552" y="4033697"/>
            <a:ext cx="1108896" cy="1141765"/>
          </a:xfrm>
          <a:prstGeom prst="rect">
            <a:avLst/>
          </a:prstGeom>
        </p:spPr>
      </p:pic>
      <p:sp>
        <p:nvSpPr>
          <p:cNvPr id="14" name="Title 1">
            <a:extLst>
              <a:ext uri="{FF2B5EF4-FFF2-40B4-BE49-F238E27FC236}">
                <a16:creationId xmlns:a16="http://schemas.microsoft.com/office/drawing/2014/main" id="{DBF6C4EF-0A70-444F-BBF0-6F8B7DEA78D9}"/>
              </a:ext>
            </a:extLst>
          </p:cNvPr>
          <p:cNvSpPr>
            <a:spLocks noGrp="1"/>
          </p:cNvSpPr>
          <p:nvPr>
            <p:ph type="title" hasCustomPrompt="1"/>
          </p:nvPr>
        </p:nvSpPr>
        <p:spPr>
          <a:xfrm>
            <a:off x="838200" y="1910477"/>
            <a:ext cx="10515600" cy="1325563"/>
          </a:xfrm>
        </p:spPr>
        <p:txBody>
          <a:bodyPr/>
          <a:lstStyle>
            <a:lvl1pPr algn="ct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103867408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ransition - 3">
    <p:spTree>
      <p:nvGrpSpPr>
        <p:cNvPr id="1" name=""/>
        <p:cNvGrpSpPr/>
        <p:nvPr/>
      </p:nvGrpSpPr>
      <p:grpSpPr>
        <a:xfrm>
          <a:off x="0" y="0"/>
          <a:ext cx="0" cy="0"/>
          <a:chOff x="0" y="0"/>
          <a:chExt cx="0" cy="0"/>
        </a:xfrm>
      </p:grpSpPr>
      <p:pic>
        <p:nvPicPr>
          <p:cNvPr id="4" name="Image 3" descr="Une image contenant table&#10;&#10;Description générée automatiquement">
            <a:extLst>
              <a:ext uri="{FF2B5EF4-FFF2-40B4-BE49-F238E27FC236}">
                <a16:creationId xmlns:a16="http://schemas.microsoft.com/office/drawing/2014/main" id="{946D0E47-04BF-40AB-AC82-EFF9F27C41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Image 8">
            <a:extLst>
              <a:ext uri="{FF2B5EF4-FFF2-40B4-BE49-F238E27FC236}">
                <a16:creationId xmlns:a16="http://schemas.microsoft.com/office/drawing/2014/main" id="{64FA7A75-5CCF-4C33-91B2-3AFDC1BB1C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Image 2" descr="Une image contenant table&#10;&#10;Description générée automatiquement">
            <a:extLst>
              <a:ext uri="{FF2B5EF4-FFF2-40B4-BE49-F238E27FC236}">
                <a16:creationId xmlns:a16="http://schemas.microsoft.com/office/drawing/2014/main" id="{1875303D-9C94-4E71-9A37-001F6C9845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541552" y="4033697"/>
            <a:ext cx="1108896" cy="1141765"/>
          </a:xfrm>
          <a:prstGeom prst="rect">
            <a:avLst/>
          </a:prstGeom>
        </p:spPr>
      </p:pic>
      <p:sp>
        <p:nvSpPr>
          <p:cNvPr id="14" name="Title 1">
            <a:extLst>
              <a:ext uri="{FF2B5EF4-FFF2-40B4-BE49-F238E27FC236}">
                <a16:creationId xmlns:a16="http://schemas.microsoft.com/office/drawing/2014/main" id="{DBF6C4EF-0A70-444F-BBF0-6F8B7DEA78D9}"/>
              </a:ext>
            </a:extLst>
          </p:cNvPr>
          <p:cNvSpPr>
            <a:spLocks noGrp="1"/>
          </p:cNvSpPr>
          <p:nvPr>
            <p:ph type="title" hasCustomPrompt="1"/>
          </p:nvPr>
        </p:nvSpPr>
        <p:spPr>
          <a:xfrm>
            <a:off x="838200" y="1910477"/>
            <a:ext cx="10515600" cy="1325563"/>
          </a:xfrm>
        </p:spPr>
        <p:txBody>
          <a:bodyPr/>
          <a:lstStyle>
            <a:lvl1pPr algn="ctr">
              <a:defRPr>
                <a:solidFill>
                  <a:schemeClr val="bg1"/>
                </a:solidFill>
              </a:defRPr>
            </a:lvl1pPr>
          </a:lstStyle>
          <a:p>
            <a:r>
              <a:rPr lang="fr-FR" dirty="0"/>
              <a:t>Titre de la page</a:t>
            </a:r>
            <a:endParaRPr lang="en-US" dirty="0"/>
          </a:p>
        </p:txBody>
      </p:sp>
    </p:spTree>
    <p:extLst>
      <p:ext uri="{BB962C8B-B14F-4D97-AF65-F5344CB8AC3E}">
        <p14:creationId xmlns:p14="http://schemas.microsoft.com/office/powerpoint/2010/main" val="20218455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eux contacts - Image">
    <p:spTree>
      <p:nvGrpSpPr>
        <p:cNvPr id="1" name=""/>
        <p:cNvGrpSpPr/>
        <p:nvPr/>
      </p:nvGrpSpPr>
      <p:grpSpPr>
        <a:xfrm>
          <a:off x="0" y="0"/>
          <a:ext cx="0" cy="0"/>
          <a:chOff x="0" y="0"/>
          <a:chExt cx="0" cy="0"/>
        </a:xfrm>
      </p:grpSpPr>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3" name="Image 2">
            <a:extLst>
              <a:ext uri="{FF2B5EF4-FFF2-40B4-BE49-F238E27FC236}">
                <a16:creationId xmlns:a16="http://schemas.microsoft.com/office/drawing/2014/main" id="{03B05C0D-F11A-4965-97B6-80A12C632636}"/>
              </a:ext>
            </a:extLst>
          </p:cNvPr>
          <p:cNvPicPr>
            <a:picLocks noChangeAspect="1"/>
          </p:cNvPicPr>
          <p:nvPr userDrawn="1"/>
        </p:nvPicPr>
        <p:blipFill rotWithShape="1">
          <a:blip r:embed="rId2"/>
          <a:srcRect l="11688" t="16944" r="3074" b="9811"/>
          <a:stretch/>
        </p:blipFill>
        <p:spPr>
          <a:xfrm>
            <a:off x="-1" y="-13397"/>
            <a:ext cx="12192001" cy="3399428"/>
          </a:xfrm>
          <a:prstGeom prst="rect">
            <a:avLst/>
          </a:prstGeom>
        </p:spPr>
      </p:pic>
      <p:sp>
        <p:nvSpPr>
          <p:cNvPr id="23" name="Espace réservé du texte 2">
            <a:extLst>
              <a:ext uri="{FF2B5EF4-FFF2-40B4-BE49-F238E27FC236}">
                <a16:creationId xmlns:a16="http://schemas.microsoft.com/office/drawing/2014/main" id="{D09F6D18-2595-4EC1-9B80-17B5DF57B884}"/>
              </a:ext>
            </a:extLst>
          </p:cNvPr>
          <p:cNvSpPr>
            <a:spLocks noGrp="1"/>
          </p:cNvSpPr>
          <p:nvPr>
            <p:ph type="body" sz="quarter" idx="13" hasCustomPrompt="1"/>
          </p:nvPr>
        </p:nvSpPr>
        <p:spPr>
          <a:xfrm>
            <a:off x="2171933" y="470317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4" name="Espace réservé du texte 7">
            <a:extLst>
              <a:ext uri="{FF2B5EF4-FFF2-40B4-BE49-F238E27FC236}">
                <a16:creationId xmlns:a16="http://schemas.microsoft.com/office/drawing/2014/main" id="{BAA21B26-FA6C-4B3D-8595-10AB27043886}"/>
              </a:ext>
            </a:extLst>
          </p:cNvPr>
          <p:cNvSpPr>
            <a:spLocks noGrp="1"/>
          </p:cNvSpPr>
          <p:nvPr>
            <p:ph type="body" sz="quarter" idx="14" hasCustomPrompt="1"/>
          </p:nvPr>
        </p:nvSpPr>
        <p:spPr>
          <a:xfrm>
            <a:off x="2172103" y="433428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5" name="Espace réservé du texte 2">
            <a:extLst>
              <a:ext uri="{FF2B5EF4-FFF2-40B4-BE49-F238E27FC236}">
                <a16:creationId xmlns:a16="http://schemas.microsoft.com/office/drawing/2014/main" id="{985867D1-FE95-4111-8DED-B87DFE389D33}"/>
              </a:ext>
            </a:extLst>
          </p:cNvPr>
          <p:cNvSpPr>
            <a:spLocks noGrp="1"/>
          </p:cNvSpPr>
          <p:nvPr>
            <p:ph type="body" sz="quarter" idx="18" hasCustomPrompt="1"/>
          </p:nvPr>
        </p:nvSpPr>
        <p:spPr>
          <a:xfrm>
            <a:off x="2171932" y="503920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6" name="Espace réservé du texte 2">
            <a:extLst>
              <a:ext uri="{FF2B5EF4-FFF2-40B4-BE49-F238E27FC236}">
                <a16:creationId xmlns:a16="http://schemas.microsoft.com/office/drawing/2014/main" id="{0A70E9B7-75C2-4BC2-BDBE-599C6F6DE647}"/>
              </a:ext>
            </a:extLst>
          </p:cNvPr>
          <p:cNvSpPr>
            <a:spLocks noGrp="1"/>
          </p:cNvSpPr>
          <p:nvPr>
            <p:ph type="body" sz="quarter" idx="19" hasCustomPrompt="1"/>
          </p:nvPr>
        </p:nvSpPr>
        <p:spPr>
          <a:xfrm>
            <a:off x="8267934" y="470317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7" name="Espace réservé du texte 7">
            <a:extLst>
              <a:ext uri="{FF2B5EF4-FFF2-40B4-BE49-F238E27FC236}">
                <a16:creationId xmlns:a16="http://schemas.microsoft.com/office/drawing/2014/main" id="{850ABEA2-D863-4E96-A2D2-DE23254D51B7}"/>
              </a:ext>
            </a:extLst>
          </p:cNvPr>
          <p:cNvSpPr>
            <a:spLocks noGrp="1"/>
          </p:cNvSpPr>
          <p:nvPr>
            <p:ph type="body" sz="quarter" idx="20" hasCustomPrompt="1"/>
          </p:nvPr>
        </p:nvSpPr>
        <p:spPr>
          <a:xfrm>
            <a:off x="8268104" y="433428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8" name="Espace réservé du texte 2">
            <a:extLst>
              <a:ext uri="{FF2B5EF4-FFF2-40B4-BE49-F238E27FC236}">
                <a16:creationId xmlns:a16="http://schemas.microsoft.com/office/drawing/2014/main" id="{BC394DF7-E322-4E8B-9F72-EB76DC3A7305}"/>
              </a:ext>
            </a:extLst>
          </p:cNvPr>
          <p:cNvSpPr>
            <a:spLocks noGrp="1"/>
          </p:cNvSpPr>
          <p:nvPr>
            <p:ph type="body" sz="quarter" idx="21" hasCustomPrompt="1"/>
          </p:nvPr>
        </p:nvSpPr>
        <p:spPr>
          <a:xfrm>
            <a:off x="8267933" y="503920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9" name="Espace réservé pour une image  28">
            <a:extLst>
              <a:ext uri="{FF2B5EF4-FFF2-40B4-BE49-F238E27FC236}">
                <a16:creationId xmlns:a16="http://schemas.microsoft.com/office/drawing/2014/main" id="{0FB520F8-7547-483A-9799-FB0265F8F658}"/>
              </a:ext>
            </a:extLst>
          </p:cNvPr>
          <p:cNvSpPr>
            <a:spLocks noGrp="1"/>
          </p:cNvSpPr>
          <p:nvPr>
            <p:ph type="pic" sz="quarter" idx="22"/>
          </p:nvPr>
        </p:nvSpPr>
        <p:spPr>
          <a:xfrm>
            <a:off x="343304" y="4055215"/>
            <a:ext cx="1631950" cy="1631950"/>
          </a:xfrm>
        </p:spPr>
        <p:txBody>
          <a:bodyPr/>
          <a:lstStyle/>
          <a:p>
            <a:endParaRPr lang="fr-FR"/>
          </a:p>
        </p:txBody>
      </p:sp>
      <p:sp>
        <p:nvSpPr>
          <p:cNvPr id="30" name="Espace réservé pour une image  28">
            <a:extLst>
              <a:ext uri="{FF2B5EF4-FFF2-40B4-BE49-F238E27FC236}">
                <a16:creationId xmlns:a16="http://schemas.microsoft.com/office/drawing/2014/main" id="{344E2336-1D71-4DED-9DDF-F5E00417F3DA}"/>
              </a:ext>
            </a:extLst>
          </p:cNvPr>
          <p:cNvSpPr>
            <a:spLocks noGrp="1"/>
          </p:cNvSpPr>
          <p:nvPr>
            <p:ph type="pic" sz="quarter" idx="23"/>
          </p:nvPr>
        </p:nvSpPr>
        <p:spPr>
          <a:xfrm>
            <a:off x="6447241" y="4055215"/>
            <a:ext cx="1631950" cy="1631950"/>
          </a:xfrm>
        </p:spPr>
        <p:txBody>
          <a:bodyPr/>
          <a:lstStyle/>
          <a:p>
            <a:endParaRPr lang="fr-FR"/>
          </a:p>
        </p:txBody>
      </p:sp>
      <p:pic>
        <p:nvPicPr>
          <p:cNvPr id="31" name="Image 30">
            <a:extLst>
              <a:ext uri="{FF2B5EF4-FFF2-40B4-BE49-F238E27FC236}">
                <a16:creationId xmlns:a16="http://schemas.microsoft.com/office/drawing/2014/main" id="{A1BD2EAB-0289-44E3-B9C6-5905B7E55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Tree>
    <p:extLst>
      <p:ext uri="{BB962C8B-B14F-4D97-AF65-F5344CB8AC3E}">
        <p14:creationId xmlns:p14="http://schemas.microsoft.com/office/powerpoint/2010/main" val="291218041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eux contacts - Simpl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C8FCD63A-1F5E-4A77-94EC-BB8A4A929C3E}"/>
              </a:ext>
            </a:extLst>
          </p:cNvPr>
          <p:cNvPicPr>
            <a:picLocks noChangeAspect="1"/>
          </p:cNvPicPr>
          <p:nvPr userDrawn="1"/>
        </p:nvPicPr>
        <p:blipFill rotWithShape="1">
          <a:blip r:embed="rId2"/>
          <a:srcRect l="6023" t="17770" r="3307" b="9015"/>
          <a:stretch/>
        </p:blipFill>
        <p:spPr>
          <a:xfrm>
            <a:off x="-2" y="-13398"/>
            <a:ext cx="12192001" cy="3399428"/>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23" name="Espace réservé du texte 2">
            <a:extLst>
              <a:ext uri="{FF2B5EF4-FFF2-40B4-BE49-F238E27FC236}">
                <a16:creationId xmlns:a16="http://schemas.microsoft.com/office/drawing/2014/main" id="{D09F6D18-2595-4EC1-9B80-17B5DF57B884}"/>
              </a:ext>
            </a:extLst>
          </p:cNvPr>
          <p:cNvSpPr>
            <a:spLocks noGrp="1"/>
          </p:cNvSpPr>
          <p:nvPr>
            <p:ph type="body" sz="quarter" idx="13" hasCustomPrompt="1"/>
          </p:nvPr>
        </p:nvSpPr>
        <p:spPr>
          <a:xfrm>
            <a:off x="2171933" y="470317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4" name="Espace réservé du texte 7">
            <a:extLst>
              <a:ext uri="{FF2B5EF4-FFF2-40B4-BE49-F238E27FC236}">
                <a16:creationId xmlns:a16="http://schemas.microsoft.com/office/drawing/2014/main" id="{BAA21B26-FA6C-4B3D-8595-10AB27043886}"/>
              </a:ext>
            </a:extLst>
          </p:cNvPr>
          <p:cNvSpPr>
            <a:spLocks noGrp="1"/>
          </p:cNvSpPr>
          <p:nvPr>
            <p:ph type="body" sz="quarter" idx="14" hasCustomPrompt="1"/>
          </p:nvPr>
        </p:nvSpPr>
        <p:spPr>
          <a:xfrm>
            <a:off x="2172103" y="433428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5" name="Espace réservé du texte 2">
            <a:extLst>
              <a:ext uri="{FF2B5EF4-FFF2-40B4-BE49-F238E27FC236}">
                <a16:creationId xmlns:a16="http://schemas.microsoft.com/office/drawing/2014/main" id="{985867D1-FE95-4111-8DED-B87DFE389D33}"/>
              </a:ext>
            </a:extLst>
          </p:cNvPr>
          <p:cNvSpPr>
            <a:spLocks noGrp="1"/>
          </p:cNvSpPr>
          <p:nvPr>
            <p:ph type="body" sz="quarter" idx="18" hasCustomPrompt="1"/>
          </p:nvPr>
        </p:nvSpPr>
        <p:spPr>
          <a:xfrm>
            <a:off x="2171932" y="503920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6" name="Espace réservé du texte 2">
            <a:extLst>
              <a:ext uri="{FF2B5EF4-FFF2-40B4-BE49-F238E27FC236}">
                <a16:creationId xmlns:a16="http://schemas.microsoft.com/office/drawing/2014/main" id="{0A70E9B7-75C2-4BC2-BDBE-599C6F6DE647}"/>
              </a:ext>
            </a:extLst>
          </p:cNvPr>
          <p:cNvSpPr>
            <a:spLocks noGrp="1"/>
          </p:cNvSpPr>
          <p:nvPr>
            <p:ph type="body" sz="quarter" idx="19" hasCustomPrompt="1"/>
          </p:nvPr>
        </p:nvSpPr>
        <p:spPr>
          <a:xfrm>
            <a:off x="8267934" y="470317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7" name="Espace réservé du texte 7">
            <a:extLst>
              <a:ext uri="{FF2B5EF4-FFF2-40B4-BE49-F238E27FC236}">
                <a16:creationId xmlns:a16="http://schemas.microsoft.com/office/drawing/2014/main" id="{850ABEA2-D863-4E96-A2D2-DE23254D51B7}"/>
              </a:ext>
            </a:extLst>
          </p:cNvPr>
          <p:cNvSpPr>
            <a:spLocks noGrp="1"/>
          </p:cNvSpPr>
          <p:nvPr>
            <p:ph type="body" sz="quarter" idx="20" hasCustomPrompt="1"/>
          </p:nvPr>
        </p:nvSpPr>
        <p:spPr>
          <a:xfrm>
            <a:off x="8268104" y="433428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8" name="Espace réservé du texte 2">
            <a:extLst>
              <a:ext uri="{FF2B5EF4-FFF2-40B4-BE49-F238E27FC236}">
                <a16:creationId xmlns:a16="http://schemas.microsoft.com/office/drawing/2014/main" id="{BC394DF7-E322-4E8B-9F72-EB76DC3A7305}"/>
              </a:ext>
            </a:extLst>
          </p:cNvPr>
          <p:cNvSpPr>
            <a:spLocks noGrp="1"/>
          </p:cNvSpPr>
          <p:nvPr>
            <p:ph type="body" sz="quarter" idx="21" hasCustomPrompt="1"/>
          </p:nvPr>
        </p:nvSpPr>
        <p:spPr>
          <a:xfrm>
            <a:off x="8267933" y="503920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9" name="Espace réservé pour une image  28">
            <a:extLst>
              <a:ext uri="{FF2B5EF4-FFF2-40B4-BE49-F238E27FC236}">
                <a16:creationId xmlns:a16="http://schemas.microsoft.com/office/drawing/2014/main" id="{0FB520F8-7547-483A-9799-FB0265F8F658}"/>
              </a:ext>
            </a:extLst>
          </p:cNvPr>
          <p:cNvSpPr>
            <a:spLocks noGrp="1"/>
          </p:cNvSpPr>
          <p:nvPr>
            <p:ph type="pic" sz="quarter" idx="22"/>
          </p:nvPr>
        </p:nvSpPr>
        <p:spPr>
          <a:xfrm>
            <a:off x="343304" y="4055215"/>
            <a:ext cx="1631950" cy="1631950"/>
          </a:xfrm>
        </p:spPr>
        <p:txBody>
          <a:bodyPr/>
          <a:lstStyle/>
          <a:p>
            <a:endParaRPr lang="fr-FR"/>
          </a:p>
        </p:txBody>
      </p:sp>
      <p:sp>
        <p:nvSpPr>
          <p:cNvPr id="30" name="Espace réservé pour une image  28">
            <a:extLst>
              <a:ext uri="{FF2B5EF4-FFF2-40B4-BE49-F238E27FC236}">
                <a16:creationId xmlns:a16="http://schemas.microsoft.com/office/drawing/2014/main" id="{344E2336-1D71-4DED-9DDF-F5E00417F3DA}"/>
              </a:ext>
            </a:extLst>
          </p:cNvPr>
          <p:cNvSpPr>
            <a:spLocks noGrp="1"/>
          </p:cNvSpPr>
          <p:nvPr>
            <p:ph type="pic" sz="quarter" idx="23"/>
          </p:nvPr>
        </p:nvSpPr>
        <p:spPr>
          <a:xfrm>
            <a:off x="6447241" y="4055215"/>
            <a:ext cx="1631950" cy="1631950"/>
          </a:xfrm>
        </p:spPr>
        <p:txBody>
          <a:bodyPr/>
          <a:lstStyle/>
          <a:p>
            <a:endParaRPr lang="fr-FR"/>
          </a:p>
        </p:txBody>
      </p:sp>
      <p:pic>
        <p:nvPicPr>
          <p:cNvPr id="31" name="Image 30">
            <a:extLst>
              <a:ext uri="{FF2B5EF4-FFF2-40B4-BE49-F238E27FC236}">
                <a16:creationId xmlns:a16="http://schemas.microsoft.com/office/drawing/2014/main" id="{A1BD2EAB-0289-44E3-B9C6-5905B7E55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21" name="Image 20">
            <a:extLst>
              <a:ext uri="{FF2B5EF4-FFF2-40B4-BE49-F238E27FC236}">
                <a16:creationId xmlns:a16="http://schemas.microsoft.com/office/drawing/2014/main" id="{A279F9FD-62E2-46C0-9738-82AF6EB16D2A}"/>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50097"/>
          <a:stretch/>
        </p:blipFill>
        <p:spPr>
          <a:xfrm>
            <a:off x="-1" y="-4167394"/>
            <a:ext cx="12192000" cy="3422363"/>
          </a:xfrm>
          <a:prstGeom prst="rect">
            <a:avLst/>
          </a:prstGeom>
        </p:spPr>
      </p:pic>
      <p:sp>
        <p:nvSpPr>
          <p:cNvPr id="22" name="Rectangle : avec coins arrondis en diagonale 21">
            <a:extLst>
              <a:ext uri="{FF2B5EF4-FFF2-40B4-BE49-F238E27FC236}">
                <a16:creationId xmlns:a16="http://schemas.microsoft.com/office/drawing/2014/main" id="{4B365BDA-52A2-4F63-8587-ABBBE280F041}"/>
              </a:ext>
            </a:extLst>
          </p:cNvPr>
          <p:cNvSpPr/>
          <p:nvPr userDrawn="1"/>
        </p:nvSpPr>
        <p:spPr>
          <a:xfrm>
            <a:off x="-577991" y="-4778918"/>
            <a:ext cx="12974643" cy="4191082"/>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ADDC98DD-EC24-4B9C-9312-81609057637D}"/>
              </a:ext>
            </a:extLst>
          </p:cNvPr>
          <p:cNvSpPr/>
          <p:nvPr userDrawn="1"/>
        </p:nvSpPr>
        <p:spPr>
          <a:xfrm>
            <a:off x="11808821" y="3213462"/>
            <a:ext cx="378823" cy="2159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Title 1">
            <a:extLst>
              <a:ext uri="{FF2B5EF4-FFF2-40B4-BE49-F238E27FC236}">
                <a16:creationId xmlns:a16="http://schemas.microsoft.com/office/drawing/2014/main" id="{357558AC-0558-46A2-948C-06C4A56D7663}"/>
              </a:ext>
            </a:extLst>
          </p:cNvPr>
          <p:cNvSpPr>
            <a:spLocks noGrp="1"/>
          </p:cNvSpPr>
          <p:nvPr>
            <p:ph type="title" hasCustomPrompt="1"/>
          </p:nvPr>
        </p:nvSpPr>
        <p:spPr>
          <a:xfrm>
            <a:off x="838200" y="20742"/>
            <a:ext cx="10515600" cy="1104674"/>
          </a:xfrm>
        </p:spPr>
        <p:txBody>
          <a:bodyPr/>
          <a:lstStyle>
            <a:lvl1pPr algn="ctr">
              <a:defRPr>
                <a:solidFill>
                  <a:schemeClr val="bg1"/>
                </a:solidFill>
              </a:defRPr>
            </a:lvl1pPr>
          </a:lstStyle>
          <a:p>
            <a:r>
              <a:rPr lang="fr-FR" dirty="0"/>
              <a:t>Contacts</a:t>
            </a:r>
            <a:endParaRPr lang="en-US" dirty="0"/>
          </a:p>
        </p:txBody>
      </p:sp>
    </p:spTree>
    <p:extLst>
      <p:ext uri="{BB962C8B-B14F-4D97-AF65-F5344CB8AC3E}">
        <p14:creationId xmlns:p14="http://schemas.microsoft.com/office/powerpoint/2010/main" val="21424905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Quatre contacts - Image">
    <p:spTree>
      <p:nvGrpSpPr>
        <p:cNvPr id="1" name=""/>
        <p:cNvGrpSpPr/>
        <p:nvPr/>
      </p:nvGrpSpPr>
      <p:grpSpPr>
        <a:xfrm>
          <a:off x="0" y="0"/>
          <a:ext cx="0" cy="0"/>
          <a:chOff x="0" y="0"/>
          <a:chExt cx="0" cy="0"/>
        </a:xfrm>
      </p:grpSpPr>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3" name="Image 2">
            <a:extLst>
              <a:ext uri="{FF2B5EF4-FFF2-40B4-BE49-F238E27FC236}">
                <a16:creationId xmlns:a16="http://schemas.microsoft.com/office/drawing/2014/main" id="{03B05C0D-F11A-4965-97B6-80A12C632636}"/>
              </a:ext>
            </a:extLst>
          </p:cNvPr>
          <p:cNvPicPr>
            <a:picLocks noChangeAspect="1"/>
          </p:cNvPicPr>
          <p:nvPr userDrawn="1"/>
        </p:nvPicPr>
        <p:blipFill rotWithShape="1">
          <a:blip r:embed="rId2"/>
          <a:srcRect l="11688" t="25529" r="3074" b="9812"/>
          <a:stretch/>
        </p:blipFill>
        <p:spPr>
          <a:xfrm>
            <a:off x="-1" y="-13399"/>
            <a:ext cx="12192001" cy="3000939"/>
          </a:xfrm>
          <a:prstGeom prst="rect">
            <a:avLst/>
          </a:prstGeom>
        </p:spPr>
      </p:pic>
      <p:sp>
        <p:nvSpPr>
          <p:cNvPr id="23" name="Espace réservé du texte 2">
            <a:extLst>
              <a:ext uri="{FF2B5EF4-FFF2-40B4-BE49-F238E27FC236}">
                <a16:creationId xmlns:a16="http://schemas.microsoft.com/office/drawing/2014/main" id="{D09F6D18-2595-4EC1-9B80-17B5DF57B884}"/>
              </a:ext>
            </a:extLst>
          </p:cNvPr>
          <p:cNvSpPr>
            <a:spLocks noGrp="1"/>
          </p:cNvSpPr>
          <p:nvPr>
            <p:ph type="body" sz="quarter" idx="13" hasCustomPrompt="1"/>
          </p:nvPr>
        </p:nvSpPr>
        <p:spPr>
          <a:xfrm>
            <a:off x="2070479" y="386568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4" name="Espace réservé du texte 7">
            <a:extLst>
              <a:ext uri="{FF2B5EF4-FFF2-40B4-BE49-F238E27FC236}">
                <a16:creationId xmlns:a16="http://schemas.microsoft.com/office/drawing/2014/main" id="{BAA21B26-FA6C-4B3D-8595-10AB27043886}"/>
              </a:ext>
            </a:extLst>
          </p:cNvPr>
          <p:cNvSpPr>
            <a:spLocks noGrp="1"/>
          </p:cNvSpPr>
          <p:nvPr>
            <p:ph type="body" sz="quarter" idx="14" hasCustomPrompt="1"/>
          </p:nvPr>
        </p:nvSpPr>
        <p:spPr>
          <a:xfrm>
            <a:off x="2070649" y="349679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5" name="Espace réservé du texte 2">
            <a:extLst>
              <a:ext uri="{FF2B5EF4-FFF2-40B4-BE49-F238E27FC236}">
                <a16:creationId xmlns:a16="http://schemas.microsoft.com/office/drawing/2014/main" id="{985867D1-FE95-4111-8DED-B87DFE389D33}"/>
              </a:ext>
            </a:extLst>
          </p:cNvPr>
          <p:cNvSpPr>
            <a:spLocks noGrp="1"/>
          </p:cNvSpPr>
          <p:nvPr>
            <p:ph type="body" sz="quarter" idx="18" hasCustomPrompt="1"/>
          </p:nvPr>
        </p:nvSpPr>
        <p:spPr>
          <a:xfrm>
            <a:off x="2070478" y="420171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6" name="Espace réservé du texte 2">
            <a:extLst>
              <a:ext uri="{FF2B5EF4-FFF2-40B4-BE49-F238E27FC236}">
                <a16:creationId xmlns:a16="http://schemas.microsoft.com/office/drawing/2014/main" id="{0A70E9B7-75C2-4BC2-BDBE-599C6F6DE647}"/>
              </a:ext>
            </a:extLst>
          </p:cNvPr>
          <p:cNvSpPr>
            <a:spLocks noGrp="1"/>
          </p:cNvSpPr>
          <p:nvPr>
            <p:ph type="body" sz="quarter" idx="19" hasCustomPrompt="1"/>
          </p:nvPr>
        </p:nvSpPr>
        <p:spPr>
          <a:xfrm>
            <a:off x="8166480" y="386568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7" name="Espace réservé du texte 7">
            <a:extLst>
              <a:ext uri="{FF2B5EF4-FFF2-40B4-BE49-F238E27FC236}">
                <a16:creationId xmlns:a16="http://schemas.microsoft.com/office/drawing/2014/main" id="{850ABEA2-D863-4E96-A2D2-DE23254D51B7}"/>
              </a:ext>
            </a:extLst>
          </p:cNvPr>
          <p:cNvSpPr>
            <a:spLocks noGrp="1"/>
          </p:cNvSpPr>
          <p:nvPr>
            <p:ph type="body" sz="quarter" idx="20" hasCustomPrompt="1"/>
          </p:nvPr>
        </p:nvSpPr>
        <p:spPr>
          <a:xfrm>
            <a:off x="8166650" y="349679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8" name="Espace réservé du texte 2">
            <a:extLst>
              <a:ext uri="{FF2B5EF4-FFF2-40B4-BE49-F238E27FC236}">
                <a16:creationId xmlns:a16="http://schemas.microsoft.com/office/drawing/2014/main" id="{BC394DF7-E322-4E8B-9F72-EB76DC3A7305}"/>
              </a:ext>
            </a:extLst>
          </p:cNvPr>
          <p:cNvSpPr>
            <a:spLocks noGrp="1"/>
          </p:cNvSpPr>
          <p:nvPr>
            <p:ph type="body" sz="quarter" idx="21" hasCustomPrompt="1"/>
          </p:nvPr>
        </p:nvSpPr>
        <p:spPr>
          <a:xfrm>
            <a:off x="8166479" y="420171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9" name="Espace réservé pour une image  28">
            <a:extLst>
              <a:ext uri="{FF2B5EF4-FFF2-40B4-BE49-F238E27FC236}">
                <a16:creationId xmlns:a16="http://schemas.microsoft.com/office/drawing/2014/main" id="{0FB520F8-7547-483A-9799-FB0265F8F658}"/>
              </a:ext>
            </a:extLst>
          </p:cNvPr>
          <p:cNvSpPr>
            <a:spLocks noGrp="1"/>
          </p:cNvSpPr>
          <p:nvPr>
            <p:ph type="pic" sz="quarter" idx="22"/>
          </p:nvPr>
        </p:nvSpPr>
        <p:spPr>
          <a:xfrm>
            <a:off x="605075" y="3395455"/>
            <a:ext cx="1276490" cy="1276490"/>
          </a:xfrm>
        </p:spPr>
        <p:txBody>
          <a:bodyPr/>
          <a:lstStyle/>
          <a:p>
            <a:endParaRPr lang="fr-FR" dirty="0"/>
          </a:p>
        </p:txBody>
      </p:sp>
      <p:sp>
        <p:nvSpPr>
          <p:cNvPr id="30" name="Espace réservé pour une image  28">
            <a:extLst>
              <a:ext uri="{FF2B5EF4-FFF2-40B4-BE49-F238E27FC236}">
                <a16:creationId xmlns:a16="http://schemas.microsoft.com/office/drawing/2014/main" id="{344E2336-1D71-4DED-9DDF-F5E00417F3DA}"/>
              </a:ext>
            </a:extLst>
          </p:cNvPr>
          <p:cNvSpPr>
            <a:spLocks noGrp="1"/>
          </p:cNvSpPr>
          <p:nvPr>
            <p:ph type="pic" sz="quarter" idx="23"/>
          </p:nvPr>
        </p:nvSpPr>
        <p:spPr>
          <a:xfrm>
            <a:off x="6672359" y="3395455"/>
            <a:ext cx="1276490" cy="1276490"/>
          </a:xfrm>
        </p:spPr>
        <p:txBody>
          <a:bodyPr/>
          <a:lstStyle/>
          <a:p>
            <a:endParaRPr lang="fr-FR" dirty="0"/>
          </a:p>
        </p:txBody>
      </p:sp>
      <p:pic>
        <p:nvPicPr>
          <p:cNvPr id="31" name="Image 30">
            <a:extLst>
              <a:ext uri="{FF2B5EF4-FFF2-40B4-BE49-F238E27FC236}">
                <a16:creationId xmlns:a16="http://schemas.microsoft.com/office/drawing/2014/main" id="{A1BD2EAB-0289-44E3-B9C6-5905B7E55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33" name="Espace réservé du texte 2">
            <a:extLst>
              <a:ext uri="{FF2B5EF4-FFF2-40B4-BE49-F238E27FC236}">
                <a16:creationId xmlns:a16="http://schemas.microsoft.com/office/drawing/2014/main" id="{B1374249-1500-4F24-8711-5903A6FE0E62}"/>
              </a:ext>
            </a:extLst>
          </p:cNvPr>
          <p:cNvSpPr>
            <a:spLocks noGrp="1"/>
          </p:cNvSpPr>
          <p:nvPr>
            <p:ph type="body" sz="quarter" idx="24" hasCustomPrompt="1"/>
          </p:nvPr>
        </p:nvSpPr>
        <p:spPr>
          <a:xfrm>
            <a:off x="2070479" y="5276359"/>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34" name="Espace réservé du texte 7">
            <a:extLst>
              <a:ext uri="{FF2B5EF4-FFF2-40B4-BE49-F238E27FC236}">
                <a16:creationId xmlns:a16="http://schemas.microsoft.com/office/drawing/2014/main" id="{4350BCF6-2BCF-4D5A-AF50-4FEA33B5A916}"/>
              </a:ext>
            </a:extLst>
          </p:cNvPr>
          <p:cNvSpPr>
            <a:spLocks noGrp="1"/>
          </p:cNvSpPr>
          <p:nvPr>
            <p:ph type="body" sz="quarter" idx="25" hasCustomPrompt="1"/>
          </p:nvPr>
        </p:nvSpPr>
        <p:spPr>
          <a:xfrm>
            <a:off x="2070649" y="4907475"/>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35" name="Espace réservé du texte 2">
            <a:extLst>
              <a:ext uri="{FF2B5EF4-FFF2-40B4-BE49-F238E27FC236}">
                <a16:creationId xmlns:a16="http://schemas.microsoft.com/office/drawing/2014/main" id="{EC68462F-C8AC-42F8-8533-DDFF4F811227}"/>
              </a:ext>
            </a:extLst>
          </p:cNvPr>
          <p:cNvSpPr>
            <a:spLocks noGrp="1"/>
          </p:cNvSpPr>
          <p:nvPr>
            <p:ph type="body" sz="quarter" idx="26" hasCustomPrompt="1"/>
          </p:nvPr>
        </p:nvSpPr>
        <p:spPr>
          <a:xfrm>
            <a:off x="2070478" y="5612397"/>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36" name="Espace réservé du texte 2">
            <a:extLst>
              <a:ext uri="{FF2B5EF4-FFF2-40B4-BE49-F238E27FC236}">
                <a16:creationId xmlns:a16="http://schemas.microsoft.com/office/drawing/2014/main" id="{81447CA9-FB5B-4187-8F4D-93B41DA3A967}"/>
              </a:ext>
            </a:extLst>
          </p:cNvPr>
          <p:cNvSpPr>
            <a:spLocks noGrp="1"/>
          </p:cNvSpPr>
          <p:nvPr>
            <p:ph type="body" sz="quarter" idx="27" hasCustomPrompt="1"/>
          </p:nvPr>
        </p:nvSpPr>
        <p:spPr>
          <a:xfrm>
            <a:off x="8166480" y="5276359"/>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37" name="Espace réservé du texte 7">
            <a:extLst>
              <a:ext uri="{FF2B5EF4-FFF2-40B4-BE49-F238E27FC236}">
                <a16:creationId xmlns:a16="http://schemas.microsoft.com/office/drawing/2014/main" id="{0F73E60B-42C2-4A34-ACC9-C7088B78525C}"/>
              </a:ext>
            </a:extLst>
          </p:cNvPr>
          <p:cNvSpPr>
            <a:spLocks noGrp="1"/>
          </p:cNvSpPr>
          <p:nvPr>
            <p:ph type="body" sz="quarter" idx="28" hasCustomPrompt="1"/>
          </p:nvPr>
        </p:nvSpPr>
        <p:spPr>
          <a:xfrm>
            <a:off x="8166650" y="4907475"/>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38" name="Espace réservé du texte 2">
            <a:extLst>
              <a:ext uri="{FF2B5EF4-FFF2-40B4-BE49-F238E27FC236}">
                <a16:creationId xmlns:a16="http://schemas.microsoft.com/office/drawing/2014/main" id="{49C3B38D-2793-42D0-BF50-D85E7583DF0C}"/>
              </a:ext>
            </a:extLst>
          </p:cNvPr>
          <p:cNvSpPr>
            <a:spLocks noGrp="1"/>
          </p:cNvSpPr>
          <p:nvPr>
            <p:ph type="body" sz="quarter" idx="29" hasCustomPrompt="1"/>
          </p:nvPr>
        </p:nvSpPr>
        <p:spPr>
          <a:xfrm>
            <a:off x="8166479" y="5612397"/>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39" name="Espace réservé pour une image  28">
            <a:extLst>
              <a:ext uri="{FF2B5EF4-FFF2-40B4-BE49-F238E27FC236}">
                <a16:creationId xmlns:a16="http://schemas.microsoft.com/office/drawing/2014/main" id="{025A7EE3-A293-4CE5-A296-6F6C0675A4D8}"/>
              </a:ext>
            </a:extLst>
          </p:cNvPr>
          <p:cNvSpPr>
            <a:spLocks noGrp="1"/>
          </p:cNvSpPr>
          <p:nvPr>
            <p:ph type="pic" sz="quarter" idx="30"/>
          </p:nvPr>
        </p:nvSpPr>
        <p:spPr>
          <a:xfrm>
            <a:off x="605075" y="4806133"/>
            <a:ext cx="1276490" cy="1276490"/>
          </a:xfrm>
        </p:spPr>
        <p:txBody>
          <a:bodyPr/>
          <a:lstStyle/>
          <a:p>
            <a:endParaRPr lang="fr-FR" dirty="0"/>
          </a:p>
        </p:txBody>
      </p:sp>
      <p:sp>
        <p:nvSpPr>
          <p:cNvPr id="40" name="Espace réservé pour une image  28">
            <a:extLst>
              <a:ext uri="{FF2B5EF4-FFF2-40B4-BE49-F238E27FC236}">
                <a16:creationId xmlns:a16="http://schemas.microsoft.com/office/drawing/2014/main" id="{58B8FE86-86C1-441B-A9E1-7F56F7FE16CD}"/>
              </a:ext>
            </a:extLst>
          </p:cNvPr>
          <p:cNvSpPr>
            <a:spLocks noGrp="1"/>
          </p:cNvSpPr>
          <p:nvPr>
            <p:ph type="pic" sz="quarter" idx="31"/>
          </p:nvPr>
        </p:nvSpPr>
        <p:spPr>
          <a:xfrm>
            <a:off x="6672359" y="4806133"/>
            <a:ext cx="1276490" cy="1276490"/>
          </a:xfrm>
        </p:spPr>
        <p:txBody>
          <a:bodyPr/>
          <a:lstStyle/>
          <a:p>
            <a:endParaRPr lang="fr-FR" dirty="0"/>
          </a:p>
        </p:txBody>
      </p:sp>
    </p:spTree>
    <p:extLst>
      <p:ext uri="{BB962C8B-B14F-4D97-AF65-F5344CB8AC3E}">
        <p14:creationId xmlns:p14="http://schemas.microsoft.com/office/powerpoint/2010/main" val="2543432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Quatre contacts - Simple">
    <p:spTree>
      <p:nvGrpSpPr>
        <p:cNvPr id="1" name=""/>
        <p:cNvGrpSpPr/>
        <p:nvPr/>
      </p:nvGrpSpPr>
      <p:grpSpPr>
        <a:xfrm>
          <a:off x="0" y="0"/>
          <a:ext cx="0" cy="0"/>
          <a:chOff x="0" y="0"/>
          <a:chExt cx="0" cy="0"/>
        </a:xfrm>
      </p:grpSpPr>
      <p:pic>
        <p:nvPicPr>
          <p:cNvPr id="32" name="Image 31">
            <a:extLst>
              <a:ext uri="{FF2B5EF4-FFF2-40B4-BE49-F238E27FC236}">
                <a16:creationId xmlns:a16="http://schemas.microsoft.com/office/drawing/2014/main" id="{3DFACCEE-0CE1-4E75-B770-B95542F71F9F}"/>
              </a:ext>
            </a:extLst>
          </p:cNvPr>
          <p:cNvPicPr>
            <a:picLocks noChangeAspect="1"/>
          </p:cNvPicPr>
          <p:nvPr userDrawn="1"/>
        </p:nvPicPr>
        <p:blipFill rotWithShape="1">
          <a:blip r:embed="rId2"/>
          <a:srcRect l="6023" t="26357" r="3307" b="9015"/>
          <a:stretch/>
        </p:blipFill>
        <p:spPr>
          <a:xfrm>
            <a:off x="-2" y="0"/>
            <a:ext cx="12192001" cy="3000726"/>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
        <p:nvSpPr>
          <p:cNvPr id="23" name="Espace réservé du texte 2">
            <a:extLst>
              <a:ext uri="{FF2B5EF4-FFF2-40B4-BE49-F238E27FC236}">
                <a16:creationId xmlns:a16="http://schemas.microsoft.com/office/drawing/2014/main" id="{D09F6D18-2595-4EC1-9B80-17B5DF57B884}"/>
              </a:ext>
            </a:extLst>
          </p:cNvPr>
          <p:cNvSpPr>
            <a:spLocks noGrp="1"/>
          </p:cNvSpPr>
          <p:nvPr>
            <p:ph type="body" sz="quarter" idx="13" hasCustomPrompt="1"/>
          </p:nvPr>
        </p:nvSpPr>
        <p:spPr>
          <a:xfrm>
            <a:off x="2070479" y="386568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4" name="Espace réservé du texte 7">
            <a:extLst>
              <a:ext uri="{FF2B5EF4-FFF2-40B4-BE49-F238E27FC236}">
                <a16:creationId xmlns:a16="http://schemas.microsoft.com/office/drawing/2014/main" id="{BAA21B26-FA6C-4B3D-8595-10AB27043886}"/>
              </a:ext>
            </a:extLst>
          </p:cNvPr>
          <p:cNvSpPr>
            <a:spLocks noGrp="1"/>
          </p:cNvSpPr>
          <p:nvPr>
            <p:ph type="body" sz="quarter" idx="14" hasCustomPrompt="1"/>
          </p:nvPr>
        </p:nvSpPr>
        <p:spPr>
          <a:xfrm>
            <a:off x="2070649" y="349679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5" name="Espace réservé du texte 2">
            <a:extLst>
              <a:ext uri="{FF2B5EF4-FFF2-40B4-BE49-F238E27FC236}">
                <a16:creationId xmlns:a16="http://schemas.microsoft.com/office/drawing/2014/main" id="{985867D1-FE95-4111-8DED-B87DFE389D33}"/>
              </a:ext>
            </a:extLst>
          </p:cNvPr>
          <p:cNvSpPr>
            <a:spLocks noGrp="1"/>
          </p:cNvSpPr>
          <p:nvPr>
            <p:ph type="body" sz="quarter" idx="18" hasCustomPrompt="1"/>
          </p:nvPr>
        </p:nvSpPr>
        <p:spPr>
          <a:xfrm>
            <a:off x="2070478" y="420171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6" name="Espace réservé du texte 2">
            <a:extLst>
              <a:ext uri="{FF2B5EF4-FFF2-40B4-BE49-F238E27FC236}">
                <a16:creationId xmlns:a16="http://schemas.microsoft.com/office/drawing/2014/main" id="{0A70E9B7-75C2-4BC2-BDBE-599C6F6DE647}"/>
              </a:ext>
            </a:extLst>
          </p:cNvPr>
          <p:cNvSpPr>
            <a:spLocks noGrp="1"/>
          </p:cNvSpPr>
          <p:nvPr>
            <p:ph type="body" sz="quarter" idx="19" hasCustomPrompt="1"/>
          </p:nvPr>
        </p:nvSpPr>
        <p:spPr>
          <a:xfrm>
            <a:off x="8166480" y="3865681"/>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27" name="Espace réservé du texte 7">
            <a:extLst>
              <a:ext uri="{FF2B5EF4-FFF2-40B4-BE49-F238E27FC236}">
                <a16:creationId xmlns:a16="http://schemas.microsoft.com/office/drawing/2014/main" id="{850ABEA2-D863-4E96-A2D2-DE23254D51B7}"/>
              </a:ext>
            </a:extLst>
          </p:cNvPr>
          <p:cNvSpPr>
            <a:spLocks noGrp="1"/>
          </p:cNvSpPr>
          <p:nvPr>
            <p:ph type="body" sz="quarter" idx="20" hasCustomPrompt="1"/>
          </p:nvPr>
        </p:nvSpPr>
        <p:spPr>
          <a:xfrm>
            <a:off x="8166650" y="3496797"/>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28" name="Espace réservé du texte 2">
            <a:extLst>
              <a:ext uri="{FF2B5EF4-FFF2-40B4-BE49-F238E27FC236}">
                <a16:creationId xmlns:a16="http://schemas.microsoft.com/office/drawing/2014/main" id="{BC394DF7-E322-4E8B-9F72-EB76DC3A7305}"/>
              </a:ext>
            </a:extLst>
          </p:cNvPr>
          <p:cNvSpPr>
            <a:spLocks noGrp="1"/>
          </p:cNvSpPr>
          <p:nvPr>
            <p:ph type="body" sz="quarter" idx="21" hasCustomPrompt="1"/>
          </p:nvPr>
        </p:nvSpPr>
        <p:spPr>
          <a:xfrm>
            <a:off x="8166479" y="4201719"/>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29" name="Espace réservé pour une image  28">
            <a:extLst>
              <a:ext uri="{FF2B5EF4-FFF2-40B4-BE49-F238E27FC236}">
                <a16:creationId xmlns:a16="http://schemas.microsoft.com/office/drawing/2014/main" id="{0FB520F8-7547-483A-9799-FB0265F8F658}"/>
              </a:ext>
            </a:extLst>
          </p:cNvPr>
          <p:cNvSpPr>
            <a:spLocks noGrp="1"/>
          </p:cNvSpPr>
          <p:nvPr>
            <p:ph type="pic" sz="quarter" idx="22"/>
          </p:nvPr>
        </p:nvSpPr>
        <p:spPr>
          <a:xfrm>
            <a:off x="605075" y="3395455"/>
            <a:ext cx="1276490" cy="1276490"/>
          </a:xfrm>
        </p:spPr>
        <p:txBody>
          <a:bodyPr/>
          <a:lstStyle/>
          <a:p>
            <a:endParaRPr lang="fr-FR" dirty="0"/>
          </a:p>
        </p:txBody>
      </p:sp>
      <p:sp>
        <p:nvSpPr>
          <p:cNvPr id="30" name="Espace réservé pour une image  28">
            <a:extLst>
              <a:ext uri="{FF2B5EF4-FFF2-40B4-BE49-F238E27FC236}">
                <a16:creationId xmlns:a16="http://schemas.microsoft.com/office/drawing/2014/main" id="{344E2336-1D71-4DED-9DDF-F5E00417F3DA}"/>
              </a:ext>
            </a:extLst>
          </p:cNvPr>
          <p:cNvSpPr>
            <a:spLocks noGrp="1"/>
          </p:cNvSpPr>
          <p:nvPr>
            <p:ph type="pic" sz="quarter" idx="23"/>
          </p:nvPr>
        </p:nvSpPr>
        <p:spPr>
          <a:xfrm>
            <a:off x="6672359" y="3395455"/>
            <a:ext cx="1276490" cy="1276490"/>
          </a:xfrm>
        </p:spPr>
        <p:txBody>
          <a:bodyPr/>
          <a:lstStyle/>
          <a:p>
            <a:endParaRPr lang="fr-FR" dirty="0"/>
          </a:p>
        </p:txBody>
      </p:sp>
      <p:pic>
        <p:nvPicPr>
          <p:cNvPr id="31" name="Image 30">
            <a:extLst>
              <a:ext uri="{FF2B5EF4-FFF2-40B4-BE49-F238E27FC236}">
                <a16:creationId xmlns:a16="http://schemas.microsoft.com/office/drawing/2014/main" id="{A1BD2EAB-0289-44E3-B9C6-5905B7E55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sp>
        <p:nvSpPr>
          <p:cNvPr id="33" name="Espace réservé du texte 2">
            <a:extLst>
              <a:ext uri="{FF2B5EF4-FFF2-40B4-BE49-F238E27FC236}">
                <a16:creationId xmlns:a16="http://schemas.microsoft.com/office/drawing/2014/main" id="{B1374249-1500-4F24-8711-5903A6FE0E62}"/>
              </a:ext>
            </a:extLst>
          </p:cNvPr>
          <p:cNvSpPr>
            <a:spLocks noGrp="1"/>
          </p:cNvSpPr>
          <p:nvPr>
            <p:ph type="body" sz="quarter" idx="24" hasCustomPrompt="1"/>
          </p:nvPr>
        </p:nvSpPr>
        <p:spPr>
          <a:xfrm>
            <a:off x="2070479" y="5276359"/>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34" name="Espace réservé du texte 7">
            <a:extLst>
              <a:ext uri="{FF2B5EF4-FFF2-40B4-BE49-F238E27FC236}">
                <a16:creationId xmlns:a16="http://schemas.microsoft.com/office/drawing/2014/main" id="{4350BCF6-2BCF-4D5A-AF50-4FEA33B5A916}"/>
              </a:ext>
            </a:extLst>
          </p:cNvPr>
          <p:cNvSpPr>
            <a:spLocks noGrp="1"/>
          </p:cNvSpPr>
          <p:nvPr>
            <p:ph type="body" sz="quarter" idx="25" hasCustomPrompt="1"/>
          </p:nvPr>
        </p:nvSpPr>
        <p:spPr>
          <a:xfrm>
            <a:off x="2070649" y="4907475"/>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35" name="Espace réservé du texte 2">
            <a:extLst>
              <a:ext uri="{FF2B5EF4-FFF2-40B4-BE49-F238E27FC236}">
                <a16:creationId xmlns:a16="http://schemas.microsoft.com/office/drawing/2014/main" id="{EC68462F-C8AC-42F8-8533-DDFF4F811227}"/>
              </a:ext>
            </a:extLst>
          </p:cNvPr>
          <p:cNvSpPr>
            <a:spLocks noGrp="1"/>
          </p:cNvSpPr>
          <p:nvPr>
            <p:ph type="body" sz="quarter" idx="26" hasCustomPrompt="1"/>
          </p:nvPr>
        </p:nvSpPr>
        <p:spPr>
          <a:xfrm>
            <a:off x="2070478" y="5612397"/>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36" name="Espace réservé du texte 2">
            <a:extLst>
              <a:ext uri="{FF2B5EF4-FFF2-40B4-BE49-F238E27FC236}">
                <a16:creationId xmlns:a16="http://schemas.microsoft.com/office/drawing/2014/main" id="{81447CA9-FB5B-4187-8F4D-93B41DA3A967}"/>
              </a:ext>
            </a:extLst>
          </p:cNvPr>
          <p:cNvSpPr>
            <a:spLocks noGrp="1"/>
          </p:cNvSpPr>
          <p:nvPr>
            <p:ph type="body" sz="quarter" idx="27" hasCustomPrompt="1"/>
          </p:nvPr>
        </p:nvSpPr>
        <p:spPr>
          <a:xfrm>
            <a:off x="8166480" y="5276359"/>
            <a:ext cx="3849858" cy="336038"/>
          </a:xfrm>
        </p:spPr>
        <p:txBody>
          <a:bodyPr anchor="ctr">
            <a:normAutofit/>
          </a:bodyPr>
          <a:lstStyle>
            <a:lvl1pPr marL="0" indent="0">
              <a:buNone/>
              <a:defRPr sz="1800">
                <a:solidFill>
                  <a:schemeClr val="tx1"/>
                </a:solidFill>
              </a:defRPr>
            </a:lvl1pPr>
          </a:lstStyle>
          <a:p>
            <a:pPr lvl="0"/>
            <a:r>
              <a:rPr lang="fr-FR" dirty="0"/>
              <a:t>Poste</a:t>
            </a:r>
          </a:p>
        </p:txBody>
      </p:sp>
      <p:sp>
        <p:nvSpPr>
          <p:cNvPr id="37" name="Espace réservé du texte 7">
            <a:extLst>
              <a:ext uri="{FF2B5EF4-FFF2-40B4-BE49-F238E27FC236}">
                <a16:creationId xmlns:a16="http://schemas.microsoft.com/office/drawing/2014/main" id="{0F73E60B-42C2-4A34-ACC9-C7088B78525C}"/>
              </a:ext>
            </a:extLst>
          </p:cNvPr>
          <p:cNvSpPr>
            <a:spLocks noGrp="1"/>
          </p:cNvSpPr>
          <p:nvPr>
            <p:ph type="body" sz="quarter" idx="28" hasCustomPrompt="1"/>
          </p:nvPr>
        </p:nvSpPr>
        <p:spPr>
          <a:xfrm>
            <a:off x="8166650" y="4907475"/>
            <a:ext cx="3849687" cy="343403"/>
          </a:xfrm>
        </p:spPr>
        <p:txBody>
          <a:bodyPr anchor="ctr">
            <a:noAutofit/>
          </a:bodyPr>
          <a:lstStyle>
            <a:lvl1pPr marL="0" indent="0">
              <a:buNone/>
              <a:defRPr sz="2400">
                <a:solidFill>
                  <a:schemeClr val="tx1"/>
                </a:solidFill>
                <a:latin typeface="+mj-lt"/>
              </a:defRPr>
            </a:lvl1pPr>
          </a:lstStyle>
          <a:p>
            <a:pPr lvl="0"/>
            <a:r>
              <a:rPr lang="fr-FR" dirty="0"/>
              <a:t>Prénom NOM</a:t>
            </a:r>
          </a:p>
        </p:txBody>
      </p:sp>
      <p:sp>
        <p:nvSpPr>
          <p:cNvPr id="38" name="Espace réservé du texte 2">
            <a:extLst>
              <a:ext uri="{FF2B5EF4-FFF2-40B4-BE49-F238E27FC236}">
                <a16:creationId xmlns:a16="http://schemas.microsoft.com/office/drawing/2014/main" id="{49C3B38D-2793-42D0-BF50-D85E7583DF0C}"/>
              </a:ext>
            </a:extLst>
          </p:cNvPr>
          <p:cNvSpPr>
            <a:spLocks noGrp="1"/>
          </p:cNvSpPr>
          <p:nvPr>
            <p:ph type="body" sz="quarter" idx="29" hasCustomPrompt="1"/>
          </p:nvPr>
        </p:nvSpPr>
        <p:spPr>
          <a:xfrm>
            <a:off x="8166479" y="5612397"/>
            <a:ext cx="3849858" cy="336038"/>
          </a:xfrm>
        </p:spPr>
        <p:txBody>
          <a:bodyPr anchor="ctr">
            <a:noAutofit/>
          </a:bodyPr>
          <a:lstStyle>
            <a:lvl1pPr marL="0" indent="0">
              <a:buNone/>
              <a:defRPr sz="1800">
                <a:solidFill>
                  <a:schemeClr val="tx1"/>
                </a:solidFill>
              </a:defRPr>
            </a:lvl1pPr>
          </a:lstStyle>
          <a:p>
            <a:pPr lvl="0"/>
            <a:r>
              <a:rPr lang="fr-FR" dirty="0"/>
              <a:t>Adresse email</a:t>
            </a:r>
          </a:p>
        </p:txBody>
      </p:sp>
      <p:sp>
        <p:nvSpPr>
          <p:cNvPr id="39" name="Espace réservé pour une image  28">
            <a:extLst>
              <a:ext uri="{FF2B5EF4-FFF2-40B4-BE49-F238E27FC236}">
                <a16:creationId xmlns:a16="http://schemas.microsoft.com/office/drawing/2014/main" id="{025A7EE3-A293-4CE5-A296-6F6C0675A4D8}"/>
              </a:ext>
            </a:extLst>
          </p:cNvPr>
          <p:cNvSpPr>
            <a:spLocks noGrp="1"/>
          </p:cNvSpPr>
          <p:nvPr>
            <p:ph type="pic" sz="quarter" idx="30"/>
          </p:nvPr>
        </p:nvSpPr>
        <p:spPr>
          <a:xfrm>
            <a:off x="605075" y="4806133"/>
            <a:ext cx="1276490" cy="1276490"/>
          </a:xfrm>
        </p:spPr>
        <p:txBody>
          <a:bodyPr/>
          <a:lstStyle/>
          <a:p>
            <a:endParaRPr lang="fr-FR" dirty="0"/>
          </a:p>
        </p:txBody>
      </p:sp>
      <p:sp>
        <p:nvSpPr>
          <p:cNvPr id="40" name="Espace réservé pour une image  28">
            <a:extLst>
              <a:ext uri="{FF2B5EF4-FFF2-40B4-BE49-F238E27FC236}">
                <a16:creationId xmlns:a16="http://schemas.microsoft.com/office/drawing/2014/main" id="{58B8FE86-86C1-441B-A9E1-7F56F7FE16CD}"/>
              </a:ext>
            </a:extLst>
          </p:cNvPr>
          <p:cNvSpPr>
            <a:spLocks noGrp="1"/>
          </p:cNvSpPr>
          <p:nvPr>
            <p:ph type="pic" sz="quarter" idx="31"/>
          </p:nvPr>
        </p:nvSpPr>
        <p:spPr>
          <a:xfrm>
            <a:off x="6672359" y="4806133"/>
            <a:ext cx="1276490" cy="1276490"/>
          </a:xfrm>
        </p:spPr>
        <p:txBody>
          <a:bodyPr/>
          <a:lstStyle/>
          <a:p>
            <a:endParaRPr lang="fr-FR" dirty="0"/>
          </a:p>
        </p:txBody>
      </p:sp>
      <p:sp>
        <p:nvSpPr>
          <p:cNvPr id="41" name="Title 1">
            <a:extLst>
              <a:ext uri="{FF2B5EF4-FFF2-40B4-BE49-F238E27FC236}">
                <a16:creationId xmlns:a16="http://schemas.microsoft.com/office/drawing/2014/main" id="{A644C361-9B40-44F4-904B-8A81256A4547}"/>
              </a:ext>
            </a:extLst>
          </p:cNvPr>
          <p:cNvSpPr>
            <a:spLocks noGrp="1"/>
          </p:cNvSpPr>
          <p:nvPr>
            <p:ph type="title" hasCustomPrompt="1"/>
          </p:nvPr>
        </p:nvSpPr>
        <p:spPr>
          <a:xfrm>
            <a:off x="838200" y="20742"/>
            <a:ext cx="10515600" cy="1104674"/>
          </a:xfrm>
        </p:spPr>
        <p:txBody>
          <a:bodyPr/>
          <a:lstStyle>
            <a:lvl1pPr algn="ctr">
              <a:defRPr>
                <a:solidFill>
                  <a:schemeClr val="bg1"/>
                </a:solidFill>
              </a:defRPr>
            </a:lvl1pPr>
          </a:lstStyle>
          <a:p>
            <a:r>
              <a:rPr lang="fr-FR" dirty="0"/>
              <a:t>Contacts</a:t>
            </a:r>
            <a:endParaRPr lang="en-US" dirty="0"/>
          </a:p>
        </p:txBody>
      </p:sp>
    </p:spTree>
    <p:extLst>
      <p:ext uri="{BB962C8B-B14F-4D97-AF65-F5344CB8AC3E}">
        <p14:creationId xmlns:p14="http://schemas.microsoft.com/office/powerpoint/2010/main" val="216252150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Fi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C5FE29B-A3D7-4FDB-A699-563DD001430C}"/>
              </a:ext>
            </a:extLst>
          </p:cNvPr>
          <p:cNvSpPr/>
          <p:nvPr userDrawn="1"/>
        </p:nvSpPr>
        <p:spPr>
          <a:xfrm>
            <a:off x="0" y="0"/>
            <a:ext cx="12192000" cy="409905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14B9ABD7-94D1-4A98-99B3-203C85F01553}"/>
              </a:ext>
            </a:extLst>
          </p:cNvPr>
          <p:cNvSpPr/>
          <p:nvPr userDrawn="1"/>
        </p:nvSpPr>
        <p:spPr>
          <a:xfrm rot="5400000">
            <a:off x="4046473" y="-1281752"/>
            <a:ext cx="4099055" cy="12192002"/>
          </a:xfrm>
          <a:prstGeom prst="round2DiagRect">
            <a:avLst>
              <a:gd name="adj1" fmla="val 23958"/>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Date Placeholder 3"/>
          <p:cNvSpPr>
            <a:spLocks noGrp="1"/>
          </p:cNvSpPr>
          <p:nvPr>
            <p:ph type="dt" sz="half" idx="10"/>
          </p:nvPr>
        </p:nvSpPr>
        <p:spPr/>
        <p:txBody>
          <a:bodyPr/>
          <a:lstStyle>
            <a:lvl1pPr>
              <a:defRPr>
                <a:solidFill>
                  <a:schemeClr val="bg1"/>
                </a:solidFill>
              </a:defRPr>
            </a:lvl1pPr>
          </a:lstStyle>
          <a:p>
            <a:fld id="{C49F77DB-28EA-41FA-80F6-1A44DFC872EC}" type="datetime1">
              <a:rPr lang="fr-FR" smtClean="0"/>
              <a:t>10/07/2025</a:t>
            </a:fld>
            <a:endParaRPr lang="fr-FR"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fr-FR" dirty="0"/>
          </a:p>
        </p:txBody>
      </p:sp>
      <p:pic>
        <p:nvPicPr>
          <p:cNvPr id="9" name="Image 8">
            <a:extLst>
              <a:ext uri="{FF2B5EF4-FFF2-40B4-BE49-F238E27FC236}">
                <a16:creationId xmlns:a16="http://schemas.microsoft.com/office/drawing/2014/main" id="{B016F367-151D-4D4E-8214-BE93B2BCED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22511" y="4223382"/>
            <a:ext cx="4346971" cy="1138702"/>
          </a:xfrm>
          <a:prstGeom prst="rect">
            <a:avLst/>
          </a:prstGeom>
        </p:spPr>
      </p:pic>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356446" y="1981734"/>
            <a:ext cx="1479100" cy="1522942"/>
          </a:xfrm>
          <a:prstGeom prst="rect">
            <a:avLst/>
          </a:prstGeom>
        </p:spPr>
      </p:pic>
      <p:pic>
        <p:nvPicPr>
          <p:cNvPr id="16" name="Graphique 15">
            <a:extLst>
              <a:ext uri="{FF2B5EF4-FFF2-40B4-BE49-F238E27FC236}">
                <a16:creationId xmlns:a16="http://schemas.microsoft.com/office/drawing/2014/main" id="{C47884EB-ACAA-4C86-9A79-D982E6B3ADD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532" y="140617"/>
            <a:ext cx="5334001" cy="676763"/>
          </a:xfrm>
          <a:prstGeom prst="rect">
            <a:avLst/>
          </a:prstGeom>
        </p:spPr>
      </p:pic>
    </p:spTree>
    <p:extLst>
      <p:ext uri="{BB962C8B-B14F-4D97-AF65-F5344CB8AC3E}">
        <p14:creationId xmlns:p14="http://schemas.microsoft.com/office/powerpoint/2010/main" val="20235793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Fin avec contacts">
    <p:spTree>
      <p:nvGrpSpPr>
        <p:cNvPr id="1" name=""/>
        <p:cNvGrpSpPr/>
        <p:nvPr/>
      </p:nvGrpSpPr>
      <p:grpSpPr>
        <a:xfrm>
          <a:off x="0" y="0"/>
          <a:ext cx="0" cy="0"/>
          <a:chOff x="0" y="0"/>
          <a:chExt cx="0" cy="0"/>
        </a:xfrm>
      </p:grpSpPr>
      <p:grpSp>
        <p:nvGrpSpPr>
          <p:cNvPr id="24" name="Groupe 23">
            <a:extLst>
              <a:ext uri="{FF2B5EF4-FFF2-40B4-BE49-F238E27FC236}">
                <a16:creationId xmlns:a16="http://schemas.microsoft.com/office/drawing/2014/main" id="{9E8C5E56-7334-42BA-A593-C5C3A56AFA82}"/>
              </a:ext>
            </a:extLst>
          </p:cNvPr>
          <p:cNvGrpSpPr/>
          <p:nvPr userDrawn="1"/>
        </p:nvGrpSpPr>
        <p:grpSpPr>
          <a:xfrm>
            <a:off x="0" y="0"/>
            <a:ext cx="12192002" cy="6863776"/>
            <a:chOff x="0" y="0"/>
            <a:chExt cx="12192002" cy="6863776"/>
          </a:xfrm>
        </p:grpSpPr>
        <p:sp>
          <p:nvSpPr>
            <p:cNvPr id="12" name="Rectangle 11">
              <a:extLst>
                <a:ext uri="{FF2B5EF4-FFF2-40B4-BE49-F238E27FC236}">
                  <a16:creationId xmlns:a16="http://schemas.microsoft.com/office/drawing/2014/main" id="{9C5FE29B-A3D7-4FDB-A699-563DD001430C}"/>
                </a:ext>
              </a:extLst>
            </p:cNvPr>
            <p:cNvSpPr/>
            <p:nvPr userDrawn="1"/>
          </p:nvSpPr>
          <p:spPr>
            <a:xfrm>
              <a:off x="0" y="0"/>
              <a:ext cx="12192000" cy="409905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avec coins arrondis en diagonale 6">
              <a:extLst>
                <a:ext uri="{FF2B5EF4-FFF2-40B4-BE49-F238E27FC236}">
                  <a16:creationId xmlns:a16="http://schemas.microsoft.com/office/drawing/2014/main" id="{14B9ABD7-94D1-4A98-99B3-203C85F01553}"/>
                </a:ext>
              </a:extLst>
            </p:cNvPr>
            <p:cNvSpPr/>
            <p:nvPr userDrawn="1"/>
          </p:nvSpPr>
          <p:spPr>
            <a:xfrm rot="5400000">
              <a:off x="4046473" y="-1281752"/>
              <a:ext cx="4099055" cy="12192002"/>
            </a:xfrm>
            <a:prstGeom prst="round2DiagRect">
              <a:avLst>
                <a:gd name="adj1" fmla="val 23958"/>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4" name="Date Placeholder 3"/>
          <p:cNvSpPr>
            <a:spLocks noGrp="1"/>
          </p:cNvSpPr>
          <p:nvPr>
            <p:ph type="dt" sz="half" idx="10"/>
          </p:nvPr>
        </p:nvSpPr>
        <p:spPr/>
        <p:txBody>
          <a:bodyPr/>
          <a:lstStyle>
            <a:lvl1pPr>
              <a:defRPr>
                <a:solidFill>
                  <a:schemeClr val="bg1"/>
                </a:solidFill>
              </a:defRPr>
            </a:lvl1pPr>
          </a:lstStyle>
          <a:p>
            <a:fld id="{C49F77DB-28EA-41FA-80F6-1A44DFC872EC}" type="datetime1">
              <a:rPr lang="fr-FR" smtClean="0"/>
              <a:t>10/07/2025</a:t>
            </a:fld>
            <a:endParaRPr lang="fr-FR"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fr-FR" dirty="0"/>
          </a:p>
        </p:txBody>
      </p:sp>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58027" y="4105059"/>
            <a:ext cx="1046744" cy="1077771"/>
          </a:xfrm>
          <a:prstGeom prst="rect">
            <a:avLst/>
          </a:prstGeom>
        </p:spPr>
      </p:pic>
      <p:pic>
        <p:nvPicPr>
          <p:cNvPr id="16" name="Graphique 15">
            <a:extLst>
              <a:ext uri="{FF2B5EF4-FFF2-40B4-BE49-F238E27FC236}">
                <a16:creationId xmlns:a16="http://schemas.microsoft.com/office/drawing/2014/main" id="{C47884EB-ACAA-4C86-9A79-D982E6B3ADD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532" y="140617"/>
            <a:ext cx="5334001" cy="676763"/>
          </a:xfrm>
          <a:prstGeom prst="rect">
            <a:avLst/>
          </a:prstGeom>
        </p:spPr>
      </p:pic>
      <p:sp>
        <p:nvSpPr>
          <p:cNvPr id="13" name="Title 1">
            <a:extLst>
              <a:ext uri="{FF2B5EF4-FFF2-40B4-BE49-F238E27FC236}">
                <a16:creationId xmlns:a16="http://schemas.microsoft.com/office/drawing/2014/main" id="{9972A763-34AA-49EC-9F35-37365344A32D}"/>
              </a:ext>
            </a:extLst>
          </p:cNvPr>
          <p:cNvSpPr>
            <a:spLocks noGrp="1"/>
          </p:cNvSpPr>
          <p:nvPr>
            <p:ph type="title" hasCustomPrompt="1"/>
          </p:nvPr>
        </p:nvSpPr>
        <p:spPr>
          <a:xfrm>
            <a:off x="942535" y="2045142"/>
            <a:ext cx="5334001" cy="1325563"/>
          </a:xfrm>
        </p:spPr>
        <p:txBody>
          <a:bodyPr/>
          <a:lstStyle>
            <a:lvl1pPr algn="ctr">
              <a:defRPr>
                <a:solidFill>
                  <a:schemeClr val="bg1"/>
                </a:solidFill>
              </a:defRPr>
            </a:lvl1pPr>
          </a:lstStyle>
          <a:p>
            <a:r>
              <a:rPr lang="fr-FR" dirty="0"/>
              <a:t>Merci !</a:t>
            </a:r>
            <a:endParaRPr lang="en-US" dirty="0"/>
          </a:p>
        </p:txBody>
      </p:sp>
      <p:sp>
        <p:nvSpPr>
          <p:cNvPr id="3" name="Espace réservé du texte 2">
            <a:extLst>
              <a:ext uri="{FF2B5EF4-FFF2-40B4-BE49-F238E27FC236}">
                <a16:creationId xmlns:a16="http://schemas.microsoft.com/office/drawing/2014/main" id="{BF70554F-1181-4E4E-A43E-47AEF948FE36}"/>
              </a:ext>
            </a:extLst>
          </p:cNvPr>
          <p:cNvSpPr>
            <a:spLocks noGrp="1"/>
          </p:cNvSpPr>
          <p:nvPr>
            <p:ph type="body" sz="quarter" idx="12" hasCustomPrompt="1"/>
          </p:nvPr>
        </p:nvSpPr>
        <p:spPr>
          <a:xfrm>
            <a:off x="8342143" y="1776436"/>
            <a:ext cx="3849858" cy="336038"/>
          </a:xfrm>
        </p:spPr>
        <p:txBody>
          <a:bodyPr anchor="ctr">
            <a:normAutofit/>
          </a:bodyPr>
          <a:lstStyle>
            <a:lvl1pPr marL="0" indent="0">
              <a:buNone/>
              <a:defRPr sz="1800">
                <a:solidFill>
                  <a:schemeClr val="bg1"/>
                </a:solidFill>
              </a:defRPr>
            </a:lvl1pPr>
          </a:lstStyle>
          <a:p>
            <a:pPr lvl="0"/>
            <a:r>
              <a:rPr lang="fr-FR" dirty="0"/>
              <a:t>Poste</a:t>
            </a:r>
          </a:p>
        </p:txBody>
      </p:sp>
      <p:sp>
        <p:nvSpPr>
          <p:cNvPr id="8" name="Espace réservé du texte 7">
            <a:extLst>
              <a:ext uri="{FF2B5EF4-FFF2-40B4-BE49-F238E27FC236}">
                <a16:creationId xmlns:a16="http://schemas.microsoft.com/office/drawing/2014/main" id="{183CD77E-4F26-4331-BAB4-15DC1E22B230}"/>
              </a:ext>
            </a:extLst>
          </p:cNvPr>
          <p:cNvSpPr>
            <a:spLocks noGrp="1"/>
          </p:cNvSpPr>
          <p:nvPr>
            <p:ph type="body" sz="quarter" idx="13" hasCustomPrompt="1"/>
          </p:nvPr>
        </p:nvSpPr>
        <p:spPr>
          <a:xfrm>
            <a:off x="8342313" y="1407552"/>
            <a:ext cx="3849687" cy="343403"/>
          </a:xfrm>
        </p:spPr>
        <p:txBody>
          <a:bodyPr anchor="ctr">
            <a:noAutofit/>
          </a:bodyPr>
          <a:lstStyle>
            <a:lvl1pPr marL="0" indent="0">
              <a:buNone/>
              <a:defRPr sz="2400">
                <a:solidFill>
                  <a:schemeClr val="bg1"/>
                </a:solidFill>
                <a:latin typeface="+mj-lt"/>
              </a:defRPr>
            </a:lvl1pPr>
          </a:lstStyle>
          <a:p>
            <a:pPr lvl="0"/>
            <a:r>
              <a:rPr lang="fr-FR" dirty="0"/>
              <a:t>Prénom NOM</a:t>
            </a:r>
          </a:p>
        </p:txBody>
      </p:sp>
      <p:sp>
        <p:nvSpPr>
          <p:cNvPr id="21" name="Espace réservé du texte 7">
            <a:extLst>
              <a:ext uri="{FF2B5EF4-FFF2-40B4-BE49-F238E27FC236}">
                <a16:creationId xmlns:a16="http://schemas.microsoft.com/office/drawing/2014/main" id="{82F23BCB-97AB-4C1D-A378-BE7741039AA9}"/>
              </a:ext>
            </a:extLst>
          </p:cNvPr>
          <p:cNvSpPr>
            <a:spLocks noGrp="1"/>
          </p:cNvSpPr>
          <p:nvPr>
            <p:ph type="body" sz="quarter" idx="15" hasCustomPrompt="1"/>
          </p:nvPr>
        </p:nvSpPr>
        <p:spPr>
          <a:xfrm>
            <a:off x="8368103" y="2966721"/>
            <a:ext cx="3849687" cy="343403"/>
          </a:xfrm>
        </p:spPr>
        <p:txBody>
          <a:bodyPr anchor="ctr">
            <a:noAutofit/>
          </a:bodyPr>
          <a:lstStyle>
            <a:lvl1pPr marL="0" indent="0">
              <a:buNone/>
              <a:defRPr sz="2400">
                <a:solidFill>
                  <a:schemeClr val="bg1"/>
                </a:solidFill>
                <a:latin typeface="+mj-lt"/>
              </a:defRPr>
            </a:lvl1pPr>
          </a:lstStyle>
          <a:p>
            <a:pPr lvl="0"/>
            <a:r>
              <a:rPr lang="fr-FR" dirty="0"/>
              <a:t>Prénom NOM</a:t>
            </a:r>
          </a:p>
        </p:txBody>
      </p:sp>
      <p:sp>
        <p:nvSpPr>
          <p:cNvPr id="23" name="Espace réservé du texte 7">
            <a:extLst>
              <a:ext uri="{FF2B5EF4-FFF2-40B4-BE49-F238E27FC236}">
                <a16:creationId xmlns:a16="http://schemas.microsoft.com/office/drawing/2014/main" id="{7429A49F-385C-4C59-969F-A187C3D86F79}"/>
              </a:ext>
            </a:extLst>
          </p:cNvPr>
          <p:cNvSpPr>
            <a:spLocks noGrp="1"/>
          </p:cNvSpPr>
          <p:nvPr>
            <p:ph type="body" sz="quarter" idx="17" hasCustomPrompt="1"/>
          </p:nvPr>
        </p:nvSpPr>
        <p:spPr>
          <a:xfrm>
            <a:off x="8367933" y="4525890"/>
            <a:ext cx="3849687" cy="343403"/>
          </a:xfrm>
        </p:spPr>
        <p:txBody>
          <a:bodyPr anchor="ctr">
            <a:noAutofit/>
          </a:bodyPr>
          <a:lstStyle>
            <a:lvl1pPr marL="0" indent="0">
              <a:buNone/>
              <a:defRPr sz="2400">
                <a:solidFill>
                  <a:schemeClr val="bg1"/>
                </a:solidFill>
                <a:latin typeface="+mj-lt"/>
              </a:defRPr>
            </a:lvl1pPr>
          </a:lstStyle>
          <a:p>
            <a:pPr lvl="0"/>
            <a:r>
              <a:rPr lang="fr-FR" dirty="0"/>
              <a:t>Prénom NOM</a:t>
            </a:r>
          </a:p>
        </p:txBody>
      </p:sp>
      <p:pic>
        <p:nvPicPr>
          <p:cNvPr id="30" name="Image 29">
            <a:extLst>
              <a:ext uri="{FF2B5EF4-FFF2-40B4-BE49-F238E27FC236}">
                <a16:creationId xmlns:a16="http://schemas.microsoft.com/office/drawing/2014/main" id="{421E7A2D-3B5E-470D-BAE2-AC60E2FDB352}"/>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47500" t="10051" r="48538" b="4205"/>
          <a:stretch/>
        </p:blipFill>
        <p:spPr>
          <a:xfrm>
            <a:off x="7465291" y="1430199"/>
            <a:ext cx="332935" cy="4053393"/>
          </a:xfrm>
          <a:prstGeom prst="rect">
            <a:avLst/>
          </a:prstGeom>
        </p:spPr>
      </p:pic>
      <p:sp>
        <p:nvSpPr>
          <p:cNvPr id="18" name="Espace réservé du texte 2">
            <a:extLst>
              <a:ext uri="{FF2B5EF4-FFF2-40B4-BE49-F238E27FC236}">
                <a16:creationId xmlns:a16="http://schemas.microsoft.com/office/drawing/2014/main" id="{D62446EE-6588-4308-8CAB-561EB4B5E970}"/>
              </a:ext>
            </a:extLst>
          </p:cNvPr>
          <p:cNvSpPr>
            <a:spLocks noGrp="1"/>
          </p:cNvSpPr>
          <p:nvPr>
            <p:ph type="body" sz="quarter" idx="18" hasCustomPrompt="1"/>
          </p:nvPr>
        </p:nvSpPr>
        <p:spPr>
          <a:xfrm>
            <a:off x="8342142" y="2112474"/>
            <a:ext cx="3849858" cy="336038"/>
          </a:xfrm>
        </p:spPr>
        <p:txBody>
          <a:bodyPr anchor="ctr">
            <a:noAutofit/>
          </a:bodyPr>
          <a:lstStyle>
            <a:lvl1pPr marL="0" indent="0">
              <a:buNone/>
              <a:defRPr sz="1800">
                <a:solidFill>
                  <a:schemeClr val="bg1"/>
                </a:solidFill>
              </a:defRPr>
            </a:lvl1pPr>
          </a:lstStyle>
          <a:p>
            <a:pPr lvl="0"/>
            <a:r>
              <a:rPr lang="fr-FR" dirty="0"/>
              <a:t>Adresse email</a:t>
            </a:r>
          </a:p>
        </p:txBody>
      </p:sp>
      <p:sp>
        <p:nvSpPr>
          <p:cNvPr id="19" name="Espace réservé du texte 2">
            <a:extLst>
              <a:ext uri="{FF2B5EF4-FFF2-40B4-BE49-F238E27FC236}">
                <a16:creationId xmlns:a16="http://schemas.microsoft.com/office/drawing/2014/main" id="{B5149DF6-D8FB-4B4A-B4FA-3E8F42A309A2}"/>
              </a:ext>
            </a:extLst>
          </p:cNvPr>
          <p:cNvSpPr>
            <a:spLocks noGrp="1"/>
          </p:cNvSpPr>
          <p:nvPr>
            <p:ph type="body" sz="quarter" idx="19" hasCustomPrompt="1"/>
          </p:nvPr>
        </p:nvSpPr>
        <p:spPr>
          <a:xfrm>
            <a:off x="8367764" y="3326815"/>
            <a:ext cx="3849858" cy="336038"/>
          </a:xfrm>
        </p:spPr>
        <p:txBody>
          <a:bodyPr anchor="ctr">
            <a:normAutofit/>
          </a:bodyPr>
          <a:lstStyle>
            <a:lvl1pPr marL="0" indent="0">
              <a:buNone/>
              <a:defRPr sz="1800">
                <a:solidFill>
                  <a:schemeClr val="bg1"/>
                </a:solidFill>
              </a:defRPr>
            </a:lvl1pPr>
          </a:lstStyle>
          <a:p>
            <a:pPr lvl="0"/>
            <a:r>
              <a:rPr lang="fr-FR" dirty="0"/>
              <a:t>Poste</a:t>
            </a:r>
          </a:p>
        </p:txBody>
      </p:sp>
      <p:sp>
        <p:nvSpPr>
          <p:cNvPr id="25" name="Espace réservé du texte 2">
            <a:extLst>
              <a:ext uri="{FF2B5EF4-FFF2-40B4-BE49-F238E27FC236}">
                <a16:creationId xmlns:a16="http://schemas.microsoft.com/office/drawing/2014/main" id="{4B404841-4C37-4019-BA28-EFDFBEF2AC33}"/>
              </a:ext>
            </a:extLst>
          </p:cNvPr>
          <p:cNvSpPr>
            <a:spLocks noGrp="1"/>
          </p:cNvSpPr>
          <p:nvPr>
            <p:ph type="body" sz="quarter" idx="20" hasCustomPrompt="1"/>
          </p:nvPr>
        </p:nvSpPr>
        <p:spPr>
          <a:xfrm>
            <a:off x="8367763" y="3662853"/>
            <a:ext cx="3849858" cy="336038"/>
          </a:xfrm>
        </p:spPr>
        <p:txBody>
          <a:bodyPr anchor="ctr">
            <a:noAutofit/>
          </a:bodyPr>
          <a:lstStyle>
            <a:lvl1pPr marL="0" indent="0">
              <a:buNone/>
              <a:defRPr sz="1800">
                <a:solidFill>
                  <a:schemeClr val="bg1"/>
                </a:solidFill>
              </a:defRPr>
            </a:lvl1pPr>
          </a:lstStyle>
          <a:p>
            <a:pPr lvl="0"/>
            <a:r>
              <a:rPr lang="fr-FR" dirty="0"/>
              <a:t>Adresse email</a:t>
            </a:r>
          </a:p>
        </p:txBody>
      </p:sp>
      <p:sp>
        <p:nvSpPr>
          <p:cNvPr id="26" name="Espace réservé du texte 2">
            <a:extLst>
              <a:ext uri="{FF2B5EF4-FFF2-40B4-BE49-F238E27FC236}">
                <a16:creationId xmlns:a16="http://schemas.microsoft.com/office/drawing/2014/main" id="{C576CB9F-6FF8-4073-B40A-34E2596C85C1}"/>
              </a:ext>
            </a:extLst>
          </p:cNvPr>
          <p:cNvSpPr>
            <a:spLocks noGrp="1"/>
          </p:cNvSpPr>
          <p:nvPr>
            <p:ph type="body" sz="quarter" idx="21" hasCustomPrompt="1"/>
          </p:nvPr>
        </p:nvSpPr>
        <p:spPr>
          <a:xfrm>
            <a:off x="8367764" y="4874363"/>
            <a:ext cx="3849858" cy="336038"/>
          </a:xfrm>
        </p:spPr>
        <p:txBody>
          <a:bodyPr anchor="ctr">
            <a:normAutofit/>
          </a:bodyPr>
          <a:lstStyle>
            <a:lvl1pPr marL="0" indent="0">
              <a:buNone/>
              <a:defRPr sz="1800">
                <a:solidFill>
                  <a:schemeClr val="bg1"/>
                </a:solidFill>
              </a:defRPr>
            </a:lvl1pPr>
          </a:lstStyle>
          <a:p>
            <a:pPr lvl="0"/>
            <a:r>
              <a:rPr lang="fr-FR" dirty="0"/>
              <a:t>Poste</a:t>
            </a:r>
          </a:p>
        </p:txBody>
      </p:sp>
      <p:sp>
        <p:nvSpPr>
          <p:cNvPr id="28" name="Espace réservé du texte 2">
            <a:extLst>
              <a:ext uri="{FF2B5EF4-FFF2-40B4-BE49-F238E27FC236}">
                <a16:creationId xmlns:a16="http://schemas.microsoft.com/office/drawing/2014/main" id="{F2B719FE-4211-47DE-B508-BFF6ED9BF9C1}"/>
              </a:ext>
            </a:extLst>
          </p:cNvPr>
          <p:cNvSpPr>
            <a:spLocks noGrp="1"/>
          </p:cNvSpPr>
          <p:nvPr>
            <p:ph type="body" sz="quarter" idx="22" hasCustomPrompt="1"/>
          </p:nvPr>
        </p:nvSpPr>
        <p:spPr>
          <a:xfrm>
            <a:off x="8367763" y="5210401"/>
            <a:ext cx="3849858" cy="336038"/>
          </a:xfrm>
        </p:spPr>
        <p:txBody>
          <a:bodyPr anchor="ctr">
            <a:noAutofit/>
          </a:bodyPr>
          <a:lstStyle>
            <a:lvl1pPr marL="0" indent="0">
              <a:buNone/>
              <a:defRPr sz="1800">
                <a:solidFill>
                  <a:schemeClr val="bg1"/>
                </a:solidFill>
              </a:defRPr>
            </a:lvl1pPr>
          </a:lstStyle>
          <a:p>
            <a:pPr lvl="0"/>
            <a:r>
              <a:rPr lang="fr-FR" dirty="0"/>
              <a:t>Adresse email</a:t>
            </a:r>
          </a:p>
        </p:txBody>
      </p:sp>
    </p:spTree>
    <p:extLst>
      <p:ext uri="{BB962C8B-B14F-4D97-AF65-F5344CB8AC3E}">
        <p14:creationId xmlns:p14="http://schemas.microsoft.com/office/powerpoint/2010/main" val="121948745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9E7EB12-65FC-643E-0176-52947BFA932E}"/>
              </a:ext>
            </a:extLst>
          </p:cNvPr>
          <p:cNvSpPr>
            <a:spLocks noGrp="1"/>
          </p:cNvSpPr>
          <p:nvPr>
            <p:ph type="sldNum" sz="quarter" idx="10"/>
          </p:nvPr>
        </p:nvSpPr>
        <p:spPr/>
        <p:txBody>
          <a:bodyPr/>
          <a:lstStyle/>
          <a:p>
            <a:fld id="{B1356FBF-028C-F74E-A7B4-9B8ED246DD1B}" type="slidenum">
              <a:rPr lang="en-US" smtClean="0"/>
              <a:pPr/>
              <a:t>‹N°›</a:t>
            </a:fld>
            <a:endParaRPr lang="en-US"/>
          </a:p>
        </p:txBody>
      </p:sp>
      <p:sp>
        <p:nvSpPr>
          <p:cNvPr id="4" name="Footer Placeholder 3">
            <a:extLst>
              <a:ext uri="{FF2B5EF4-FFF2-40B4-BE49-F238E27FC236}">
                <a16:creationId xmlns:a16="http://schemas.microsoft.com/office/drawing/2014/main" id="{21F17F31-F4C0-C97A-C10B-6C9854C006B5}"/>
              </a:ext>
            </a:extLst>
          </p:cNvPr>
          <p:cNvSpPr>
            <a:spLocks noGrp="1"/>
          </p:cNvSpPr>
          <p:nvPr>
            <p:ph type="ftr" sz="quarter" idx="11"/>
          </p:nvPr>
        </p:nvSpPr>
        <p:spPr/>
        <p:txBody>
          <a:bodyPr/>
          <a:lstStyle/>
          <a:p>
            <a:r>
              <a:rPr lang="en-US"/>
              <a:t>Microsoft Fabric</a:t>
            </a:r>
          </a:p>
        </p:txBody>
      </p:sp>
    </p:spTree>
    <p:extLst>
      <p:ext uri="{BB962C8B-B14F-4D97-AF65-F5344CB8AC3E}">
        <p14:creationId xmlns:p14="http://schemas.microsoft.com/office/powerpoint/2010/main" val="161778294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Expertime, Digital Success Partn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08DE0D6-341A-4E80-82A6-6C6740D222C3}"/>
              </a:ext>
            </a:extLst>
          </p:cNvPr>
          <p:cNvSpPr/>
          <p:nvPr userDrawn="1"/>
        </p:nvSpPr>
        <p:spPr>
          <a:xfrm>
            <a:off x="-1" y="0"/>
            <a:ext cx="12192001"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Rectangle 7">
            <a:extLst>
              <a:ext uri="{FF2B5EF4-FFF2-40B4-BE49-F238E27FC236}">
                <a16:creationId xmlns:a16="http://schemas.microsoft.com/office/drawing/2014/main" id="{036986E4-1366-4474-A7A1-28DD4226496A}"/>
              </a:ext>
            </a:extLst>
          </p:cNvPr>
          <p:cNvSpPr/>
          <p:nvPr userDrawn="1"/>
        </p:nvSpPr>
        <p:spPr>
          <a:xfrm>
            <a:off x="0" y="-1"/>
            <a:ext cx="481958" cy="53166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8" name="Image 57">
            <a:extLst>
              <a:ext uri="{FF2B5EF4-FFF2-40B4-BE49-F238E27FC236}">
                <a16:creationId xmlns:a16="http://schemas.microsoft.com/office/drawing/2014/main" id="{F4766926-D96A-49F1-8917-6A276F3E8FB6}"/>
              </a:ext>
            </a:extLst>
          </p:cNvPr>
          <p:cNvPicPr>
            <a:picLocks noChangeAspect="1"/>
          </p:cNvPicPr>
          <p:nvPr userDrawn="1"/>
        </p:nvPicPr>
        <p:blipFill rotWithShape="1">
          <a:blip r:embed="rId2"/>
          <a:srcRect l="-183" t="107"/>
          <a:stretch/>
        </p:blipFill>
        <p:spPr>
          <a:xfrm>
            <a:off x="424708" y="-1"/>
            <a:ext cx="8349184" cy="5316602"/>
          </a:xfrm>
          <a:prstGeom prst="rect">
            <a:avLst/>
          </a:prstGeom>
        </p:spPr>
      </p:pic>
      <p:sp>
        <p:nvSpPr>
          <p:cNvPr id="35" name="ZoneTexte 34">
            <a:extLst>
              <a:ext uri="{FF2B5EF4-FFF2-40B4-BE49-F238E27FC236}">
                <a16:creationId xmlns:a16="http://schemas.microsoft.com/office/drawing/2014/main" id="{7ACFC1A1-A317-40D0-807D-E781CA5723FA}"/>
              </a:ext>
            </a:extLst>
          </p:cNvPr>
          <p:cNvSpPr txBox="1"/>
          <p:nvPr userDrawn="1"/>
        </p:nvSpPr>
        <p:spPr>
          <a:xfrm>
            <a:off x="838201" y="1637729"/>
            <a:ext cx="6855471" cy="2985433"/>
          </a:xfrm>
          <a:prstGeom prst="rect">
            <a:avLst/>
          </a:prstGeom>
          <a:noFill/>
        </p:spPr>
        <p:txBody>
          <a:bodyPr wrap="square" rtlCol="0">
            <a:spAutoFit/>
          </a:bodyPr>
          <a:lstStyle/>
          <a:p>
            <a:pPr marL="0" lvl="0" indent="0">
              <a:spcAft>
                <a:spcPts val="1200"/>
              </a:spcAft>
              <a:buFont typeface="+mj-lt"/>
              <a:buNone/>
              <a:tabLst>
                <a:tab pos="6275388" algn="l"/>
                <a:tab pos="7078663" algn="l"/>
              </a:tabLst>
            </a:pPr>
            <a:r>
              <a:rPr lang="fr-FR" sz="2400" dirty="0"/>
              <a:t>                      est une société de </a:t>
            </a:r>
            <a:r>
              <a:rPr lang="fr-FR" sz="2400" dirty="0">
                <a:latin typeface="+mj-lt"/>
              </a:rPr>
              <a:t>conseil</a:t>
            </a:r>
            <a:r>
              <a:rPr lang="fr-FR" sz="2400" dirty="0"/>
              <a:t> et d’</a:t>
            </a:r>
            <a:r>
              <a:rPr lang="fr-FR" sz="2400" dirty="0">
                <a:latin typeface="+mj-lt"/>
              </a:rPr>
              <a:t>expertise</a:t>
            </a:r>
            <a:r>
              <a:rPr lang="fr-FR" sz="2400" dirty="0"/>
              <a:t> dans la transformation digitale des entreprises.</a:t>
            </a:r>
          </a:p>
          <a:p>
            <a:pPr marL="0" lvl="0" indent="0">
              <a:spcAft>
                <a:spcPts val="1200"/>
              </a:spcAft>
              <a:buFont typeface="+mj-lt"/>
              <a:buNone/>
              <a:tabLst>
                <a:tab pos="6275388" algn="l"/>
                <a:tab pos="7078663" algn="l"/>
              </a:tabLst>
            </a:pPr>
            <a:endParaRPr lang="fr-FR" sz="2400" dirty="0"/>
          </a:p>
          <a:p>
            <a:pPr marL="0" lvl="0" indent="0">
              <a:spcAft>
                <a:spcPts val="1200"/>
              </a:spcAft>
              <a:buFont typeface="+mj-lt"/>
              <a:buNone/>
              <a:tabLst>
                <a:tab pos="6275388" algn="l"/>
                <a:tab pos="7078663" algn="l"/>
              </a:tabLst>
            </a:pPr>
            <a:r>
              <a:rPr lang="fr-FR" sz="2400" dirty="0"/>
              <a:t>Nous anticipons constamment les opportunités du marché pour implémenter des solutions performantes et adaptées à nos clients.</a:t>
            </a:r>
            <a:endParaRPr lang="en-US" sz="2400" dirty="0"/>
          </a:p>
        </p:txBody>
      </p:sp>
      <p:pic>
        <p:nvPicPr>
          <p:cNvPr id="43" name="Image 42">
            <a:extLst>
              <a:ext uri="{FF2B5EF4-FFF2-40B4-BE49-F238E27FC236}">
                <a16:creationId xmlns:a16="http://schemas.microsoft.com/office/drawing/2014/main" id="{0F8E1880-C573-4988-B26E-5D3ADFC54CD8}"/>
              </a:ext>
            </a:extLst>
          </p:cNvPr>
          <p:cNvPicPr>
            <a:picLocks noChangeAspect="1"/>
          </p:cNvPicPr>
          <p:nvPr userDrawn="1"/>
        </p:nvPicPr>
        <p:blipFill rotWithShape="1">
          <a:blip r:embed="rId3"/>
          <a:srcRect t="66056"/>
          <a:stretch/>
        </p:blipFill>
        <p:spPr>
          <a:xfrm>
            <a:off x="351321" y="-1"/>
            <a:ext cx="11840679" cy="1149355"/>
          </a:xfrm>
          <a:prstGeom prst="rect">
            <a:avLst/>
          </a:prstGeom>
        </p:spPr>
      </p:pic>
      <p:pic>
        <p:nvPicPr>
          <p:cNvPr id="11" name="Image 10">
            <a:extLst>
              <a:ext uri="{FF2B5EF4-FFF2-40B4-BE49-F238E27FC236}">
                <a16:creationId xmlns:a16="http://schemas.microsoft.com/office/drawing/2014/main" id="{2307E81B-ACCE-4D77-A9C6-2701FCF22F1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9784" y="6273713"/>
            <a:ext cx="481958"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pic>
        <p:nvPicPr>
          <p:cNvPr id="3" name="Image 2">
            <a:extLst>
              <a:ext uri="{FF2B5EF4-FFF2-40B4-BE49-F238E27FC236}">
                <a16:creationId xmlns:a16="http://schemas.microsoft.com/office/drawing/2014/main" id="{DBAB7574-AAA4-4557-9539-D8EB27E5494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b="26262"/>
          <a:stretch/>
        </p:blipFill>
        <p:spPr>
          <a:xfrm>
            <a:off x="987916" y="1725204"/>
            <a:ext cx="1635412" cy="315891"/>
          </a:xfrm>
          <a:prstGeom prst="rect">
            <a:avLst/>
          </a:prstGeom>
        </p:spPr>
      </p:pic>
      <p:sp>
        <p:nvSpPr>
          <p:cNvPr id="31" name="ZoneTexte 30">
            <a:extLst>
              <a:ext uri="{FF2B5EF4-FFF2-40B4-BE49-F238E27FC236}">
                <a16:creationId xmlns:a16="http://schemas.microsoft.com/office/drawing/2014/main" id="{6E260B1F-12BE-4164-977E-A3A5D0A88C13}"/>
              </a:ext>
            </a:extLst>
          </p:cNvPr>
          <p:cNvSpPr txBox="1"/>
          <p:nvPr userDrawn="1"/>
        </p:nvSpPr>
        <p:spPr>
          <a:xfrm>
            <a:off x="1201821" y="5512409"/>
            <a:ext cx="1305911" cy="830997"/>
          </a:xfrm>
          <a:prstGeom prst="rect">
            <a:avLst/>
          </a:prstGeom>
          <a:noFill/>
        </p:spPr>
        <p:txBody>
          <a:bodyPr wrap="square">
            <a:spAutoFit/>
          </a:bodyPr>
          <a:lstStyle/>
          <a:p>
            <a:pPr algn="ctr"/>
            <a:r>
              <a:rPr lang="fr-FR" sz="4800" b="0" i="0" u="none" strike="noStrike" dirty="0">
                <a:solidFill>
                  <a:schemeClr val="bg1"/>
                </a:solidFill>
                <a:effectLst/>
                <a:latin typeface="+mj-lt"/>
              </a:rPr>
              <a:t>180</a:t>
            </a:r>
            <a:endParaRPr lang="fr-FR" sz="4800" dirty="0">
              <a:solidFill>
                <a:schemeClr val="bg1"/>
              </a:solidFill>
              <a:latin typeface="+mj-lt"/>
            </a:endParaRPr>
          </a:p>
        </p:txBody>
      </p:sp>
      <p:sp>
        <p:nvSpPr>
          <p:cNvPr id="32" name="ZoneTexte 31">
            <a:extLst>
              <a:ext uri="{FF2B5EF4-FFF2-40B4-BE49-F238E27FC236}">
                <a16:creationId xmlns:a16="http://schemas.microsoft.com/office/drawing/2014/main" id="{9FD83BD0-9F63-4F6C-9299-BACC9AFDECBC}"/>
              </a:ext>
            </a:extLst>
          </p:cNvPr>
          <p:cNvSpPr txBox="1"/>
          <p:nvPr userDrawn="1"/>
        </p:nvSpPr>
        <p:spPr>
          <a:xfrm>
            <a:off x="3753583" y="5512409"/>
            <a:ext cx="1305911" cy="830997"/>
          </a:xfrm>
          <a:prstGeom prst="rect">
            <a:avLst/>
          </a:prstGeom>
          <a:noFill/>
        </p:spPr>
        <p:txBody>
          <a:bodyPr wrap="square">
            <a:spAutoFit/>
          </a:bodyPr>
          <a:lstStyle/>
          <a:p>
            <a:pPr algn="ctr"/>
            <a:r>
              <a:rPr lang="fr-FR" sz="4800" b="0" i="0" u="none" strike="noStrike" dirty="0">
                <a:solidFill>
                  <a:schemeClr val="bg1"/>
                </a:solidFill>
                <a:effectLst/>
                <a:latin typeface="+mj-lt"/>
              </a:rPr>
              <a:t>18</a:t>
            </a:r>
            <a:endParaRPr lang="fr-FR" sz="4800" dirty="0">
              <a:solidFill>
                <a:schemeClr val="bg1"/>
              </a:solidFill>
              <a:latin typeface="+mj-lt"/>
            </a:endParaRPr>
          </a:p>
        </p:txBody>
      </p:sp>
      <p:sp>
        <p:nvSpPr>
          <p:cNvPr id="33" name="ZoneTexte 32">
            <a:extLst>
              <a:ext uri="{FF2B5EF4-FFF2-40B4-BE49-F238E27FC236}">
                <a16:creationId xmlns:a16="http://schemas.microsoft.com/office/drawing/2014/main" id="{3C623CE4-C262-410E-A57A-9EA70ADDC163}"/>
              </a:ext>
            </a:extLst>
          </p:cNvPr>
          <p:cNvSpPr txBox="1"/>
          <p:nvPr userDrawn="1"/>
        </p:nvSpPr>
        <p:spPr>
          <a:xfrm>
            <a:off x="6085528" y="5512409"/>
            <a:ext cx="2060027" cy="830997"/>
          </a:xfrm>
          <a:prstGeom prst="rect">
            <a:avLst/>
          </a:prstGeom>
          <a:noFill/>
        </p:spPr>
        <p:txBody>
          <a:bodyPr wrap="square">
            <a:spAutoFit/>
          </a:bodyPr>
          <a:lstStyle/>
          <a:p>
            <a:pPr algn="ctr"/>
            <a:r>
              <a:rPr lang="fr-FR" sz="4800" b="0" i="0" u="none" strike="noStrike" dirty="0">
                <a:solidFill>
                  <a:schemeClr val="bg1"/>
                </a:solidFill>
                <a:effectLst/>
                <a:latin typeface="+mj-lt"/>
              </a:rPr>
              <a:t>19 M€</a:t>
            </a:r>
            <a:endParaRPr lang="fr-FR" sz="4800" dirty="0">
              <a:solidFill>
                <a:schemeClr val="bg1"/>
              </a:solidFill>
              <a:latin typeface="+mj-lt"/>
            </a:endParaRPr>
          </a:p>
        </p:txBody>
      </p:sp>
      <p:sp>
        <p:nvSpPr>
          <p:cNvPr id="37" name="ZoneTexte 36">
            <a:extLst>
              <a:ext uri="{FF2B5EF4-FFF2-40B4-BE49-F238E27FC236}">
                <a16:creationId xmlns:a16="http://schemas.microsoft.com/office/drawing/2014/main" id="{EACB8143-E44D-44E2-8F52-5F3DBDBB4E79}"/>
              </a:ext>
            </a:extLst>
          </p:cNvPr>
          <p:cNvSpPr txBox="1"/>
          <p:nvPr userDrawn="1"/>
        </p:nvSpPr>
        <p:spPr>
          <a:xfrm>
            <a:off x="711405" y="6195815"/>
            <a:ext cx="2287744" cy="400110"/>
          </a:xfrm>
          <a:prstGeom prst="rect">
            <a:avLst/>
          </a:prstGeom>
          <a:noFill/>
        </p:spPr>
        <p:txBody>
          <a:bodyPr wrap="square" rtlCol="0">
            <a:spAutoFit/>
          </a:bodyPr>
          <a:lstStyle/>
          <a:p>
            <a:pPr marL="0" lvl="0" indent="0" algn="ctr">
              <a:spcAft>
                <a:spcPts val="1200"/>
              </a:spcAft>
              <a:buFont typeface="+mj-lt"/>
              <a:buNone/>
              <a:tabLst>
                <a:tab pos="6275388" algn="l"/>
                <a:tab pos="7078663" algn="l"/>
              </a:tabLst>
            </a:pPr>
            <a:r>
              <a:rPr lang="fr-FR" sz="2000" dirty="0">
                <a:solidFill>
                  <a:schemeClr val="bg1"/>
                </a:solidFill>
              </a:rPr>
              <a:t>collaborateurs</a:t>
            </a:r>
            <a:endParaRPr lang="en-US" sz="2000" dirty="0">
              <a:solidFill>
                <a:schemeClr val="bg1"/>
              </a:solidFill>
            </a:endParaRPr>
          </a:p>
        </p:txBody>
      </p:sp>
      <p:sp>
        <p:nvSpPr>
          <p:cNvPr id="39" name="ZoneTexte 38">
            <a:extLst>
              <a:ext uri="{FF2B5EF4-FFF2-40B4-BE49-F238E27FC236}">
                <a16:creationId xmlns:a16="http://schemas.microsoft.com/office/drawing/2014/main" id="{213004D2-2865-4C47-97EB-EB870C9DFF23}"/>
              </a:ext>
            </a:extLst>
          </p:cNvPr>
          <p:cNvSpPr txBox="1"/>
          <p:nvPr userDrawn="1"/>
        </p:nvSpPr>
        <p:spPr>
          <a:xfrm>
            <a:off x="3262667" y="6195815"/>
            <a:ext cx="2287744" cy="400110"/>
          </a:xfrm>
          <a:prstGeom prst="rect">
            <a:avLst/>
          </a:prstGeom>
          <a:noFill/>
        </p:spPr>
        <p:txBody>
          <a:bodyPr wrap="square" rtlCol="0">
            <a:spAutoFit/>
          </a:bodyPr>
          <a:lstStyle/>
          <a:p>
            <a:pPr marL="0" lvl="0" indent="0" algn="ctr">
              <a:spcAft>
                <a:spcPts val="1200"/>
              </a:spcAft>
              <a:buFont typeface="+mj-lt"/>
              <a:buNone/>
              <a:tabLst>
                <a:tab pos="6275388" algn="l"/>
                <a:tab pos="7078663" algn="l"/>
              </a:tabLst>
            </a:pPr>
            <a:r>
              <a:rPr lang="fr-FR" sz="2000" dirty="0">
                <a:solidFill>
                  <a:schemeClr val="bg1"/>
                </a:solidFill>
              </a:rPr>
              <a:t>années d’existence</a:t>
            </a:r>
            <a:endParaRPr lang="en-US" sz="2000" dirty="0">
              <a:solidFill>
                <a:schemeClr val="bg1"/>
              </a:solidFill>
            </a:endParaRPr>
          </a:p>
        </p:txBody>
      </p:sp>
      <p:sp>
        <p:nvSpPr>
          <p:cNvPr id="40" name="ZoneTexte 39">
            <a:extLst>
              <a:ext uri="{FF2B5EF4-FFF2-40B4-BE49-F238E27FC236}">
                <a16:creationId xmlns:a16="http://schemas.microsoft.com/office/drawing/2014/main" id="{898A3861-658E-457B-B494-062C785EFB1C}"/>
              </a:ext>
            </a:extLst>
          </p:cNvPr>
          <p:cNvSpPr txBox="1"/>
          <p:nvPr userDrawn="1"/>
        </p:nvSpPr>
        <p:spPr>
          <a:xfrm>
            <a:off x="5901222" y="6195816"/>
            <a:ext cx="2476056" cy="400110"/>
          </a:xfrm>
          <a:prstGeom prst="rect">
            <a:avLst/>
          </a:prstGeom>
          <a:noFill/>
        </p:spPr>
        <p:txBody>
          <a:bodyPr wrap="square" rtlCol="0">
            <a:spAutoFit/>
          </a:bodyPr>
          <a:lstStyle/>
          <a:p>
            <a:pPr marL="0" lvl="0" indent="0" algn="ctr">
              <a:spcAft>
                <a:spcPts val="1200"/>
              </a:spcAft>
              <a:buFont typeface="+mj-lt"/>
              <a:buNone/>
              <a:tabLst>
                <a:tab pos="6275388" algn="l"/>
                <a:tab pos="7078663" algn="l"/>
              </a:tabLst>
            </a:pPr>
            <a:r>
              <a:rPr lang="fr-FR" sz="2000" dirty="0">
                <a:solidFill>
                  <a:schemeClr val="bg1"/>
                </a:solidFill>
              </a:rPr>
              <a:t>de chiffre d’affaires</a:t>
            </a:r>
            <a:endParaRPr lang="en-US" sz="2000" dirty="0">
              <a:solidFill>
                <a:schemeClr val="bg1"/>
              </a:solidFill>
            </a:endParaRPr>
          </a:p>
        </p:txBody>
      </p:sp>
      <p:sp>
        <p:nvSpPr>
          <p:cNvPr id="57" name="ZoneTexte 56">
            <a:extLst>
              <a:ext uri="{FF2B5EF4-FFF2-40B4-BE49-F238E27FC236}">
                <a16:creationId xmlns:a16="http://schemas.microsoft.com/office/drawing/2014/main" id="{6C420C30-78E6-4B06-832B-680FD9FB28BD}"/>
              </a:ext>
            </a:extLst>
          </p:cNvPr>
          <p:cNvSpPr txBox="1"/>
          <p:nvPr userDrawn="1"/>
        </p:nvSpPr>
        <p:spPr>
          <a:xfrm>
            <a:off x="8828607" y="1466279"/>
            <a:ext cx="3326869" cy="400110"/>
          </a:xfrm>
          <a:prstGeom prst="rect">
            <a:avLst/>
          </a:prstGeom>
          <a:noFill/>
        </p:spPr>
        <p:txBody>
          <a:bodyPr wrap="square" rtlCol="0">
            <a:spAutoFit/>
          </a:bodyPr>
          <a:lstStyle/>
          <a:p>
            <a:pPr marL="0" lvl="0" indent="0" algn="ctr">
              <a:spcAft>
                <a:spcPts val="1200"/>
              </a:spcAft>
              <a:buFont typeface="+mj-lt"/>
              <a:buNone/>
              <a:tabLst>
                <a:tab pos="6275388" algn="l"/>
                <a:tab pos="7078663" algn="l"/>
              </a:tabLst>
            </a:pPr>
            <a:r>
              <a:rPr lang="fr-FR" sz="2000" dirty="0">
                <a:solidFill>
                  <a:schemeClr val="bg1"/>
                </a:solidFill>
              </a:rPr>
              <a:t>En France et dans le monde</a:t>
            </a:r>
            <a:endParaRPr lang="en-US" sz="2000" dirty="0">
              <a:solidFill>
                <a:schemeClr val="bg1"/>
              </a:solidFill>
            </a:endParaRPr>
          </a:p>
        </p:txBody>
      </p:sp>
      <p:sp>
        <p:nvSpPr>
          <p:cNvPr id="59" name="ZoneTexte 58">
            <a:extLst>
              <a:ext uri="{FF2B5EF4-FFF2-40B4-BE49-F238E27FC236}">
                <a16:creationId xmlns:a16="http://schemas.microsoft.com/office/drawing/2014/main" id="{1C8B6506-6903-4CCB-A59A-7652B9C760B2}"/>
              </a:ext>
            </a:extLst>
          </p:cNvPr>
          <p:cNvSpPr txBox="1"/>
          <p:nvPr userDrawn="1"/>
        </p:nvSpPr>
        <p:spPr>
          <a:xfrm>
            <a:off x="838197" y="143876"/>
            <a:ext cx="10515606" cy="769441"/>
          </a:xfrm>
          <a:prstGeom prst="rect">
            <a:avLst/>
          </a:prstGeom>
          <a:noFill/>
        </p:spPr>
        <p:txBody>
          <a:bodyPr wrap="square" rtlCol="0" anchor="ctr">
            <a:spAutoFit/>
          </a:bodyPr>
          <a:lstStyle/>
          <a:p>
            <a:r>
              <a:rPr lang="fr-FR" sz="4400" dirty="0" err="1">
                <a:solidFill>
                  <a:schemeClr val="bg1"/>
                </a:solidFill>
                <a:latin typeface="+mj-lt"/>
              </a:rPr>
              <a:t>Expertime</a:t>
            </a:r>
            <a:r>
              <a:rPr lang="fr-FR" sz="4400" dirty="0">
                <a:solidFill>
                  <a:schemeClr val="bg1"/>
                </a:solidFill>
                <a:latin typeface="+mj-lt"/>
              </a:rPr>
              <a:t>, Digital </a:t>
            </a:r>
            <a:r>
              <a:rPr lang="fr-FR" sz="4400" dirty="0" err="1">
                <a:solidFill>
                  <a:schemeClr val="bg1"/>
                </a:solidFill>
                <a:latin typeface="+mj-lt"/>
              </a:rPr>
              <a:t>Success</a:t>
            </a:r>
            <a:r>
              <a:rPr lang="fr-FR" sz="4400" dirty="0">
                <a:solidFill>
                  <a:schemeClr val="bg1"/>
                </a:solidFill>
                <a:latin typeface="+mj-lt"/>
              </a:rPr>
              <a:t> Partner</a:t>
            </a:r>
          </a:p>
        </p:txBody>
      </p:sp>
      <p:grpSp>
        <p:nvGrpSpPr>
          <p:cNvPr id="69" name="Groupe 68">
            <a:extLst>
              <a:ext uri="{FF2B5EF4-FFF2-40B4-BE49-F238E27FC236}">
                <a16:creationId xmlns:a16="http://schemas.microsoft.com/office/drawing/2014/main" id="{0746636A-5964-4FC5-A5BE-95828657EF86}"/>
              </a:ext>
            </a:extLst>
          </p:cNvPr>
          <p:cNvGrpSpPr/>
          <p:nvPr userDrawn="1"/>
        </p:nvGrpSpPr>
        <p:grpSpPr>
          <a:xfrm>
            <a:off x="9113155" y="2100403"/>
            <a:ext cx="2732527" cy="2585933"/>
            <a:chOff x="9167373" y="2100403"/>
            <a:chExt cx="2732527" cy="2585933"/>
          </a:xfrm>
        </p:grpSpPr>
        <p:pic>
          <p:nvPicPr>
            <p:cNvPr id="12" name="Image 11" descr="Une image contenant carte&#10;&#10;Description générée automatiquement">
              <a:extLst>
                <a:ext uri="{FF2B5EF4-FFF2-40B4-BE49-F238E27FC236}">
                  <a16:creationId xmlns:a16="http://schemas.microsoft.com/office/drawing/2014/main" id="{D1D203EC-222A-44A4-BFDF-2E68FB0B44C0}"/>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167373" y="2100403"/>
              <a:ext cx="2732527" cy="2585933"/>
            </a:xfrm>
            <a:prstGeom prst="rect">
              <a:avLst/>
            </a:prstGeom>
            <a:effectLst>
              <a:outerShdw blurRad="50800" dist="38100" dir="5400000" algn="t" rotWithShape="0">
                <a:prstClr val="black">
                  <a:alpha val="40000"/>
                </a:prstClr>
              </a:outerShdw>
            </a:effectLst>
          </p:spPr>
        </p:pic>
        <p:pic>
          <p:nvPicPr>
            <p:cNvPr id="17" name="Image 16">
              <a:extLst>
                <a:ext uri="{FF2B5EF4-FFF2-40B4-BE49-F238E27FC236}">
                  <a16:creationId xmlns:a16="http://schemas.microsoft.com/office/drawing/2014/main" id="{3A9BBC10-3006-4A60-A2BD-F84DE41BC407}"/>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389467" y="2550421"/>
              <a:ext cx="90950" cy="173099"/>
            </a:xfrm>
            <a:prstGeom prst="rect">
              <a:avLst/>
            </a:prstGeom>
            <a:effectLst>
              <a:outerShdw blurRad="50800" dist="38100" dir="5400000" algn="t" rotWithShape="0">
                <a:prstClr val="black">
                  <a:alpha val="40000"/>
                </a:prstClr>
              </a:outerShdw>
            </a:effectLst>
          </p:spPr>
        </p:pic>
        <p:pic>
          <p:nvPicPr>
            <p:cNvPr id="41" name="Image 40">
              <a:extLst>
                <a:ext uri="{FF2B5EF4-FFF2-40B4-BE49-F238E27FC236}">
                  <a16:creationId xmlns:a16="http://schemas.microsoft.com/office/drawing/2014/main" id="{D9F1C65C-6B55-4E95-952E-0B453AACC73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699189" y="2971760"/>
              <a:ext cx="90950" cy="173099"/>
            </a:xfrm>
            <a:prstGeom prst="rect">
              <a:avLst/>
            </a:prstGeom>
            <a:effectLst>
              <a:outerShdw blurRad="50800" dist="38100" dir="5400000" algn="t" rotWithShape="0">
                <a:prstClr val="black">
                  <a:alpha val="40000"/>
                </a:prstClr>
              </a:outerShdw>
            </a:effectLst>
          </p:spPr>
        </p:pic>
        <p:pic>
          <p:nvPicPr>
            <p:cNvPr id="44" name="Image 43">
              <a:extLst>
                <a:ext uri="{FF2B5EF4-FFF2-40B4-BE49-F238E27FC236}">
                  <a16:creationId xmlns:a16="http://schemas.microsoft.com/office/drawing/2014/main" id="{F4063F74-56CB-4695-A221-356BA39D7A17}"/>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873564" y="3375170"/>
              <a:ext cx="90950" cy="173099"/>
            </a:xfrm>
            <a:prstGeom prst="rect">
              <a:avLst/>
            </a:prstGeom>
            <a:effectLst>
              <a:outerShdw blurRad="50800" dist="38100" dir="5400000" algn="t" rotWithShape="0">
                <a:prstClr val="black">
                  <a:alpha val="40000"/>
                </a:prstClr>
              </a:outerShdw>
            </a:effectLst>
          </p:spPr>
        </p:pic>
      </p:grpSp>
      <p:grpSp>
        <p:nvGrpSpPr>
          <p:cNvPr id="73" name="Groupe 72">
            <a:extLst>
              <a:ext uri="{FF2B5EF4-FFF2-40B4-BE49-F238E27FC236}">
                <a16:creationId xmlns:a16="http://schemas.microsoft.com/office/drawing/2014/main" id="{72721C36-4DA1-4F64-8835-EDACC4FA154F}"/>
              </a:ext>
            </a:extLst>
          </p:cNvPr>
          <p:cNvGrpSpPr/>
          <p:nvPr userDrawn="1"/>
        </p:nvGrpSpPr>
        <p:grpSpPr>
          <a:xfrm>
            <a:off x="9693912" y="4997992"/>
            <a:ext cx="1605535" cy="1601828"/>
            <a:chOff x="9673816" y="4847057"/>
            <a:chExt cx="1605535" cy="1601828"/>
          </a:xfrm>
        </p:grpSpPr>
        <p:pic>
          <p:nvPicPr>
            <p:cNvPr id="52" name="Image 51" descr="Une image contenant silhouette, ciel nocturne&#10;&#10;Description générée automatiquement">
              <a:extLst>
                <a:ext uri="{FF2B5EF4-FFF2-40B4-BE49-F238E27FC236}">
                  <a16:creationId xmlns:a16="http://schemas.microsoft.com/office/drawing/2014/main" id="{E1AEC190-99F4-4F0F-A922-481855654B4D}"/>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50577" t="12360" r="27381" b="21897"/>
            <a:stretch/>
          </p:blipFill>
          <p:spPr>
            <a:xfrm>
              <a:off x="9673816" y="4847057"/>
              <a:ext cx="1605535" cy="1601828"/>
            </a:xfrm>
            <a:prstGeom prst="rect">
              <a:avLst/>
            </a:prstGeom>
            <a:effectLst>
              <a:outerShdw blurRad="50800" dist="38100" dir="5400000" algn="t" rotWithShape="0">
                <a:prstClr val="black">
                  <a:alpha val="40000"/>
                </a:prstClr>
              </a:outerShdw>
            </a:effectLst>
          </p:spPr>
        </p:pic>
        <p:pic>
          <p:nvPicPr>
            <p:cNvPr id="45" name="Image 44">
              <a:extLst>
                <a:ext uri="{FF2B5EF4-FFF2-40B4-BE49-F238E27FC236}">
                  <a16:creationId xmlns:a16="http://schemas.microsoft.com/office/drawing/2014/main" id="{8889FEE3-4BFB-4CE0-9D93-BD9F659405B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525010" y="5447083"/>
              <a:ext cx="90950" cy="173099"/>
            </a:xfrm>
            <a:prstGeom prst="rect">
              <a:avLst/>
            </a:prstGeom>
            <a:effectLst>
              <a:outerShdw blurRad="50800" dist="38100" dir="5400000" algn="t" rotWithShape="0">
                <a:prstClr val="black">
                  <a:alpha val="40000"/>
                </a:prstClr>
              </a:outerShdw>
            </a:effectLst>
          </p:spPr>
        </p:pic>
      </p:grpSp>
      <p:sp>
        <p:nvSpPr>
          <p:cNvPr id="19" name="Rectangle 18">
            <a:extLst>
              <a:ext uri="{FF2B5EF4-FFF2-40B4-BE49-F238E27FC236}">
                <a16:creationId xmlns:a16="http://schemas.microsoft.com/office/drawing/2014/main" id="{0CC724CC-0B13-4555-9D59-319268B602C1}"/>
              </a:ext>
            </a:extLst>
          </p:cNvPr>
          <p:cNvSpPr/>
          <p:nvPr userDrawn="1"/>
        </p:nvSpPr>
        <p:spPr>
          <a:xfrm>
            <a:off x="10807680" y="2027110"/>
            <a:ext cx="786094" cy="17309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a:ln>
                  <a:noFill/>
                </a:ln>
                <a:solidFill>
                  <a:schemeClr val="bg1"/>
                </a:solidFill>
                <a:effectLst/>
                <a:latin typeface="+mn-lt"/>
              </a:rPr>
              <a:t>Île-de-France</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21" name="Connecteur droit 20">
            <a:extLst>
              <a:ext uri="{FF2B5EF4-FFF2-40B4-BE49-F238E27FC236}">
                <a16:creationId xmlns:a16="http://schemas.microsoft.com/office/drawing/2014/main" id="{5BF6C124-482B-4218-85A5-D7F76C4E04DE}"/>
              </a:ext>
            </a:extLst>
          </p:cNvPr>
          <p:cNvCxnSpPr>
            <a:cxnSpLocks/>
          </p:cNvCxnSpPr>
          <p:nvPr userDrawn="1"/>
        </p:nvCxnSpPr>
        <p:spPr>
          <a:xfrm flipV="1">
            <a:off x="10548812" y="2195186"/>
            <a:ext cx="665540" cy="463114"/>
          </a:xfrm>
          <a:prstGeom prst="line">
            <a:avLst/>
          </a:prstGeom>
          <a:ln w="6350"/>
        </p:spPr>
        <p:style>
          <a:lnRef idx="3">
            <a:schemeClr val="dk1"/>
          </a:lnRef>
          <a:fillRef idx="0">
            <a:schemeClr val="dk1"/>
          </a:fillRef>
          <a:effectRef idx="2">
            <a:schemeClr val="dk1"/>
          </a:effectRef>
          <a:fontRef idx="minor">
            <a:schemeClr val="tx1"/>
          </a:fontRef>
        </p:style>
      </p:cxnSp>
      <p:sp>
        <p:nvSpPr>
          <p:cNvPr id="49" name="Rectangle 48">
            <a:extLst>
              <a:ext uri="{FF2B5EF4-FFF2-40B4-BE49-F238E27FC236}">
                <a16:creationId xmlns:a16="http://schemas.microsoft.com/office/drawing/2014/main" id="{1F8A81FB-A1AF-439B-826F-083A20F8B3A0}"/>
              </a:ext>
            </a:extLst>
          </p:cNvPr>
          <p:cNvSpPr/>
          <p:nvPr userDrawn="1"/>
        </p:nvSpPr>
        <p:spPr>
          <a:xfrm>
            <a:off x="9262977" y="2016269"/>
            <a:ext cx="503088" cy="17309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a:ln>
                  <a:noFill/>
                </a:ln>
                <a:solidFill>
                  <a:schemeClr val="bg1"/>
                </a:solidFill>
                <a:effectLst/>
                <a:latin typeface="+mn-lt"/>
              </a:rPr>
              <a:t>Centre</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50" name="Connecteur droit 49">
            <a:extLst>
              <a:ext uri="{FF2B5EF4-FFF2-40B4-BE49-F238E27FC236}">
                <a16:creationId xmlns:a16="http://schemas.microsoft.com/office/drawing/2014/main" id="{141A7F77-F517-4FB9-8C00-F530FAC28C58}"/>
              </a:ext>
            </a:extLst>
          </p:cNvPr>
          <p:cNvCxnSpPr>
            <a:cxnSpLocks/>
          </p:cNvCxnSpPr>
          <p:nvPr userDrawn="1"/>
        </p:nvCxnSpPr>
        <p:spPr>
          <a:xfrm flipH="1" flipV="1">
            <a:off x="9524933" y="2185554"/>
            <a:ext cx="612101" cy="582767"/>
          </a:xfrm>
          <a:prstGeom prst="line">
            <a:avLst/>
          </a:prstGeom>
          <a:ln w="6350"/>
        </p:spPr>
        <p:style>
          <a:lnRef idx="3">
            <a:schemeClr val="dk1"/>
          </a:lnRef>
          <a:fillRef idx="0">
            <a:schemeClr val="dk1"/>
          </a:fillRef>
          <a:effectRef idx="2">
            <a:schemeClr val="dk1"/>
          </a:effectRef>
          <a:fontRef idx="minor">
            <a:schemeClr val="tx1"/>
          </a:fontRef>
        </p:style>
      </p:cxnSp>
      <p:sp>
        <p:nvSpPr>
          <p:cNvPr id="61" name="Rectangle 60">
            <a:extLst>
              <a:ext uri="{FF2B5EF4-FFF2-40B4-BE49-F238E27FC236}">
                <a16:creationId xmlns:a16="http://schemas.microsoft.com/office/drawing/2014/main" id="{34354FCB-9657-4C48-99F1-854B6A244191}"/>
              </a:ext>
            </a:extLst>
          </p:cNvPr>
          <p:cNvSpPr/>
          <p:nvPr userDrawn="1"/>
        </p:nvSpPr>
        <p:spPr>
          <a:xfrm>
            <a:off x="8855857" y="2370439"/>
            <a:ext cx="612101" cy="173098"/>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a:ln>
                  <a:noFill/>
                </a:ln>
                <a:solidFill>
                  <a:schemeClr val="bg1"/>
                </a:solidFill>
                <a:effectLst/>
                <a:latin typeface="+mn-lt"/>
              </a:rPr>
              <a:t>Bretagne</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62" name="Connecteur droit 61">
            <a:extLst>
              <a:ext uri="{FF2B5EF4-FFF2-40B4-BE49-F238E27FC236}">
                <a16:creationId xmlns:a16="http://schemas.microsoft.com/office/drawing/2014/main" id="{3F5416A6-832C-4056-BCF2-A04DB9BB757E}"/>
              </a:ext>
            </a:extLst>
          </p:cNvPr>
          <p:cNvCxnSpPr>
            <a:cxnSpLocks/>
          </p:cNvCxnSpPr>
          <p:nvPr userDrawn="1"/>
        </p:nvCxnSpPr>
        <p:spPr>
          <a:xfrm flipH="1" flipV="1">
            <a:off x="9164023" y="2534014"/>
            <a:ext cx="54859" cy="170244"/>
          </a:xfrm>
          <a:prstGeom prst="line">
            <a:avLst/>
          </a:prstGeom>
          <a:ln w="6350"/>
        </p:spPr>
        <p:style>
          <a:lnRef idx="3">
            <a:schemeClr val="dk1"/>
          </a:lnRef>
          <a:fillRef idx="0">
            <a:schemeClr val="dk1"/>
          </a:fillRef>
          <a:effectRef idx="2">
            <a:schemeClr val="dk1"/>
          </a:effectRef>
          <a:fontRef idx="minor">
            <a:schemeClr val="tx1"/>
          </a:fontRef>
        </p:style>
      </p:cxnSp>
      <p:sp>
        <p:nvSpPr>
          <p:cNvPr id="64" name="Rectangle 63">
            <a:extLst>
              <a:ext uri="{FF2B5EF4-FFF2-40B4-BE49-F238E27FC236}">
                <a16:creationId xmlns:a16="http://schemas.microsoft.com/office/drawing/2014/main" id="{53BAAD8A-DAE3-467D-B064-8140DB671BF0}"/>
              </a:ext>
            </a:extLst>
          </p:cNvPr>
          <p:cNvSpPr/>
          <p:nvPr userDrawn="1"/>
        </p:nvSpPr>
        <p:spPr>
          <a:xfrm>
            <a:off x="8855857" y="3392179"/>
            <a:ext cx="612101" cy="265274"/>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a:ln>
                  <a:noFill/>
                </a:ln>
                <a:solidFill>
                  <a:schemeClr val="bg1"/>
                </a:solidFill>
                <a:effectLst/>
                <a:latin typeface="+mn-lt"/>
              </a:rPr>
              <a:t>Pays de la Loire</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65" name="Connecteur droit 64">
            <a:extLst>
              <a:ext uri="{FF2B5EF4-FFF2-40B4-BE49-F238E27FC236}">
                <a16:creationId xmlns:a16="http://schemas.microsoft.com/office/drawing/2014/main" id="{C39BC8FF-E291-48B8-8598-8CC712DA2739}"/>
              </a:ext>
            </a:extLst>
          </p:cNvPr>
          <p:cNvCxnSpPr>
            <a:cxnSpLocks/>
          </p:cNvCxnSpPr>
          <p:nvPr userDrawn="1"/>
        </p:nvCxnSpPr>
        <p:spPr>
          <a:xfrm flipH="1">
            <a:off x="9176607" y="3219080"/>
            <a:ext cx="405171" cy="173099"/>
          </a:xfrm>
          <a:prstGeom prst="line">
            <a:avLst/>
          </a:prstGeom>
          <a:ln w="6350"/>
        </p:spPr>
        <p:style>
          <a:lnRef idx="3">
            <a:schemeClr val="dk1"/>
          </a:lnRef>
          <a:fillRef idx="0">
            <a:schemeClr val="dk1"/>
          </a:fillRef>
          <a:effectRef idx="2">
            <a:schemeClr val="dk1"/>
          </a:effectRef>
          <a:fontRef idx="minor">
            <a:schemeClr val="tx1"/>
          </a:fontRef>
        </p:style>
      </p:cxnSp>
      <p:sp>
        <p:nvSpPr>
          <p:cNvPr id="68" name="Rectangle 67">
            <a:extLst>
              <a:ext uri="{FF2B5EF4-FFF2-40B4-BE49-F238E27FC236}">
                <a16:creationId xmlns:a16="http://schemas.microsoft.com/office/drawing/2014/main" id="{A4C33D11-E3C9-478A-A0F8-FCAE8DD63FEF}"/>
              </a:ext>
            </a:extLst>
          </p:cNvPr>
          <p:cNvSpPr/>
          <p:nvPr userDrawn="1"/>
        </p:nvSpPr>
        <p:spPr>
          <a:xfrm>
            <a:off x="11350332" y="3144859"/>
            <a:ext cx="786094" cy="265273"/>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a:ln>
                  <a:noFill/>
                </a:ln>
                <a:solidFill>
                  <a:schemeClr val="bg1"/>
                </a:solidFill>
                <a:effectLst/>
                <a:latin typeface="+mn-lt"/>
              </a:rPr>
              <a:t>Auvergne-Rhône-Alpes</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70" name="Connecteur droit 69">
            <a:extLst>
              <a:ext uri="{FF2B5EF4-FFF2-40B4-BE49-F238E27FC236}">
                <a16:creationId xmlns:a16="http://schemas.microsoft.com/office/drawing/2014/main" id="{F5136E64-9AD9-42CD-A864-74A9212F6C7F}"/>
              </a:ext>
            </a:extLst>
          </p:cNvPr>
          <p:cNvCxnSpPr>
            <a:cxnSpLocks/>
          </p:cNvCxnSpPr>
          <p:nvPr userDrawn="1"/>
        </p:nvCxnSpPr>
        <p:spPr>
          <a:xfrm flipV="1">
            <a:off x="11313808" y="3410133"/>
            <a:ext cx="419122" cy="202523"/>
          </a:xfrm>
          <a:prstGeom prst="line">
            <a:avLst/>
          </a:prstGeom>
          <a:ln w="6350"/>
        </p:spPr>
        <p:style>
          <a:lnRef idx="3">
            <a:schemeClr val="dk1"/>
          </a:lnRef>
          <a:fillRef idx="0">
            <a:schemeClr val="dk1"/>
          </a:fillRef>
          <a:effectRef idx="2">
            <a:schemeClr val="dk1"/>
          </a:effectRef>
          <a:fontRef idx="minor">
            <a:schemeClr val="tx1"/>
          </a:fontRef>
        </p:style>
      </p:cxnSp>
      <p:sp>
        <p:nvSpPr>
          <p:cNvPr id="75" name="Rectangle 74">
            <a:extLst>
              <a:ext uri="{FF2B5EF4-FFF2-40B4-BE49-F238E27FC236}">
                <a16:creationId xmlns:a16="http://schemas.microsoft.com/office/drawing/2014/main" id="{F9316BF0-D3E0-40D8-B07A-9B706DCCA13D}"/>
              </a:ext>
            </a:extLst>
          </p:cNvPr>
          <p:cNvSpPr/>
          <p:nvPr userDrawn="1"/>
        </p:nvSpPr>
        <p:spPr>
          <a:xfrm>
            <a:off x="11628578" y="3666366"/>
            <a:ext cx="503088" cy="17309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a:ln>
                  <a:noFill/>
                </a:ln>
                <a:solidFill>
                  <a:schemeClr val="bg1"/>
                </a:solidFill>
                <a:effectLst/>
                <a:latin typeface="+mn-lt"/>
              </a:rPr>
              <a:t>PACA</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76" name="Connecteur droit 75">
            <a:extLst>
              <a:ext uri="{FF2B5EF4-FFF2-40B4-BE49-F238E27FC236}">
                <a16:creationId xmlns:a16="http://schemas.microsoft.com/office/drawing/2014/main" id="{0765063A-82AC-4846-B39D-5A2F4D78B790}"/>
              </a:ext>
            </a:extLst>
          </p:cNvPr>
          <p:cNvCxnSpPr>
            <a:cxnSpLocks/>
          </p:cNvCxnSpPr>
          <p:nvPr userDrawn="1"/>
        </p:nvCxnSpPr>
        <p:spPr>
          <a:xfrm flipV="1">
            <a:off x="11462588" y="3839465"/>
            <a:ext cx="412510" cy="154972"/>
          </a:xfrm>
          <a:prstGeom prst="line">
            <a:avLst/>
          </a:prstGeom>
          <a:ln w="6350"/>
        </p:spPr>
        <p:style>
          <a:lnRef idx="3">
            <a:schemeClr val="dk1"/>
          </a:lnRef>
          <a:fillRef idx="0">
            <a:schemeClr val="dk1"/>
          </a:fillRef>
          <a:effectRef idx="2">
            <a:schemeClr val="dk1"/>
          </a:effectRef>
          <a:fontRef idx="minor">
            <a:schemeClr val="tx1"/>
          </a:fontRef>
        </p:style>
      </p:cxnSp>
      <p:sp>
        <p:nvSpPr>
          <p:cNvPr id="78" name="Rectangle 77">
            <a:extLst>
              <a:ext uri="{FF2B5EF4-FFF2-40B4-BE49-F238E27FC236}">
                <a16:creationId xmlns:a16="http://schemas.microsoft.com/office/drawing/2014/main" id="{95A9118B-6305-4BF6-A6D5-337B5D82C900}"/>
              </a:ext>
            </a:extLst>
          </p:cNvPr>
          <p:cNvSpPr/>
          <p:nvPr userDrawn="1"/>
        </p:nvSpPr>
        <p:spPr>
          <a:xfrm>
            <a:off x="11235706" y="5286158"/>
            <a:ext cx="503088" cy="17309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0" cap="none" spc="0" dirty="0" err="1">
                <a:ln>
                  <a:noFill/>
                </a:ln>
                <a:solidFill>
                  <a:schemeClr val="bg1"/>
                </a:solidFill>
                <a:effectLst/>
                <a:latin typeface="+mn-lt"/>
              </a:rPr>
              <a:t>Asie</a:t>
            </a:r>
            <a:endParaRPr lang="en-US" sz="800" b="0" cap="none" spc="0" dirty="0">
              <a:ln w="0"/>
              <a:solidFill>
                <a:schemeClr val="bg1"/>
              </a:solidFill>
              <a:effectLst>
                <a:outerShdw blurRad="38100" dist="19050" dir="2700000" algn="tl" rotWithShape="0">
                  <a:schemeClr val="dk1">
                    <a:alpha val="40000"/>
                  </a:schemeClr>
                </a:outerShdw>
              </a:effectLst>
              <a:latin typeface="+mn-lt"/>
            </a:endParaRPr>
          </a:p>
        </p:txBody>
      </p:sp>
      <p:cxnSp>
        <p:nvCxnSpPr>
          <p:cNvPr id="79" name="Connecteur droit 78">
            <a:extLst>
              <a:ext uri="{FF2B5EF4-FFF2-40B4-BE49-F238E27FC236}">
                <a16:creationId xmlns:a16="http://schemas.microsoft.com/office/drawing/2014/main" id="{265C095A-16F2-4519-B26C-24A06A38711D}"/>
              </a:ext>
            </a:extLst>
          </p:cNvPr>
          <p:cNvCxnSpPr>
            <a:cxnSpLocks/>
          </p:cNvCxnSpPr>
          <p:nvPr userDrawn="1"/>
        </p:nvCxnSpPr>
        <p:spPr>
          <a:xfrm flipV="1">
            <a:off x="10636766" y="5459257"/>
            <a:ext cx="850484" cy="274529"/>
          </a:xfrm>
          <a:prstGeom prst="line">
            <a:avLst/>
          </a:prstGeom>
          <a:ln w="635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426608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Nos expertises conseil et métiers">
    <p:spTree>
      <p:nvGrpSpPr>
        <p:cNvPr id="1" name=""/>
        <p:cNvGrpSpPr/>
        <p:nvPr/>
      </p:nvGrpSpPr>
      <p:grpSpPr>
        <a:xfrm>
          <a:off x="0" y="0"/>
          <a:ext cx="0" cy="0"/>
          <a:chOff x="0" y="0"/>
          <a:chExt cx="0" cy="0"/>
        </a:xfrm>
      </p:grpSpPr>
      <p:pic>
        <p:nvPicPr>
          <p:cNvPr id="32" name="Image 31">
            <a:extLst>
              <a:ext uri="{FF2B5EF4-FFF2-40B4-BE49-F238E27FC236}">
                <a16:creationId xmlns:a16="http://schemas.microsoft.com/office/drawing/2014/main" id="{1F8F48C7-A26D-450D-930A-C82C109B9417}"/>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31" name="ZoneTexte 30">
            <a:extLst>
              <a:ext uri="{FF2B5EF4-FFF2-40B4-BE49-F238E27FC236}">
                <a16:creationId xmlns:a16="http://schemas.microsoft.com/office/drawing/2014/main" id="{9F937600-6969-40E8-AE51-2F7DEDF9BE39}"/>
              </a:ext>
            </a:extLst>
          </p:cNvPr>
          <p:cNvSpPr txBox="1"/>
          <p:nvPr userDrawn="1"/>
        </p:nvSpPr>
        <p:spPr>
          <a:xfrm>
            <a:off x="6545715" y="1876967"/>
            <a:ext cx="4354512" cy="98488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2000" noProof="0">
                <a:latin typeface="+mj-lt"/>
              </a:rPr>
              <a:t>Sur ces 4 domaines, Expertime vous accompagne à chaque étape :</a:t>
            </a:r>
          </a:p>
          <a:p>
            <a:endParaRPr lang="fr-FR"/>
          </a:p>
        </p:txBody>
      </p:sp>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10" name="Graphique 9">
            <a:extLst>
              <a:ext uri="{FF2B5EF4-FFF2-40B4-BE49-F238E27FC236}">
                <a16:creationId xmlns:a16="http://schemas.microsoft.com/office/drawing/2014/main" id="{1B846C72-A8B1-420C-8B69-0F83B30BE86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84663" y="1989535"/>
            <a:ext cx="558786" cy="3764107"/>
          </a:xfrm>
          <a:prstGeom prst="rect">
            <a:avLst/>
          </a:prstGeom>
        </p:spPr>
      </p:pic>
      <p:sp>
        <p:nvSpPr>
          <p:cNvPr id="15" name="Rectangle : avec coins arrondis en diagonale 14">
            <a:extLst>
              <a:ext uri="{FF2B5EF4-FFF2-40B4-BE49-F238E27FC236}">
                <a16:creationId xmlns:a16="http://schemas.microsoft.com/office/drawing/2014/main" id="{A4B20F58-666B-4BFF-AACE-4EB82C04C4CE}"/>
              </a:ext>
            </a:extLst>
          </p:cNvPr>
          <p:cNvSpPr/>
          <p:nvPr userDrawn="1"/>
        </p:nvSpPr>
        <p:spPr>
          <a:xfrm>
            <a:off x="3368675" y="1533366"/>
            <a:ext cx="2492829" cy="2202543"/>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avec coins arrondis en diagonale 17">
            <a:extLst>
              <a:ext uri="{FF2B5EF4-FFF2-40B4-BE49-F238E27FC236}">
                <a16:creationId xmlns:a16="http://schemas.microsoft.com/office/drawing/2014/main" id="{E25172FC-7A48-49BA-BE13-8ACC7C5E7E54}"/>
              </a:ext>
            </a:extLst>
          </p:cNvPr>
          <p:cNvSpPr/>
          <p:nvPr userDrawn="1"/>
        </p:nvSpPr>
        <p:spPr>
          <a:xfrm>
            <a:off x="838198" y="3778417"/>
            <a:ext cx="2492829" cy="2202543"/>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avec coins arrondis en diagonale 18">
            <a:extLst>
              <a:ext uri="{FF2B5EF4-FFF2-40B4-BE49-F238E27FC236}">
                <a16:creationId xmlns:a16="http://schemas.microsoft.com/office/drawing/2014/main" id="{95BC1122-D7A0-4B9C-8DEA-B8DB8C5FB400}"/>
              </a:ext>
            </a:extLst>
          </p:cNvPr>
          <p:cNvSpPr/>
          <p:nvPr userDrawn="1"/>
        </p:nvSpPr>
        <p:spPr>
          <a:xfrm rot="5400000">
            <a:off x="3513818" y="3633274"/>
            <a:ext cx="2202543" cy="2492829"/>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avec coins arrondis en diagonale 19">
            <a:extLst>
              <a:ext uri="{FF2B5EF4-FFF2-40B4-BE49-F238E27FC236}">
                <a16:creationId xmlns:a16="http://schemas.microsoft.com/office/drawing/2014/main" id="{4EE0032C-97DE-423F-BA52-043A2635B887}"/>
              </a:ext>
            </a:extLst>
          </p:cNvPr>
          <p:cNvSpPr/>
          <p:nvPr userDrawn="1"/>
        </p:nvSpPr>
        <p:spPr>
          <a:xfrm rot="5400000">
            <a:off x="983340" y="1388223"/>
            <a:ext cx="2202543" cy="2492829"/>
          </a:xfrm>
          <a:prstGeom prst="round2DiagRect">
            <a:avLst>
              <a:gd name="adj1" fmla="val 2389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a:extLst>
              <a:ext uri="{FF2B5EF4-FFF2-40B4-BE49-F238E27FC236}">
                <a16:creationId xmlns:a16="http://schemas.microsoft.com/office/drawing/2014/main" id="{74D01219-53AE-410B-87F9-B296B50217FB}"/>
              </a:ext>
            </a:extLst>
          </p:cNvPr>
          <p:cNvSpPr txBox="1"/>
          <p:nvPr userDrawn="1"/>
        </p:nvSpPr>
        <p:spPr>
          <a:xfrm>
            <a:off x="6545715" y="2956811"/>
            <a:ext cx="4354512" cy="3139321"/>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lang="fr-FR" sz="2000" noProof="0"/>
              <a:t>1. Conseil et stratégie</a:t>
            </a:r>
            <a:br>
              <a:rPr lang="fr-FR" sz="2000" noProof="0"/>
            </a:br>
            <a:r>
              <a:rPr lang="fr-FR" sz="2000" noProof="0"/>
              <a:t>2. Cadrage et pilotage projet</a:t>
            </a:r>
            <a:br>
              <a:rPr lang="fr-FR" sz="2000" noProof="0"/>
            </a:br>
            <a:r>
              <a:rPr lang="fr-FR" sz="2000" noProof="0"/>
              <a:t>3. Développement d’outils</a:t>
            </a:r>
            <a:br>
              <a:rPr lang="fr-FR" sz="2000" noProof="0"/>
            </a:br>
            <a:r>
              <a:rPr lang="fr-FR" sz="2000" noProof="0"/>
              <a:t>4. Formation et prise en main</a:t>
            </a:r>
            <a:br>
              <a:rPr lang="fr-FR" sz="2000" noProof="0"/>
            </a:br>
            <a:r>
              <a:rPr lang="fr-FR" sz="2000" noProof="0"/>
              <a:t>5. Assistance technologique</a:t>
            </a:r>
            <a:br>
              <a:rPr lang="fr-FR" sz="2000" noProof="0"/>
            </a:br>
            <a:r>
              <a:rPr lang="fr-FR" sz="2000" noProof="0"/>
              <a:t>6. Conduite du changement</a:t>
            </a:r>
          </a:p>
          <a:p>
            <a:endParaRPr lang="fr-FR"/>
          </a:p>
        </p:txBody>
      </p:sp>
      <p:sp>
        <p:nvSpPr>
          <p:cNvPr id="36" name="ZoneTexte 35">
            <a:extLst>
              <a:ext uri="{FF2B5EF4-FFF2-40B4-BE49-F238E27FC236}">
                <a16:creationId xmlns:a16="http://schemas.microsoft.com/office/drawing/2014/main" id="{E06E803F-6B1C-47AE-B7B5-B9048B37842B}"/>
              </a:ext>
            </a:extLst>
          </p:cNvPr>
          <p:cNvSpPr txBox="1"/>
          <p:nvPr userDrawn="1"/>
        </p:nvSpPr>
        <p:spPr>
          <a:xfrm>
            <a:off x="986742" y="2337438"/>
            <a:ext cx="2190749" cy="646331"/>
          </a:xfrm>
          <a:prstGeom prst="rect">
            <a:avLst/>
          </a:prstGeom>
          <a:noFill/>
        </p:spPr>
        <p:txBody>
          <a:bodyPr wrap="square" rtlCol="0">
            <a:spAutoFit/>
          </a:bodyPr>
          <a:lstStyle/>
          <a:p>
            <a:r>
              <a:rPr lang="fr-FR">
                <a:solidFill>
                  <a:schemeClr val="bg1"/>
                </a:solidFill>
                <a:latin typeface="+mj-lt"/>
              </a:rPr>
              <a:t>Digital </a:t>
            </a:r>
          </a:p>
          <a:p>
            <a:r>
              <a:rPr lang="fr-FR">
                <a:solidFill>
                  <a:schemeClr val="bg1"/>
                </a:solidFill>
                <a:latin typeface="+mj-lt"/>
              </a:rPr>
              <a:t>Workplace </a:t>
            </a:r>
          </a:p>
        </p:txBody>
      </p:sp>
      <p:sp>
        <p:nvSpPr>
          <p:cNvPr id="37" name="ZoneTexte 36">
            <a:extLst>
              <a:ext uri="{FF2B5EF4-FFF2-40B4-BE49-F238E27FC236}">
                <a16:creationId xmlns:a16="http://schemas.microsoft.com/office/drawing/2014/main" id="{1F940832-6A25-42D6-BD02-97BAB444D883}"/>
              </a:ext>
            </a:extLst>
          </p:cNvPr>
          <p:cNvSpPr txBox="1"/>
          <p:nvPr userDrawn="1"/>
        </p:nvSpPr>
        <p:spPr>
          <a:xfrm>
            <a:off x="3581400" y="2293369"/>
            <a:ext cx="2190749" cy="646331"/>
          </a:xfrm>
          <a:prstGeom prst="rect">
            <a:avLst/>
          </a:prstGeom>
          <a:noFill/>
        </p:spPr>
        <p:txBody>
          <a:bodyPr wrap="square" rtlCol="0">
            <a:spAutoFit/>
          </a:bodyPr>
          <a:lstStyle/>
          <a:p>
            <a:r>
              <a:rPr lang="fr-FR" dirty="0">
                <a:solidFill>
                  <a:schemeClr val="bg1"/>
                </a:solidFill>
                <a:latin typeface="+mj-lt"/>
              </a:rPr>
              <a:t>Data</a:t>
            </a:r>
            <a:br>
              <a:rPr lang="fr-FR" dirty="0">
                <a:solidFill>
                  <a:schemeClr val="bg1"/>
                </a:solidFill>
                <a:latin typeface="+mj-lt"/>
              </a:rPr>
            </a:br>
            <a:r>
              <a:rPr lang="fr-FR" dirty="0">
                <a:solidFill>
                  <a:schemeClr val="bg1"/>
                </a:solidFill>
                <a:latin typeface="+mj-lt"/>
              </a:rPr>
              <a:t>intelligence</a:t>
            </a:r>
          </a:p>
        </p:txBody>
      </p:sp>
      <p:sp>
        <p:nvSpPr>
          <p:cNvPr id="38" name="ZoneTexte 37">
            <a:extLst>
              <a:ext uri="{FF2B5EF4-FFF2-40B4-BE49-F238E27FC236}">
                <a16:creationId xmlns:a16="http://schemas.microsoft.com/office/drawing/2014/main" id="{F62254DB-E966-449D-BC37-310E06680289}"/>
              </a:ext>
            </a:extLst>
          </p:cNvPr>
          <p:cNvSpPr txBox="1"/>
          <p:nvPr userDrawn="1"/>
        </p:nvSpPr>
        <p:spPr>
          <a:xfrm>
            <a:off x="3519709" y="4537796"/>
            <a:ext cx="2190749" cy="646331"/>
          </a:xfrm>
          <a:prstGeom prst="rect">
            <a:avLst/>
          </a:prstGeom>
          <a:noFill/>
        </p:spPr>
        <p:txBody>
          <a:bodyPr wrap="square" rtlCol="0">
            <a:spAutoFit/>
          </a:bodyPr>
          <a:lstStyle/>
          <a:p>
            <a:r>
              <a:rPr lang="fr-FR" dirty="0">
                <a:solidFill>
                  <a:schemeClr val="bg1"/>
                </a:solidFill>
                <a:latin typeface="+mj-lt"/>
              </a:rPr>
              <a:t>Web et e-commerce</a:t>
            </a:r>
          </a:p>
        </p:txBody>
      </p:sp>
      <p:sp>
        <p:nvSpPr>
          <p:cNvPr id="39" name="ZoneTexte 38">
            <a:extLst>
              <a:ext uri="{FF2B5EF4-FFF2-40B4-BE49-F238E27FC236}">
                <a16:creationId xmlns:a16="http://schemas.microsoft.com/office/drawing/2014/main" id="{869E6CFB-2E88-4D1C-98B8-3033D20E71A7}"/>
              </a:ext>
            </a:extLst>
          </p:cNvPr>
          <p:cNvSpPr txBox="1"/>
          <p:nvPr userDrawn="1"/>
        </p:nvSpPr>
        <p:spPr>
          <a:xfrm>
            <a:off x="989005" y="2983659"/>
            <a:ext cx="2190749"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noProof="0" dirty="0">
                <a:solidFill>
                  <a:schemeClr val="bg1"/>
                </a:solidFill>
              </a:rPr>
              <a:t>Rapprocher les humains et gagner en productivité.</a:t>
            </a:r>
          </a:p>
          <a:p>
            <a:endParaRPr lang="fr-FR" sz="1600" dirty="0"/>
          </a:p>
        </p:txBody>
      </p:sp>
      <p:sp>
        <p:nvSpPr>
          <p:cNvPr id="41" name="ZoneTexte 40">
            <a:extLst>
              <a:ext uri="{FF2B5EF4-FFF2-40B4-BE49-F238E27FC236}">
                <a16:creationId xmlns:a16="http://schemas.microsoft.com/office/drawing/2014/main" id="{92ABF441-BD8B-46AD-AC39-11E9C067F176}"/>
              </a:ext>
            </a:extLst>
          </p:cNvPr>
          <p:cNvSpPr txBox="1"/>
          <p:nvPr userDrawn="1"/>
        </p:nvSpPr>
        <p:spPr>
          <a:xfrm>
            <a:off x="3581400" y="2938447"/>
            <a:ext cx="2190749"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noProof="0">
                <a:solidFill>
                  <a:schemeClr val="bg1"/>
                </a:solidFill>
              </a:rPr>
              <a:t>Faciliter l’analyse et la prise de décision.</a:t>
            </a:r>
          </a:p>
          <a:p>
            <a:endParaRPr lang="fr-FR" sz="1600"/>
          </a:p>
        </p:txBody>
      </p:sp>
      <p:sp>
        <p:nvSpPr>
          <p:cNvPr id="42" name="ZoneTexte 41">
            <a:extLst>
              <a:ext uri="{FF2B5EF4-FFF2-40B4-BE49-F238E27FC236}">
                <a16:creationId xmlns:a16="http://schemas.microsoft.com/office/drawing/2014/main" id="{C5EBF3B3-E01A-474D-8E45-1C395F2A03EA}"/>
              </a:ext>
            </a:extLst>
          </p:cNvPr>
          <p:cNvSpPr txBox="1"/>
          <p:nvPr userDrawn="1"/>
        </p:nvSpPr>
        <p:spPr>
          <a:xfrm>
            <a:off x="3519708" y="5182874"/>
            <a:ext cx="2190749"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b="0" i="0" u="none" strike="noStrike" dirty="0">
                <a:solidFill>
                  <a:schemeClr val="bg1"/>
                </a:solidFill>
                <a:effectLst/>
              </a:rPr>
              <a:t>Fournir la meilleure expérience client possible et générer des conversions.</a:t>
            </a:r>
            <a:endParaRPr lang="fr-FR" sz="1600" dirty="0">
              <a:solidFill>
                <a:schemeClr val="bg1"/>
              </a:solidFill>
            </a:endParaRPr>
          </a:p>
        </p:txBody>
      </p:sp>
      <p:sp>
        <p:nvSpPr>
          <p:cNvPr id="3" name="ZoneTexte 2">
            <a:extLst>
              <a:ext uri="{FF2B5EF4-FFF2-40B4-BE49-F238E27FC236}">
                <a16:creationId xmlns:a16="http://schemas.microsoft.com/office/drawing/2014/main" id="{D03D0195-50B7-4CD2-A62E-C8E96900AC16}"/>
              </a:ext>
            </a:extLst>
          </p:cNvPr>
          <p:cNvSpPr txBox="1"/>
          <p:nvPr userDrawn="1"/>
        </p:nvSpPr>
        <p:spPr>
          <a:xfrm>
            <a:off x="838197" y="120546"/>
            <a:ext cx="8286753" cy="1346304"/>
          </a:xfrm>
          <a:prstGeom prst="rect">
            <a:avLst/>
          </a:prstGeom>
          <a:noFill/>
        </p:spPr>
        <p:txBody>
          <a:bodyPr wrap="square" rtlCol="0">
            <a:spAutoFit/>
          </a:bodyPr>
          <a:lstStyle/>
          <a:p>
            <a:endParaRPr lang="fr-FR"/>
          </a:p>
        </p:txBody>
      </p:sp>
      <p:pic>
        <p:nvPicPr>
          <p:cNvPr id="14" name="Image 13">
            <a:extLst>
              <a:ext uri="{FF2B5EF4-FFF2-40B4-BE49-F238E27FC236}">
                <a16:creationId xmlns:a16="http://schemas.microsoft.com/office/drawing/2014/main" id="{B98E405B-5EF9-4A69-B72C-DC3A919C5725}"/>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671886" y="1745906"/>
            <a:ext cx="495541" cy="481776"/>
          </a:xfrm>
          <a:prstGeom prst="rect">
            <a:avLst/>
          </a:prstGeom>
        </p:spPr>
      </p:pic>
      <p:pic>
        <p:nvPicPr>
          <p:cNvPr id="17" name="Image 16">
            <a:extLst>
              <a:ext uri="{FF2B5EF4-FFF2-40B4-BE49-F238E27FC236}">
                <a16:creationId xmlns:a16="http://schemas.microsoft.com/office/drawing/2014/main" id="{23E2EF50-24A5-49B1-8C3A-53D848AD3A46}"/>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77227" y="1618291"/>
            <a:ext cx="641845" cy="696055"/>
          </a:xfrm>
          <a:prstGeom prst="rect">
            <a:avLst/>
          </a:prstGeom>
        </p:spPr>
      </p:pic>
      <p:sp>
        <p:nvSpPr>
          <p:cNvPr id="2" name="ZoneTexte 1">
            <a:extLst>
              <a:ext uri="{FF2B5EF4-FFF2-40B4-BE49-F238E27FC236}">
                <a16:creationId xmlns:a16="http://schemas.microsoft.com/office/drawing/2014/main" id="{A88CEABE-2A56-4B5C-955D-6352804D5A3D}"/>
              </a:ext>
            </a:extLst>
          </p:cNvPr>
          <p:cNvSpPr txBox="1"/>
          <p:nvPr userDrawn="1"/>
        </p:nvSpPr>
        <p:spPr>
          <a:xfrm>
            <a:off x="838197" y="143876"/>
            <a:ext cx="10515606" cy="769441"/>
          </a:xfrm>
          <a:prstGeom prst="rect">
            <a:avLst/>
          </a:prstGeom>
          <a:noFill/>
        </p:spPr>
        <p:txBody>
          <a:bodyPr wrap="square" rtlCol="0" anchor="ctr">
            <a:spAutoFit/>
          </a:bodyPr>
          <a:lstStyle/>
          <a:p>
            <a:r>
              <a:rPr lang="fr-FR" sz="4400">
                <a:solidFill>
                  <a:schemeClr val="bg1"/>
                </a:solidFill>
                <a:latin typeface="+mj-lt"/>
              </a:rPr>
              <a:t>Nos expertises conseil et métiers</a:t>
            </a:r>
          </a:p>
        </p:txBody>
      </p:sp>
      <p:sp>
        <p:nvSpPr>
          <p:cNvPr id="29" name="ZoneTexte 28">
            <a:extLst>
              <a:ext uri="{FF2B5EF4-FFF2-40B4-BE49-F238E27FC236}">
                <a16:creationId xmlns:a16="http://schemas.microsoft.com/office/drawing/2014/main" id="{E8F4C6F8-C469-4D70-BA8B-0135E438354F}"/>
              </a:ext>
            </a:extLst>
          </p:cNvPr>
          <p:cNvSpPr txBox="1"/>
          <p:nvPr userDrawn="1"/>
        </p:nvSpPr>
        <p:spPr>
          <a:xfrm>
            <a:off x="1077227" y="4535866"/>
            <a:ext cx="2190749"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a:solidFill>
                  <a:schemeClr val="bg1"/>
                </a:solidFill>
                <a:latin typeface="+mj-lt"/>
              </a:rPr>
              <a:t>Applications métier</a:t>
            </a:r>
          </a:p>
          <a:p>
            <a:endParaRPr lang="fr-FR" dirty="0">
              <a:solidFill>
                <a:schemeClr val="bg1"/>
              </a:solidFill>
              <a:latin typeface="+mj-lt"/>
            </a:endParaRPr>
          </a:p>
        </p:txBody>
      </p:sp>
      <p:pic>
        <p:nvPicPr>
          <p:cNvPr id="40" name="Image 39">
            <a:extLst>
              <a:ext uri="{FF2B5EF4-FFF2-40B4-BE49-F238E27FC236}">
                <a16:creationId xmlns:a16="http://schemas.microsoft.com/office/drawing/2014/main" id="{7A1949EE-D181-4E2D-A149-B21F383D620E}"/>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630694" y="3972830"/>
            <a:ext cx="568847" cy="520528"/>
          </a:xfrm>
          <a:prstGeom prst="rect">
            <a:avLst/>
          </a:prstGeom>
        </p:spPr>
      </p:pic>
      <p:sp>
        <p:nvSpPr>
          <p:cNvPr id="30" name="ZoneTexte 29">
            <a:extLst>
              <a:ext uri="{FF2B5EF4-FFF2-40B4-BE49-F238E27FC236}">
                <a16:creationId xmlns:a16="http://schemas.microsoft.com/office/drawing/2014/main" id="{9E66CB31-815E-42AA-BCE0-3059C14A14C0}"/>
              </a:ext>
            </a:extLst>
          </p:cNvPr>
          <p:cNvSpPr txBox="1"/>
          <p:nvPr userDrawn="1"/>
        </p:nvSpPr>
        <p:spPr>
          <a:xfrm>
            <a:off x="1079492" y="5166673"/>
            <a:ext cx="2190749"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b="0" i="0" u="none" strike="noStrike" dirty="0">
                <a:solidFill>
                  <a:schemeClr val="bg1"/>
                </a:solidFill>
                <a:effectLst/>
              </a:rPr>
              <a:t>Développer les solutions et intégrer les processus de la performance métier.</a:t>
            </a:r>
            <a:endParaRPr lang="fr-FR" sz="1200" noProof="0" dirty="0">
              <a:solidFill>
                <a:schemeClr val="bg1"/>
              </a:solidFill>
            </a:endParaRPr>
          </a:p>
        </p:txBody>
      </p:sp>
      <p:pic>
        <p:nvPicPr>
          <p:cNvPr id="35" name="Image 34">
            <a:extLst>
              <a:ext uri="{FF2B5EF4-FFF2-40B4-BE49-F238E27FC236}">
                <a16:creationId xmlns:a16="http://schemas.microsoft.com/office/drawing/2014/main" id="{48CCA7E5-A474-4A91-979C-832FA092DA0B}"/>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134785" y="3942773"/>
            <a:ext cx="582619" cy="550585"/>
          </a:xfrm>
          <a:prstGeom prst="rect">
            <a:avLst/>
          </a:prstGeom>
        </p:spPr>
      </p:pic>
    </p:spTree>
    <p:extLst>
      <p:ext uri="{BB962C8B-B14F-4D97-AF65-F5344CB8AC3E}">
        <p14:creationId xmlns:p14="http://schemas.microsoft.com/office/powerpoint/2010/main" val="134969999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artenariat Microsoft">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3740" y="-3631"/>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14" name="ZoneTexte 13">
            <a:extLst>
              <a:ext uri="{FF2B5EF4-FFF2-40B4-BE49-F238E27FC236}">
                <a16:creationId xmlns:a16="http://schemas.microsoft.com/office/drawing/2014/main" id="{DC4F0214-2EDC-44D6-B9B1-288CDA91F1C8}"/>
              </a:ext>
            </a:extLst>
          </p:cNvPr>
          <p:cNvSpPr txBox="1"/>
          <p:nvPr userDrawn="1"/>
        </p:nvSpPr>
        <p:spPr>
          <a:xfrm>
            <a:off x="838197" y="143876"/>
            <a:ext cx="10515606" cy="769441"/>
          </a:xfrm>
          <a:prstGeom prst="rect">
            <a:avLst/>
          </a:prstGeom>
          <a:noFill/>
        </p:spPr>
        <p:txBody>
          <a:bodyPr wrap="square" rtlCol="0" anchor="ctr">
            <a:spAutoFit/>
          </a:bodyPr>
          <a:lstStyle/>
          <a:p>
            <a:r>
              <a:rPr lang="fr-FR" sz="4400">
                <a:solidFill>
                  <a:schemeClr val="bg1"/>
                </a:solidFill>
                <a:latin typeface="+mj-lt"/>
              </a:rPr>
              <a:t>Haut niveau de partenariat Microsoft</a:t>
            </a:r>
          </a:p>
        </p:txBody>
      </p:sp>
      <p:pic>
        <p:nvPicPr>
          <p:cNvPr id="3" name="Image 2">
            <a:extLst>
              <a:ext uri="{FF2B5EF4-FFF2-40B4-BE49-F238E27FC236}">
                <a16:creationId xmlns:a16="http://schemas.microsoft.com/office/drawing/2014/main" id="{506019FE-1411-47C0-8F2F-B9FCBB122DEA}"/>
              </a:ext>
            </a:extLst>
          </p:cNvPr>
          <p:cNvPicPr>
            <a:picLocks noChangeAspect="1"/>
          </p:cNvPicPr>
          <p:nvPr userDrawn="1"/>
        </p:nvPicPr>
        <p:blipFill rotWithShape="1">
          <a:blip r:embed="rId2"/>
          <a:srcRect l="27659"/>
          <a:stretch/>
        </p:blipFill>
        <p:spPr>
          <a:xfrm>
            <a:off x="-3740" y="1821815"/>
            <a:ext cx="2743200" cy="3792041"/>
          </a:xfrm>
          <a:prstGeom prst="rect">
            <a:avLst/>
          </a:prstGeom>
        </p:spPr>
      </p:pic>
      <p:pic>
        <p:nvPicPr>
          <p:cNvPr id="30" name="Image 29">
            <a:extLst>
              <a:ext uri="{FF2B5EF4-FFF2-40B4-BE49-F238E27FC236}">
                <a16:creationId xmlns:a16="http://schemas.microsoft.com/office/drawing/2014/main" id="{9381C26B-2617-437E-AE26-7A8671DD0D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2" name="Image 1">
            <a:extLst>
              <a:ext uri="{FF2B5EF4-FFF2-40B4-BE49-F238E27FC236}">
                <a16:creationId xmlns:a16="http://schemas.microsoft.com/office/drawing/2014/main" id="{D11650CB-F9CF-427E-BE7E-0E1F5D9ED653}"/>
              </a:ext>
            </a:extLst>
          </p:cNvPr>
          <p:cNvPicPr>
            <a:picLocks noChangeAspect="1"/>
          </p:cNvPicPr>
          <p:nvPr userDrawn="1"/>
        </p:nvPicPr>
        <p:blipFill rotWithShape="1">
          <a:blip r:embed="rId4"/>
          <a:srcRect l="70949"/>
          <a:stretch/>
        </p:blipFill>
        <p:spPr>
          <a:xfrm>
            <a:off x="3176994" y="1810561"/>
            <a:ext cx="596865" cy="3773751"/>
          </a:xfrm>
          <a:prstGeom prst="rect">
            <a:avLst/>
          </a:prstGeom>
        </p:spPr>
      </p:pic>
      <p:sp>
        <p:nvSpPr>
          <p:cNvPr id="16" name="ZoneTexte 15">
            <a:extLst>
              <a:ext uri="{FF2B5EF4-FFF2-40B4-BE49-F238E27FC236}">
                <a16:creationId xmlns:a16="http://schemas.microsoft.com/office/drawing/2014/main" id="{4ABADA7E-BDB5-457B-BE73-D8F8982B681F}"/>
              </a:ext>
            </a:extLst>
          </p:cNvPr>
          <p:cNvSpPr txBox="1"/>
          <p:nvPr userDrawn="1"/>
        </p:nvSpPr>
        <p:spPr>
          <a:xfrm>
            <a:off x="4838007" y="1960314"/>
            <a:ext cx="2790812" cy="369332"/>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a:solidFill>
                  <a:schemeClr val="bg1"/>
                </a:solidFill>
                <a:latin typeface="+mj-lt"/>
              </a:rPr>
              <a:t>Partenaire historique</a:t>
            </a:r>
          </a:p>
        </p:txBody>
      </p:sp>
      <p:sp>
        <p:nvSpPr>
          <p:cNvPr id="17" name="ZoneTexte 16">
            <a:extLst>
              <a:ext uri="{FF2B5EF4-FFF2-40B4-BE49-F238E27FC236}">
                <a16:creationId xmlns:a16="http://schemas.microsoft.com/office/drawing/2014/main" id="{F9CF77C2-4AC6-4C9E-BD40-AC2FF29F69C8}"/>
              </a:ext>
            </a:extLst>
          </p:cNvPr>
          <p:cNvSpPr txBox="1"/>
          <p:nvPr userDrawn="1"/>
        </p:nvSpPr>
        <p:spPr>
          <a:xfrm>
            <a:off x="4213658" y="2452622"/>
            <a:ext cx="3417426" cy="1123384"/>
          </a:xfrm>
          <a:prstGeom prst="rect">
            <a:avLst/>
          </a:prstGeom>
          <a:noFill/>
        </p:spPr>
        <p:txBody>
          <a:bodyPr wrap="square" rtlCol="0">
            <a:spAutoFit/>
          </a:bodyPr>
          <a:lstStyle/>
          <a:p>
            <a:pPr>
              <a:spcAft>
                <a:spcPts val="600"/>
              </a:spcAft>
              <a:defRPr/>
            </a:pPr>
            <a:r>
              <a:rPr lang="fr-FR" sz="1200">
                <a:solidFill>
                  <a:schemeClr val="bg1"/>
                </a:solidFill>
              </a:rPr>
              <a:t>Une </a:t>
            </a:r>
            <a:r>
              <a:rPr lang="fr-FR" sz="1200" b="1">
                <a:solidFill>
                  <a:schemeClr val="bg1"/>
                </a:solidFill>
              </a:rPr>
              <a:t>confiance renouvelée depuis </a:t>
            </a:r>
            <a:r>
              <a:rPr lang="fr-FR" sz="1200" b="1" noProof="0">
                <a:solidFill>
                  <a:schemeClr val="bg1"/>
                </a:solidFill>
              </a:rPr>
              <a:t>18 ans</a:t>
            </a:r>
            <a:endParaRPr lang="fr-FR" sz="1200" b="1">
              <a:solidFill>
                <a:schemeClr val="bg1"/>
              </a:solidFill>
            </a:endParaRPr>
          </a:p>
          <a:p>
            <a:pPr>
              <a:spcAft>
                <a:spcPts val="600"/>
              </a:spcAft>
              <a:defRPr/>
            </a:pPr>
            <a:r>
              <a:rPr lang="fr-FR" sz="1200" b="1" noProof="0">
                <a:solidFill>
                  <a:schemeClr val="bg1"/>
                </a:solidFill>
              </a:rPr>
              <a:t>Partner of the </a:t>
            </a:r>
            <a:r>
              <a:rPr lang="fr-FR" sz="1200" b="1" noProof="0" err="1">
                <a:solidFill>
                  <a:schemeClr val="bg1"/>
                </a:solidFill>
              </a:rPr>
              <a:t>year</a:t>
            </a:r>
            <a:r>
              <a:rPr lang="fr-FR" sz="1200" b="1">
                <a:solidFill>
                  <a:schemeClr val="bg1"/>
                </a:solidFill>
              </a:rPr>
              <a:t> 2016</a:t>
            </a:r>
            <a:endParaRPr lang="fr-FR" sz="1200" b="0">
              <a:solidFill>
                <a:schemeClr val="bg1"/>
              </a:solidFill>
            </a:endParaRPr>
          </a:p>
          <a:p>
            <a:pPr>
              <a:spcAft>
                <a:spcPts val="600"/>
              </a:spcAft>
              <a:defRPr/>
            </a:pPr>
            <a:r>
              <a:rPr lang="fr-FR" sz="1200">
                <a:solidFill>
                  <a:schemeClr val="bg1"/>
                </a:solidFill>
              </a:rPr>
              <a:t>Incubateur de </a:t>
            </a:r>
            <a:r>
              <a:rPr lang="fr-FR" sz="1200" noProof="0">
                <a:solidFill>
                  <a:schemeClr val="bg1"/>
                </a:solidFill>
              </a:rPr>
              <a:t>l’éditeur </a:t>
            </a:r>
            <a:r>
              <a:rPr lang="fr-FR" sz="1200" b="1" noProof="0">
                <a:solidFill>
                  <a:schemeClr val="bg1"/>
                </a:solidFill>
              </a:rPr>
              <a:t>Powell Software</a:t>
            </a:r>
            <a:endParaRPr lang="fr-FR" sz="1200" noProof="0">
              <a:solidFill>
                <a:schemeClr val="bg1"/>
              </a:solidFill>
            </a:endParaRPr>
          </a:p>
          <a:p>
            <a:endParaRPr lang="fr-FR" sz="1600"/>
          </a:p>
        </p:txBody>
      </p:sp>
      <p:sp>
        <p:nvSpPr>
          <p:cNvPr id="18" name="ZoneTexte 17">
            <a:extLst>
              <a:ext uri="{FF2B5EF4-FFF2-40B4-BE49-F238E27FC236}">
                <a16:creationId xmlns:a16="http://schemas.microsoft.com/office/drawing/2014/main" id="{010FABD4-BBA9-4583-AE75-BBA21FF85866}"/>
              </a:ext>
            </a:extLst>
          </p:cNvPr>
          <p:cNvSpPr txBox="1"/>
          <p:nvPr userDrawn="1"/>
        </p:nvSpPr>
        <p:spPr>
          <a:xfrm>
            <a:off x="8577953" y="1941223"/>
            <a:ext cx="3120699" cy="369332"/>
          </a:xfrm>
          <a:prstGeom prst="rect">
            <a:avLst/>
          </a:prstGeom>
          <a:noFill/>
        </p:spPr>
        <p:txBody>
          <a:bodyPr wrap="square" rtlCol="0">
            <a:spAutoFit/>
          </a:bodyPr>
          <a:lstStyle/>
          <a:p>
            <a:r>
              <a:rPr lang="fr-FR">
                <a:solidFill>
                  <a:schemeClr val="bg1"/>
                </a:solidFill>
                <a:latin typeface="+mj-lt"/>
              </a:rPr>
              <a:t>Expert du cloud d’entreprise</a:t>
            </a:r>
          </a:p>
        </p:txBody>
      </p:sp>
      <p:sp>
        <p:nvSpPr>
          <p:cNvPr id="19" name="ZoneTexte 18">
            <a:extLst>
              <a:ext uri="{FF2B5EF4-FFF2-40B4-BE49-F238E27FC236}">
                <a16:creationId xmlns:a16="http://schemas.microsoft.com/office/drawing/2014/main" id="{6EF8D3F6-541A-49E6-845E-5AFA91F34D04}"/>
              </a:ext>
            </a:extLst>
          </p:cNvPr>
          <p:cNvSpPr txBox="1"/>
          <p:nvPr userDrawn="1"/>
        </p:nvSpPr>
        <p:spPr>
          <a:xfrm>
            <a:off x="7951340" y="2452622"/>
            <a:ext cx="3417426" cy="32162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b="1" noProof="0">
                <a:solidFill>
                  <a:schemeClr val="bg1"/>
                </a:solidFill>
              </a:rPr>
              <a:t>Azure</a:t>
            </a:r>
            <a:r>
              <a:rPr lang="fr-FR" sz="1200" noProof="0">
                <a:solidFill>
                  <a:schemeClr val="bg1"/>
                </a:solidFill>
              </a:rPr>
              <a:t> :</a:t>
            </a:r>
          </a:p>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b="1" noProof="0">
                <a:solidFill>
                  <a:schemeClr val="bg1"/>
                </a:solidFill>
              </a:rPr>
              <a:t>Migration, modernisation, innovation </a:t>
            </a:r>
            <a:r>
              <a:rPr lang="fr-FR" sz="1200" b="0" noProof="0">
                <a:solidFill>
                  <a:schemeClr val="bg1"/>
                </a:solidFill>
              </a:rPr>
              <a:t>et</a:t>
            </a:r>
            <a:r>
              <a:rPr lang="fr-FR" sz="1200" b="1" noProof="0">
                <a:solidFill>
                  <a:schemeClr val="bg1"/>
                </a:solidFill>
              </a:rPr>
              <a:t> management technique </a:t>
            </a:r>
            <a:r>
              <a:rPr lang="fr-FR" sz="1200" noProof="0">
                <a:solidFill>
                  <a:schemeClr val="bg1"/>
                </a:solidFill>
              </a:rPr>
              <a:t>des solutions </a:t>
            </a:r>
            <a:r>
              <a:rPr lang="fr-FR" sz="1200" b="1" noProof="0">
                <a:solidFill>
                  <a:schemeClr val="bg1"/>
                </a:solidFill>
              </a:rPr>
              <a:t>Apps, </a:t>
            </a:r>
            <a:r>
              <a:rPr lang="fr-FR" sz="1200" b="1">
                <a:solidFill>
                  <a:schemeClr val="bg1"/>
                </a:solidFill>
              </a:rPr>
              <a:t>Data et IA</a:t>
            </a:r>
            <a:endParaRPr lang="fr-FR" sz="1200" noProof="0">
              <a:solidFill>
                <a:schemeClr val="bg1"/>
              </a:solidFill>
            </a:endParaRPr>
          </a:p>
          <a:p>
            <a:pPr marL="0" marR="0" lvl="0" indent="0" algn="l" defTabSz="457200" rtl="0" eaLnBrk="1" fontAlgn="auto" latinLnBrk="0" hangingPunct="1">
              <a:lnSpc>
                <a:spcPct val="100000"/>
              </a:lnSpc>
              <a:spcBef>
                <a:spcPts val="0"/>
              </a:spcBef>
              <a:spcAft>
                <a:spcPts val="600"/>
              </a:spcAft>
              <a:buClrTx/>
              <a:buSzTx/>
              <a:buFontTx/>
              <a:buNone/>
              <a:tabLst/>
              <a:defRPr/>
            </a:pPr>
            <a:endParaRPr lang="fr-FR" sz="1200" b="1" noProof="0">
              <a:solidFill>
                <a:schemeClr val="bg1"/>
              </a:solidFill>
            </a:endParaRPr>
          </a:p>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b="1" noProof="0">
                <a:solidFill>
                  <a:schemeClr val="bg1"/>
                </a:solidFill>
              </a:rPr>
              <a:t>Microsoft 365</a:t>
            </a:r>
            <a:r>
              <a:rPr lang="fr-FR" sz="1200" noProof="0">
                <a:solidFill>
                  <a:schemeClr val="bg1"/>
                </a:solidFill>
              </a:rPr>
              <a:t> : </a:t>
            </a:r>
          </a:p>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noProof="0">
                <a:solidFill>
                  <a:schemeClr val="bg1"/>
                </a:solidFill>
              </a:rPr>
              <a:t>Conseil, accompagnement et implémentation de </a:t>
            </a:r>
            <a:r>
              <a:rPr lang="fr-FR" sz="1200" b="1" noProof="0">
                <a:solidFill>
                  <a:schemeClr val="bg1"/>
                </a:solidFill>
              </a:rPr>
              <a:t>Digital Workplace </a:t>
            </a:r>
            <a:r>
              <a:rPr lang="fr-FR" sz="1200" noProof="0">
                <a:solidFill>
                  <a:schemeClr val="bg1"/>
                </a:solidFill>
              </a:rPr>
              <a:t>et solutions </a:t>
            </a:r>
            <a:r>
              <a:rPr lang="fr-FR" sz="1200" b="1" noProof="0">
                <a:solidFill>
                  <a:schemeClr val="bg1"/>
                </a:solidFill>
              </a:rPr>
              <a:t>Teams as a platform</a:t>
            </a:r>
            <a:endParaRPr lang="fr-FR" sz="1200">
              <a:solidFill>
                <a:schemeClr val="bg1"/>
              </a:solidFill>
            </a:endParaRPr>
          </a:p>
          <a:p>
            <a:pPr marL="0" marR="0" lvl="0" indent="0" algn="l" defTabSz="457200" rtl="0" eaLnBrk="1" fontAlgn="auto" latinLnBrk="0" hangingPunct="1">
              <a:lnSpc>
                <a:spcPct val="100000"/>
              </a:lnSpc>
              <a:spcBef>
                <a:spcPts val="0"/>
              </a:spcBef>
              <a:spcAft>
                <a:spcPts val="600"/>
              </a:spcAft>
              <a:buClrTx/>
              <a:buSzTx/>
              <a:buFontTx/>
              <a:buNone/>
              <a:tabLst/>
              <a:defRPr/>
            </a:pPr>
            <a:endParaRPr lang="fr-FR" sz="1200" b="1" noProof="0">
              <a:solidFill>
                <a:schemeClr val="bg1"/>
              </a:solidFill>
            </a:endParaRPr>
          </a:p>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b="1" noProof="0">
                <a:solidFill>
                  <a:schemeClr val="bg1"/>
                </a:solidFill>
              </a:rPr>
              <a:t>Low code / Power platform </a:t>
            </a:r>
            <a:r>
              <a:rPr lang="fr-FR" sz="1200" noProof="0">
                <a:solidFill>
                  <a:schemeClr val="bg1"/>
                </a:solidFill>
              </a:rPr>
              <a:t>:  </a:t>
            </a:r>
          </a:p>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b="1" noProof="0">
                <a:solidFill>
                  <a:schemeClr val="bg1"/>
                </a:solidFill>
              </a:rPr>
              <a:t>Centres d’excellence et gouvernance</a:t>
            </a:r>
            <a:r>
              <a:rPr lang="fr-FR" sz="1200" noProof="0">
                <a:solidFill>
                  <a:schemeClr val="bg1"/>
                </a:solidFill>
              </a:rPr>
              <a:t> des solutions </a:t>
            </a:r>
            <a:r>
              <a:rPr lang="fr-FR" sz="1200" b="1" noProof="0">
                <a:solidFill>
                  <a:schemeClr val="bg1"/>
                </a:solidFill>
              </a:rPr>
              <a:t>Power BI, Power Apps, Automate et </a:t>
            </a:r>
            <a:r>
              <a:rPr lang="fr-FR" sz="1200" b="1" noProof="0" err="1">
                <a:solidFill>
                  <a:schemeClr val="bg1"/>
                </a:solidFill>
              </a:rPr>
              <a:t>Virtua</a:t>
            </a:r>
            <a:r>
              <a:rPr lang="fr-FR" sz="1200" b="1">
                <a:solidFill>
                  <a:schemeClr val="bg1"/>
                </a:solidFill>
              </a:rPr>
              <a:t>l Agent</a:t>
            </a:r>
            <a:endParaRPr lang="fr-FR" sz="1200" b="1" noProof="0">
              <a:solidFill>
                <a:schemeClr val="bg1"/>
              </a:solidFill>
            </a:endParaRPr>
          </a:p>
        </p:txBody>
      </p:sp>
      <p:sp>
        <p:nvSpPr>
          <p:cNvPr id="21" name="ZoneTexte 20">
            <a:extLst>
              <a:ext uri="{FF2B5EF4-FFF2-40B4-BE49-F238E27FC236}">
                <a16:creationId xmlns:a16="http://schemas.microsoft.com/office/drawing/2014/main" id="{14FE1E3B-9767-4A9F-A2CA-69BC01B593F7}"/>
              </a:ext>
            </a:extLst>
          </p:cNvPr>
          <p:cNvSpPr txBox="1"/>
          <p:nvPr userDrawn="1"/>
        </p:nvSpPr>
        <p:spPr>
          <a:xfrm>
            <a:off x="4838007" y="3609289"/>
            <a:ext cx="2793587" cy="369332"/>
          </a:xfrm>
          <a:prstGeom prst="rect">
            <a:avLst/>
          </a:prstGeom>
          <a:noFill/>
        </p:spPr>
        <p:txBody>
          <a:bodyPr wrap="square" rtlCol="0">
            <a:spAutoFit/>
          </a:bodyPr>
          <a:lstStyle/>
          <a:p>
            <a:r>
              <a:rPr lang="fr-FR">
                <a:solidFill>
                  <a:schemeClr val="bg1"/>
                </a:solidFill>
                <a:latin typeface="+mj-lt"/>
              </a:rPr>
              <a:t>Compétences reconnues</a:t>
            </a:r>
          </a:p>
        </p:txBody>
      </p:sp>
      <p:sp>
        <p:nvSpPr>
          <p:cNvPr id="22" name="ZoneTexte 21">
            <a:extLst>
              <a:ext uri="{FF2B5EF4-FFF2-40B4-BE49-F238E27FC236}">
                <a16:creationId xmlns:a16="http://schemas.microsoft.com/office/drawing/2014/main" id="{D90928AB-BE66-4A5B-8592-EB191AD113A5}"/>
              </a:ext>
            </a:extLst>
          </p:cNvPr>
          <p:cNvSpPr txBox="1"/>
          <p:nvPr userDrawn="1"/>
        </p:nvSpPr>
        <p:spPr>
          <a:xfrm>
            <a:off x="4216433" y="4109280"/>
            <a:ext cx="3417426" cy="1800493"/>
          </a:xfrm>
          <a:prstGeom prst="rect">
            <a:avLst/>
          </a:prstGeom>
          <a:noFill/>
        </p:spPr>
        <p:txBody>
          <a:bodyPr wrap="square" rtlCol="0">
            <a:spAutoFit/>
          </a:bodyPr>
          <a:lstStyle/>
          <a:p>
            <a:pPr>
              <a:spcAft>
                <a:spcPts val="600"/>
              </a:spcAft>
              <a:defRPr/>
            </a:pPr>
            <a:r>
              <a:rPr lang="fr-FR" sz="1200" b="1" noProof="0" dirty="0">
                <a:solidFill>
                  <a:schemeClr val="bg1"/>
                </a:solidFill>
              </a:rPr>
              <a:t>10 compétences Gold </a:t>
            </a:r>
            <a:r>
              <a:rPr lang="fr-FR" sz="1200" b="1" noProof="0" dirty="0" err="1">
                <a:solidFill>
                  <a:schemeClr val="bg1"/>
                </a:solidFill>
              </a:rPr>
              <a:t>partner</a:t>
            </a:r>
            <a:endParaRPr lang="fr-FR" sz="1200" b="1" noProof="0" dirty="0">
              <a:solidFill>
                <a:schemeClr val="bg1"/>
              </a:solidFill>
            </a:endParaRPr>
          </a:p>
          <a:p>
            <a:pPr>
              <a:spcAft>
                <a:spcPts val="600"/>
              </a:spcAft>
              <a:defRPr/>
            </a:pPr>
            <a:r>
              <a:rPr lang="fr-FR" sz="1200" b="1" noProof="0" dirty="0">
                <a:solidFill>
                  <a:schemeClr val="bg1"/>
                </a:solidFill>
              </a:rPr>
              <a:t>3 Advanced </a:t>
            </a:r>
            <a:r>
              <a:rPr lang="fr-FR" sz="1200" b="1" noProof="0" dirty="0" err="1">
                <a:solidFill>
                  <a:schemeClr val="bg1"/>
                </a:solidFill>
              </a:rPr>
              <a:t>Specializations</a:t>
            </a:r>
            <a:r>
              <a:rPr lang="fr-FR" sz="1200" b="1" noProof="0" dirty="0">
                <a:solidFill>
                  <a:schemeClr val="bg1"/>
                </a:solidFill>
              </a:rPr>
              <a:t> : </a:t>
            </a:r>
            <a:r>
              <a:rPr lang="fr-FR" sz="1200" b="0" noProof="0" dirty="0">
                <a:solidFill>
                  <a:schemeClr val="bg1"/>
                </a:solidFill>
              </a:rPr>
              <a:t>Modernisation des </a:t>
            </a:r>
            <a:r>
              <a:rPr lang="fr-FR" sz="1200" noProof="0" dirty="0">
                <a:solidFill>
                  <a:schemeClr val="bg1"/>
                </a:solidFill>
              </a:rPr>
              <a:t>applications web, Azure Data Analytics, Low Code Application </a:t>
            </a:r>
            <a:r>
              <a:rPr lang="fr-FR" sz="1200" noProof="0" dirty="0" err="1">
                <a:solidFill>
                  <a:schemeClr val="bg1"/>
                </a:solidFill>
              </a:rPr>
              <a:t>Development</a:t>
            </a:r>
            <a:endParaRPr lang="fr-FR" sz="1200" dirty="0">
              <a:solidFill>
                <a:schemeClr val="bg1"/>
              </a:solidFill>
            </a:endParaRPr>
          </a:p>
          <a:p>
            <a:pPr>
              <a:spcAft>
                <a:spcPts val="600"/>
              </a:spcAft>
              <a:defRPr/>
            </a:pPr>
            <a:r>
              <a:rPr lang="fr-FR" sz="1200" dirty="0">
                <a:solidFill>
                  <a:schemeClr val="bg1"/>
                </a:solidFill>
              </a:rPr>
              <a:t>Partenaire Gold </a:t>
            </a:r>
            <a:r>
              <a:rPr lang="fr-FR" sz="1200" b="1" dirty="0">
                <a:solidFill>
                  <a:schemeClr val="bg1"/>
                </a:solidFill>
              </a:rPr>
              <a:t>Powell Software</a:t>
            </a:r>
            <a:endParaRPr lang="fr-FR" sz="1200" noProof="0" dirty="0">
              <a:solidFill>
                <a:schemeClr val="bg1"/>
              </a:solidFill>
            </a:endParaRPr>
          </a:p>
          <a:p>
            <a:pPr>
              <a:spcAft>
                <a:spcPts val="600"/>
              </a:spcAft>
              <a:defRPr/>
            </a:pPr>
            <a:r>
              <a:rPr lang="fr-FR" sz="1200" dirty="0">
                <a:solidFill>
                  <a:schemeClr val="bg1"/>
                </a:solidFill>
              </a:rPr>
              <a:t>Experts et consultants certifiés sur les solutions </a:t>
            </a:r>
            <a:r>
              <a:rPr lang="fr-FR" sz="1200" dirty="0" err="1">
                <a:solidFill>
                  <a:schemeClr val="bg1"/>
                </a:solidFill>
              </a:rPr>
              <a:t>Databricks</a:t>
            </a:r>
            <a:r>
              <a:rPr lang="fr-FR" sz="1200" dirty="0">
                <a:solidFill>
                  <a:schemeClr val="bg1"/>
                </a:solidFill>
              </a:rPr>
              <a:t>, </a:t>
            </a:r>
            <a:r>
              <a:rPr lang="fr-FR" sz="1200" dirty="0" err="1">
                <a:solidFill>
                  <a:schemeClr val="bg1"/>
                </a:solidFill>
              </a:rPr>
              <a:t>Nintex</a:t>
            </a:r>
            <a:r>
              <a:rPr lang="fr-FR" sz="1200" dirty="0">
                <a:solidFill>
                  <a:schemeClr val="bg1"/>
                </a:solidFill>
              </a:rPr>
              <a:t>, Klaxoon ainsi que sur les méthodologies SCRUM et PROSCI</a:t>
            </a:r>
            <a:endParaRPr lang="fr-FR" sz="1200" noProof="0" dirty="0">
              <a:solidFill>
                <a:schemeClr val="bg1"/>
              </a:solidFill>
            </a:endParaRPr>
          </a:p>
        </p:txBody>
      </p:sp>
      <p:grpSp>
        <p:nvGrpSpPr>
          <p:cNvPr id="25" name="Groupe 24">
            <a:extLst>
              <a:ext uri="{FF2B5EF4-FFF2-40B4-BE49-F238E27FC236}">
                <a16:creationId xmlns:a16="http://schemas.microsoft.com/office/drawing/2014/main" id="{C432FBF0-4CCC-4B28-9C4A-0B8F9F4452CF}"/>
              </a:ext>
            </a:extLst>
          </p:cNvPr>
          <p:cNvGrpSpPr/>
          <p:nvPr userDrawn="1"/>
        </p:nvGrpSpPr>
        <p:grpSpPr>
          <a:xfrm>
            <a:off x="4266308" y="1905213"/>
            <a:ext cx="441357" cy="441357"/>
            <a:chOff x="2369213" y="5618276"/>
            <a:chExt cx="441357" cy="441357"/>
          </a:xfrm>
        </p:grpSpPr>
        <p:pic>
          <p:nvPicPr>
            <p:cNvPr id="26" name="Image 25">
              <a:extLst>
                <a:ext uri="{FF2B5EF4-FFF2-40B4-BE49-F238E27FC236}">
                  <a16:creationId xmlns:a16="http://schemas.microsoft.com/office/drawing/2014/main" id="{FC97D212-A5F9-4EDC-937E-423B282C29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27" name="ZoneTexte 26">
              <a:extLst>
                <a:ext uri="{FF2B5EF4-FFF2-40B4-BE49-F238E27FC236}">
                  <a16:creationId xmlns:a16="http://schemas.microsoft.com/office/drawing/2014/main" id="{4EAA7CB6-8397-4D74-9A40-CEF5C149E91D}"/>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grpSp>
        <p:nvGrpSpPr>
          <p:cNvPr id="29" name="Groupe 28">
            <a:extLst>
              <a:ext uri="{FF2B5EF4-FFF2-40B4-BE49-F238E27FC236}">
                <a16:creationId xmlns:a16="http://schemas.microsoft.com/office/drawing/2014/main" id="{F093A91C-A5EB-4FFE-B74E-84BB5F7E37FD}"/>
              </a:ext>
            </a:extLst>
          </p:cNvPr>
          <p:cNvGrpSpPr/>
          <p:nvPr userDrawn="1"/>
        </p:nvGrpSpPr>
        <p:grpSpPr>
          <a:xfrm>
            <a:off x="4266308" y="3580959"/>
            <a:ext cx="441357" cy="441357"/>
            <a:chOff x="2369213" y="5618276"/>
            <a:chExt cx="441357" cy="441357"/>
          </a:xfrm>
        </p:grpSpPr>
        <p:pic>
          <p:nvPicPr>
            <p:cNvPr id="31" name="Image 30">
              <a:extLst>
                <a:ext uri="{FF2B5EF4-FFF2-40B4-BE49-F238E27FC236}">
                  <a16:creationId xmlns:a16="http://schemas.microsoft.com/office/drawing/2014/main" id="{32EE5569-EBED-473E-9E05-E237D90E31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32" name="ZoneTexte 31">
              <a:extLst>
                <a:ext uri="{FF2B5EF4-FFF2-40B4-BE49-F238E27FC236}">
                  <a16:creationId xmlns:a16="http://schemas.microsoft.com/office/drawing/2014/main" id="{4FC3C52F-46A6-47F8-B3E5-26CCC2E5A4F5}"/>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grpSp>
        <p:nvGrpSpPr>
          <p:cNvPr id="33" name="Groupe 32">
            <a:extLst>
              <a:ext uri="{FF2B5EF4-FFF2-40B4-BE49-F238E27FC236}">
                <a16:creationId xmlns:a16="http://schemas.microsoft.com/office/drawing/2014/main" id="{660281C0-B324-47AE-B884-23A8807AD494}"/>
              </a:ext>
            </a:extLst>
          </p:cNvPr>
          <p:cNvGrpSpPr/>
          <p:nvPr userDrawn="1"/>
        </p:nvGrpSpPr>
        <p:grpSpPr>
          <a:xfrm>
            <a:off x="8032489" y="1924301"/>
            <a:ext cx="441357" cy="441357"/>
            <a:chOff x="2369213" y="5618276"/>
            <a:chExt cx="441357" cy="441357"/>
          </a:xfrm>
        </p:grpSpPr>
        <p:pic>
          <p:nvPicPr>
            <p:cNvPr id="34" name="Image 33">
              <a:extLst>
                <a:ext uri="{FF2B5EF4-FFF2-40B4-BE49-F238E27FC236}">
                  <a16:creationId xmlns:a16="http://schemas.microsoft.com/office/drawing/2014/main" id="{8901E6AE-DAFE-4772-BD3D-2F77699FF8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35" name="ZoneTexte 34">
              <a:extLst>
                <a:ext uri="{FF2B5EF4-FFF2-40B4-BE49-F238E27FC236}">
                  <a16:creationId xmlns:a16="http://schemas.microsoft.com/office/drawing/2014/main" id="{21139FD4-D0F2-4935-BCF2-0F04FCDAC1D1}"/>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pic>
        <p:nvPicPr>
          <p:cNvPr id="39" name="Image 38" descr="Une image contenant texte&#10;&#10;Description générée automatiquement">
            <a:extLst>
              <a:ext uri="{FF2B5EF4-FFF2-40B4-BE49-F238E27FC236}">
                <a16:creationId xmlns:a16="http://schemas.microsoft.com/office/drawing/2014/main" id="{06033A43-BA97-4980-AA62-462FCCFECFCC}"/>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4734" r="12222"/>
          <a:stretch/>
        </p:blipFill>
        <p:spPr>
          <a:xfrm>
            <a:off x="493348" y="2144977"/>
            <a:ext cx="1643645" cy="1498983"/>
          </a:xfrm>
          <a:prstGeom prst="rect">
            <a:avLst/>
          </a:prstGeom>
        </p:spPr>
      </p:pic>
      <p:pic>
        <p:nvPicPr>
          <p:cNvPr id="40" name="Image 39">
            <a:extLst>
              <a:ext uri="{FF2B5EF4-FFF2-40B4-BE49-F238E27FC236}">
                <a16:creationId xmlns:a16="http://schemas.microsoft.com/office/drawing/2014/main" id="{18D040A7-34F2-4CAF-8D5A-B574E821B528}"/>
              </a:ext>
            </a:extLst>
          </p:cNvPr>
          <p:cNvPicPr>
            <a:picLocks noChangeAspect="1"/>
          </p:cNvPicPr>
          <p:nvPr userDrawn="1"/>
        </p:nvPicPr>
        <p:blipFill>
          <a:blip r:embed="rId7"/>
          <a:stretch>
            <a:fillRect/>
          </a:stretch>
        </p:blipFill>
        <p:spPr>
          <a:xfrm>
            <a:off x="435430" y="3770848"/>
            <a:ext cx="1759868" cy="1600511"/>
          </a:xfrm>
          <a:prstGeom prst="rect">
            <a:avLst/>
          </a:prstGeom>
        </p:spPr>
      </p:pic>
    </p:spTree>
    <p:extLst>
      <p:ext uri="{BB962C8B-B14F-4D97-AF65-F5344CB8AC3E}">
        <p14:creationId xmlns:p14="http://schemas.microsoft.com/office/powerpoint/2010/main" val="29432826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Partenariat Microsoft">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374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14" name="ZoneTexte 13">
            <a:extLst>
              <a:ext uri="{FF2B5EF4-FFF2-40B4-BE49-F238E27FC236}">
                <a16:creationId xmlns:a16="http://schemas.microsoft.com/office/drawing/2014/main" id="{DC4F0214-2EDC-44D6-B9B1-288CDA91F1C8}"/>
              </a:ext>
            </a:extLst>
          </p:cNvPr>
          <p:cNvSpPr txBox="1"/>
          <p:nvPr userDrawn="1"/>
        </p:nvSpPr>
        <p:spPr>
          <a:xfrm>
            <a:off x="838197" y="143876"/>
            <a:ext cx="10515606" cy="769441"/>
          </a:xfrm>
          <a:prstGeom prst="rect">
            <a:avLst/>
          </a:prstGeom>
          <a:noFill/>
        </p:spPr>
        <p:txBody>
          <a:bodyPr wrap="square" rtlCol="0" anchor="ctr">
            <a:spAutoFit/>
          </a:bodyPr>
          <a:lstStyle/>
          <a:p>
            <a:r>
              <a:rPr lang="fr-FR" sz="4400">
                <a:solidFill>
                  <a:schemeClr val="bg1"/>
                </a:solidFill>
                <a:latin typeface="+mj-lt"/>
              </a:rPr>
              <a:t>L’excellence du partenariat Microsoft</a:t>
            </a:r>
          </a:p>
        </p:txBody>
      </p:sp>
      <p:pic>
        <p:nvPicPr>
          <p:cNvPr id="3" name="Image 2">
            <a:extLst>
              <a:ext uri="{FF2B5EF4-FFF2-40B4-BE49-F238E27FC236}">
                <a16:creationId xmlns:a16="http://schemas.microsoft.com/office/drawing/2014/main" id="{506019FE-1411-47C0-8F2F-B9FCBB122DEA}"/>
              </a:ext>
            </a:extLst>
          </p:cNvPr>
          <p:cNvPicPr>
            <a:picLocks noChangeAspect="1"/>
          </p:cNvPicPr>
          <p:nvPr userDrawn="1"/>
        </p:nvPicPr>
        <p:blipFill rotWithShape="1">
          <a:blip r:embed="rId2"/>
          <a:srcRect l="27659"/>
          <a:stretch/>
        </p:blipFill>
        <p:spPr>
          <a:xfrm>
            <a:off x="-3740" y="1821815"/>
            <a:ext cx="2743200" cy="3792041"/>
          </a:xfrm>
          <a:prstGeom prst="rect">
            <a:avLst/>
          </a:prstGeom>
        </p:spPr>
      </p:pic>
      <p:pic>
        <p:nvPicPr>
          <p:cNvPr id="30" name="Image 29">
            <a:extLst>
              <a:ext uri="{FF2B5EF4-FFF2-40B4-BE49-F238E27FC236}">
                <a16:creationId xmlns:a16="http://schemas.microsoft.com/office/drawing/2014/main" id="{9381C26B-2617-437E-AE26-7A8671DD0D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2" name="Image 1">
            <a:extLst>
              <a:ext uri="{FF2B5EF4-FFF2-40B4-BE49-F238E27FC236}">
                <a16:creationId xmlns:a16="http://schemas.microsoft.com/office/drawing/2014/main" id="{D11650CB-F9CF-427E-BE7E-0E1F5D9ED653}"/>
              </a:ext>
            </a:extLst>
          </p:cNvPr>
          <p:cNvPicPr>
            <a:picLocks noChangeAspect="1"/>
          </p:cNvPicPr>
          <p:nvPr userDrawn="1"/>
        </p:nvPicPr>
        <p:blipFill rotWithShape="1">
          <a:blip r:embed="rId4"/>
          <a:srcRect l="70949"/>
          <a:stretch/>
        </p:blipFill>
        <p:spPr>
          <a:xfrm>
            <a:off x="3176994" y="1810561"/>
            <a:ext cx="596865" cy="3773751"/>
          </a:xfrm>
          <a:prstGeom prst="rect">
            <a:avLst/>
          </a:prstGeom>
        </p:spPr>
      </p:pic>
      <p:sp>
        <p:nvSpPr>
          <p:cNvPr id="16" name="ZoneTexte 15">
            <a:extLst>
              <a:ext uri="{FF2B5EF4-FFF2-40B4-BE49-F238E27FC236}">
                <a16:creationId xmlns:a16="http://schemas.microsoft.com/office/drawing/2014/main" id="{4ABADA7E-BDB5-457B-BE73-D8F8982B681F}"/>
              </a:ext>
            </a:extLst>
          </p:cNvPr>
          <p:cNvSpPr txBox="1"/>
          <p:nvPr userDrawn="1"/>
        </p:nvSpPr>
        <p:spPr>
          <a:xfrm>
            <a:off x="4917881" y="4961943"/>
            <a:ext cx="2790812" cy="369332"/>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a:solidFill>
                  <a:schemeClr val="bg1"/>
                </a:solidFill>
                <a:latin typeface="+mj-lt"/>
              </a:rPr>
              <a:t>Partenaire historique</a:t>
            </a:r>
          </a:p>
        </p:txBody>
      </p:sp>
      <p:sp>
        <p:nvSpPr>
          <p:cNvPr id="17" name="ZoneTexte 16">
            <a:extLst>
              <a:ext uri="{FF2B5EF4-FFF2-40B4-BE49-F238E27FC236}">
                <a16:creationId xmlns:a16="http://schemas.microsoft.com/office/drawing/2014/main" id="{F9CF77C2-4AC6-4C9E-BD40-AC2FF29F69C8}"/>
              </a:ext>
            </a:extLst>
          </p:cNvPr>
          <p:cNvSpPr txBox="1"/>
          <p:nvPr userDrawn="1"/>
        </p:nvSpPr>
        <p:spPr>
          <a:xfrm>
            <a:off x="4293531" y="5454251"/>
            <a:ext cx="6863007" cy="538609"/>
          </a:xfrm>
          <a:prstGeom prst="rect">
            <a:avLst/>
          </a:prstGeom>
          <a:noFill/>
        </p:spPr>
        <p:txBody>
          <a:bodyPr wrap="square" rtlCol="0">
            <a:spAutoFit/>
          </a:bodyPr>
          <a:lstStyle/>
          <a:p>
            <a:pPr>
              <a:spcAft>
                <a:spcPts val="600"/>
              </a:spcAft>
              <a:defRPr/>
            </a:pPr>
            <a:r>
              <a:rPr lang="fr-FR" sz="1200">
                <a:solidFill>
                  <a:schemeClr val="bg1"/>
                </a:solidFill>
              </a:rPr>
              <a:t>La </a:t>
            </a:r>
            <a:r>
              <a:rPr lang="fr-FR" sz="1200" b="1">
                <a:solidFill>
                  <a:schemeClr val="bg1"/>
                </a:solidFill>
              </a:rPr>
              <a:t>confiance renouvelée de Microsoft depuis </a:t>
            </a:r>
            <a:r>
              <a:rPr lang="fr-FR" sz="1200" b="1" noProof="0">
                <a:solidFill>
                  <a:schemeClr val="bg1"/>
                </a:solidFill>
              </a:rPr>
              <a:t>18 ans</a:t>
            </a:r>
            <a:endParaRPr lang="fr-FR" sz="1200" b="1">
              <a:solidFill>
                <a:schemeClr val="bg1"/>
              </a:solidFill>
            </a:endParaRPr>
          </a:p>
          <a:p>
            <a:pPr>
              <a:spcAft>
                <a:spcPts val="600"/>
              </a:spcAft>
              <a:defRPr/>
            </a:pPr>
            <a:r>
              <a:rPr lang="fr-FR" sz="1200" b="1" noProof="0">
                <a:solidFill>
                  <a:schemeClr val="bg1"/>
                </a:solidFill>
              </a:rPr>
              <a:t>Partner of the </a:t>
            </a:r>
            <a:r>
              <a:rPr lang="fr-FR" sz="1200" b="1" noProof="0" err="1">
                <a:solidFill>
                  <a:schemeClr val="bg1"/>
                </a:solidFill>
              </a:rPr>
              <a:t>year</a:t>
            </a:r>
            <a:r>
              <a:rPr lang="fr-FR" sz="1200" b="1">
                <a:solidFill>
                  <a:schemeClr val="bg1"/>
                </a:solidFill>
              </a:rPr>
              <a:t> 2016 </a:t>
            </a:r>
            <a:r>
              <a:rPr lang="fr-FR" sz="1200" b="0">
                <a:solidFill>
                  <a:schemeClr val="bg1"/>
                </a:solidFill>
              </a:rPr>
              <a:t>et i</a:t>
            </a:r>
            <a:r>
              <a:rPr lang="fr-FR" sz="1200">
                <a:solidFill>
                  <a:schemeClr val="bg1"/>
                </a:solidFill>
              </a:rPr>
              <a:t>ncubateur de </a:t>
            </a:r>
            <a:r>
              <a:rPr lang="fr-FR" sz="1200" noProof="0">
                <a:solidFill>
                  <a:schemeClr val="bg1"/>
                </a:solidFill>
              </a:rPr>
              <a:t>l’éditeur </a:t>
            </a:r>
            <a:r>
              <a:rPr lang="fr-FR" sz="1200" b="1" noProof="0">
                <a:solidFill>
                  <a:schemeClr val="bg1"/>
                </a:solidFill>
              </a:rPr>
              <a:t>Powell Software</a:t>
            </a:r>
            <a:endParaRPr lang="fr-FR" sz="1200" noProof="0">
              <a:solidFill>
                <a:schemeClr val="bg1"/>
              </a:solidFill>
            </a:endParaRPr>
          </a:p>
        </p:txBody>
      </p:sp>
      <p:sp>
        <p:nvSpPr>
          <p:cNvPr id="18" name="ZoneTexte 17">
            <a:extLst>
              <a:ext uri="{FF2B5EF4-FFF2-40B4-BE49-F238E27FC236}">
                <a16:creationId xmlns:a16="http://schemas.microsoft.com/office/drawing/2014/main" id="{010FABD4-BBA9-4583-AE75-BBA21FF85866}"/>
              </a:ext>
            </a:extLst>
          </p:cNvPr>
          <p:cNvSpPr txBox="1"/>
          <p:nvPr userDrawn="1"/>
        </p:nvSpPr>
        <p:spPr>
          <a:xfrm>
            <a:off x="4829166" y="1572111"/>
            <a:ext cx="3120699" cy="369332"/>
          </a:xfrm>
          <a:prstGeom prst="rect">
            <a:avLst/>
          </a:prstGeom>
          <a:noFill/>
        </p:spPr>
        <p:txBody>
          <a:bodyPr wrap="square" rtlCol="0">
            <a:spAutoFit/>
          </a:bodyPr>
          <a:lstStyle/>
          <a:p>
            <a:r>
              <a:rPr lang="fr-FR">
                <a:solidFill>
                  <a:schemeClr val="bg1"/>
                </a:solidFill>
                <a:latin typeface="+mj-lt"/>
              </a:rPr>
              <a:t>Expert du cloud d’entreprise</a:t>
            </a:r>
          </a:p>
        </p:txBody>
      </p:sp>
      <p:sp>
        <p:nvSpPr>
          <p:cNvPr id="19" name="ZoneTexte 18">
            <a:extLst>
              <a:ext uri="{FF2B5EF4-FFF2-40B4-BE49-F238E27FC236}">
                <a16:creationId xmlns:a16="http://schemas.microsoft.com/office/drawing/2014/main" id="{6EF8D3F6-541A-49E6-845E-5AFA91F34D04}"/>
              </a:ext>
            </a:extLst>
          </p:cNvPr>
          <p:cNvSpPr txBox="1"/>
          <p:nvPr userDrawn="1"/>
        </p:nvSpPr>
        <p:spPr>
          <a:xfrm>
            <a:off x="4202553" y="2083510"/>
            <a:ext cx="6065820" cy="75405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lang="fr-FR" sz="1400" b="1" noProof="0">
                <a:solidFill>
                  <a:schemeClr val="bg1"/>
                </a:solidFill>
              </a:rPr>
              <a:t>Azure |</a:t>
            </a:r>
            <a:r>
              <a:rPr lang="fr-FR" sz="1400" noProof="0">
                <a:solidFill>
                  <a:schemeClr val="bg1"/>
                </a:solidFill>
              </a:rPr>
              <a:t> </a:t>
            </a:r>
            <a:r>
              <a:rPr lang="fr-FR" sz="1400" b="1" noProof="0">
                <a:solidFill>
                  <a:schemeClr val="bg1"/>
                </a:solidFill>
              </a:rPr>
              <a:t>Microsoft 365 | Power platform </a:t>
            </a:r>
            <a:r>
              <a:rPr lang="fr-FR" sz="1400" noProof="0">
                <a:solidFill>
                  <a:schemeClr val="bg1"/>
                </a:solidFill>
              </a:rPr>
              <a:t>  </a:t>
            </a:r>
          </a:p>
          <a:p>
            <a:pPr marL="0" marR="0" lvl="0" indent="0" algn="l" defTabSz="457200" rtl="0" eaLnBrk="1" fontAlgn="auto" latinLnBrk="0" hangingPunct="1">
              <a:lnSpc>
                <a:spcPct val="100000"/>
              </a:lnSpc>
              <a:spcBef>
                <a:spcPts val="0"/>
              </a:spcBef>
              <a:spcAft>
                <a:spcPts val="600"/>
              </a:spcAft>
              <a:buClrTx/>
              <a:buSzTx/>
              <a:buFontTx/>
              <a:buNone/>
              <a:tabLst/>
              <a:defRPr/>
            </a:pPr>
            <a:r>
              <a:rPr lang="fr-FR" sz="1200" b="0" noProof="0">
                <a:solidFill>
                  <a:schemeClr val="bg1"/>
                </a:solidFill>
              </a:rPr>
              <a:t>Expériences et compétences sur les</a:t>
            </a:r>
            <a:r>
              <a:rPr lang="fr-FR" sz="1200" b="1" noProof="0">
                <a:solidFill>
                  <a:schemeClr val="bg1"/>
                </a:solidFill>
              </a:rPr>
              <a:t> solutions technologiques leaders en entreprise, </a:t>
            </a:r>
            <a:r>
              <a:rPr lang="fr-FR" sz="1200" b="0" noProof="0">
                <a:solidFill>
                  <a:schemeClr val="bg1"/>
                </a:solidFill>
              </a:rPr>
              <a:t>au service de l’</a:t>
            </a:r>
            <a:r>
              <a:rPr lang="fr-FR" sz="1200" b="1" noProof="0">
                <a:solidFill>
                  <a:schemeClr val="bg1"/>
                </a:solidFill>
              </a:rPr>
              <a:t>innovation </a:t>
            </a:r>
            <a:r>
              <a:rPr lang="fr-FR" sz="1200" b="0" noProof="0">
                <a:solidFill>
                  <a:schemeClr val="bg1"/>
                </a:solidFill>
              </a:rPr>
              <a:t>et de la</a:t>
            </a:r>
            <a:r>
              <a:rPr lang="fr-FR" sz="1200" b="1" noProof="0">
                <a:solidFill>
                  <a:schemeClr val="bg1"/>
                </a:solidFill>
              </a:rPr>
              <a:t> transformation des métiers</a:t>
            </a:r>
          </a:p>
        </p:txBody>
      </p:sp>
      <p:sp>
        <p:nvSpPr>
          <p:cNvPr id="21" name="ZoneTexte 20">
            <a:extLst>
              <a:ext uri="{FF2B5EF4-FFF2-40B4-BE49-F238E27FC236}">
                <a16:creationId xmlns:a16="http://schemas.microsoft.com/office/drawing/2014/main" id="{14FE1E3B-9767-4A9F-A2CA-69BC01B593F7}"/>
              </a:ext>
            </a:extLst>
          </p:cNvPr>
          <p:cNvSpPr txBox="1"/>
          <p:nvPr userDrawn="1"/>
        </p:nvSpPr>
        <p:spPr>
          <a:xfrm>
            <a:off x="4903012" y="3249911"/>
            <a:ext cx="2793587" cy="369332"/>
          </a:xfrm>
          <a:prstGeom prst="rect">
            <a:avLst/>
          </a:prstGeom>
          <a:noFill/>
        </p:spPr>
        <p:txBody>
          <a:bodyPr wrap="square" rtlCol="0">
            <a:spAutoFit/>
          </a:bodyPr>
          <a:lstStyle/>
          <a:p>
            <a:r>
              <a:rPr lang="fr-FR">
                <a:solidFill>
                  <a:schemeClr val="bg1"/>
                </a:solidFill>
                <a:latin typeface="+mj-lt"/>
              </a:rPr>
              <a:t>Compétences reconnues</a:t>
            </a:r>
          </a:p>
        </p:txBody>
      </p:sp>
      <p:sp>
        <p:nvSpPr>
          <p:cNvPr id="22" name="ZoneTexte 21">
            <a:extLst>
              <a:ext uri="{FF2B5EF4-FFF2-40B4-BE49-F238E27FC236}">
                <a16:creationId xmlns:a16="http://schemas.microsoft.com/office/drawing/2014/main" id="{D90928AB-BE66-4A5B-8592-EB191AD113A5}"/>
              </a:ext>
            </a:extLst>
          </p:cNvPr>
          <p:cNvSpPr txBox="1"/>
          <p:nvPr userDrawn="1"/>
        </p:nvSpPr>
        <p:spPr>
          <a:xfrm>
            <a:off x="4281437" y="3749902"/>
            <a:ext cx="6305283" cy="984885"/>
          </a:xfrm>
          <a:prstGeom prst="rect">
            <a:avLst/>
          </a:prstGeom>
          <a:noFill/>
        </p:spPr>
        <p:txBody>
          <a:bodyPr wrap="square" rtlCol="0">
            <a:spAutoFit/>
          </a:bodyPr>
          <a:lstStyle/>
          <a:p>
            <a:pPr>
              <a:spcAft>
                <a:spcPts val="600"/>
              </a:spcAft>
              <a:defRPr/>
            </a:pPr>
            <a:r>
              <a:rPr lang="fr-FR" sz="1200" b="1" noProof="0" dirty="0">
                <a:solidFill>
                  <a:schemeClr val="bg1"/>
                </a:solidFill>
              </a:rPr>
              <a:t>10 compétences Gold </a:t>
            </a:r>
            <a:r>
              <a:rPr lang="fr-FR" sz="1200" b="1" noProof="0" dirty="0" err="1">
                <a:solidFill>
                  <a:schemeClr val="bg1"/>
                </a:solidFill>
              </a:rPr>
              <a:t>partner</a:t>
            </a:r>
            <a:endParaRPr lang="fr-FR" sz="1200" b="1" noProof="0" dirty="0">
              <a:solidFill>
                <a:schemeClr val="bg1"/>
              </a:solidFill>
            </a:endParaRPr>
          </a:p>
          <a:p>
            <a:pPr>
              <a:spcAft>
                <a:spcPts val="600"/>
              </a:spcAft>
              <a:defRPr/>
            </a:pPr>
            <a:r>
              <a:rPr lang="fr-FR" sz="1200" b="1" noProof="0" dirty="0">
                <a:solidFill>
                  <a:schemeClr val="bg1"/>
                </a:solidFill>
              </a:rPr>
              <a:t>3 Advanced </a:t>
            </a:r>
            <a:r>
              <a:rPr lang="fr-FR" sz="1200" b="1" noProof="0" dirty="0" err="1">
                <a:solidFill>
                  <a:schemeClr val="bg1"/>
                </a:solidFill>
              </a:rPr>
              <a:t>Specializations</a:t>
            </a:r>
            <a:r>
              <a:rPr lang="fr-FR" sz="1200" b="1" noProof="0" dirty="0">
                <a:solidFill>
                  <a:schemeClr val="bg1"/>
                </a:solidFill>
              </a:rPr>
              <a:t> : </a:t>
            </a:r>
            <a:r>
              <a:rPr lang="fr-FR" sz="1200" b="0" noProof="0" dirty="0">
                <a:solidFill>
                  <a:schemeClr val="bg1"/>
                </a:solidFill>
              </a:rPr>
              <a:t>Modernisation des </a:t>
            </a:r>
            <a:r>
              <a:rPr lang="fr-FR" sz="1200" noProof="0" dirty="0">
                <a:solidFill>
                  <a:schemeClr val="bg1"/>
                </a:solidFill>
              </a:rPr>
              <a:t>applications web, Azure Data Analytics, Low Code Application </a:t>
            </a:r>
            <a:r>
              <a:rPr lang="fr-FR" sz="1200" noProof="0" dirty="0" err="1">
                <a:solidFill>
                  <a:schemeClr val="bg1"/>
                </a:solidFill>
              </a:rPr>
              <a:t>Development</a:t>
            </a:r>
            <a:endParaRPr lang="fr-FR" sz="1200" dirty="0">
              <a:solidFill>
                <a:schemeClr val="bg1"/>
              </a:solidFill>
            </a:endParaRPr>
          </a:p>
          <a:p>
            <a:pPr>
              <a:spcAft>
                <a:spcPts val="600"/>
              </a:spcAft>
              <a:defRPr/>
            </a:pPr>
            <a:r>
              <a:rPr lang="fr-FR" sz="1200" dirty="0">
                <a:solidFill>
                  <a:schemeClr val="bg1"/>
                </a:solidFill>
              </a:rPr>
              <a:t>Gold </a:t>
            </a:r>
            <a:r>
              <a:rPr lang="fr-FR" sz="1200" b="1" dirty="0">
                <a:solidFill>
                  <a:schemeClr val="bg1"/>
                </a:solidFill>
              </a:rPr>
              <a:t>Powell Software, </a:t>
            </a:r>
            <a:r>
              <a:rPr lang="fr-FR" sz="1200" b="0" dirty="0">
                <a:solidFill>
                  <a:schemeClr val="bg1"/>
                </a:solidFill>
              </a:rPr>
              <a:t>certifications </a:t>
            </a:r>
            <a:r>
              <a:rPr lang="fr-FR" sz="1200" b="1" dirty="0" err="1">
                <a:solidFill>
                  <a:schemeClr val="bg1"/>
                </a:solidFill>
              </a:rPr>
              <a:t>Databricks</a:t>
            </a:r>
            <a:r>
              <a:rPr lang="fr-FR" sz="1200" b="1" dirty="0">
                <a:solidFill>
                  <a:schemeClr val="bg1"/>
                </a:solidFill>
              </a:rPr>
              <a:t>, </a:t>
            </a:r>
            <a:r>
              <a:rPr lang="fr-FR" sz="1200" b="1" dirty="0" err="1">
                <a:solidFill>
                  <a:schemeClr val="bg1"/>
                </a:solidFill>
              </a:rPr>
              <a:t>Nintex</a:t>
            </a:r>
            <a:r>
              <a:rPr lang="fr-FR" sz="1200" b="1" dirty="0">
                <a:solidFill>
                  <a:schemeClr val="bg1"/>
                </a:solidFill>
              </a:rPr>
              <a:t>, Klaxoon, SCRUM</a:t>
            </a:r>
            <a:r>
              <a:rPr lang="fr-FR" sz="1200" dirty="0">
                <a:solidFill>
                  <a:schemeClr val="bg1"/>
                </a:solidFill>
              </a:rPr>
              <a:t> et </a:t>
            </a:r>
            <a:r>
              <a:rPr lang="fr-FR" sz="1200" b="1" dirty="0">
                <a:solidFill>
                  <a:schemeClr val="bg1"/>
                </a:solidFill>
              </a:rPr>
              <a:t>PROSCI</a:t>
            </a:r>
            <a:endParaRPr lang="fr-FR" sz="1200" b="1" noProof="0" dirty="0">
              <a:solidFill>
                <a:schemeClr val="bg1"/>
              </a:solidFill>
            </a:endParaRPr>
          </a:p>
        </p:txBody>
      </p:sp>
      <p:grpSp>
        <p:nvGrpSpPr>
          <p:cNvPr id="25" name="Groupe 24">
            <a:extLst>
              <a:ext uri="{FF2B5EF4-FFF2-40B4-BE49-F238E27FC236}">
                <a16:creationId xmlns:a16="http://schemas.microsoft.com/office/drawing/2014/main" id="{C432FBF0-4CCC-4B28-9C4A-0B8F9F4452CF}"/>
              </a:ext>
            </a:extLst>
          </p:cNvPr>
          <p:cNvGrpSpPr/>
          <p:nvPr userDrawn="1"/>
        </p:nvGrpSpPr>
        <p:grpSpPr>
          <a:xfrm>
            <a:off x="4346182" y="4906842"/>
            <a:ext cx="441357" cy="441357"/>
            <a:chOff x="2369213" y="5618276"/>
            <a:chExt cx="441357" cy="441357"/>
          </a:xfrm>
        </p:grpSpPr>
        <p:pic>
          <p:nvPicPr>
            <p:cNvPr id="26" name="Image 25">
              <a:extLst>
                <a:ext uri="{FF2B5EF4-FFF2-40B4-BE49-F238E27FC236}">
                  <a16:creationId xmlns:a16="http://schemas.microsoft.com/office/drawing/2014/main" id="{FC97D212-A5F9-4EDC-937E-423B282C29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27" name="ZoneTexte 26">
              <a:extLst>
                <a:ext uri="{FF2B5EF4-FFF2-40B4-BE49-F238E27FC236}">
                  <a16:creationId xmlns:a16="http://schemas.microsoft.com/office/drawing/2014/main" id="{4EAA7CB6-8397-4D74-9A40-CEF5C149E91D}"/>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grpSp>
        <p:nvGrpSpPr>
          <p:cNvPr id="29" name="Groupe 28">
            <a:extLst>
              <a:ext uri="{FF2B5EF4-FFF2-40B4-BE49-F238E27FC236}">
                <a16:creationId xmlns:a16="http://schemas.microsoft.com/office/drawing/2014/main" id="{F093A91C-A5EB-4FFE-B74E-84BB5F7E37FD}"/>
              </a:ext>
            </a:extLst>
          </p:cNvPr>
          <p:cNvGrpSpPr/>
          <p:nvPr userDrawn="1"/>
        </p:nvGrpSpPr>
        <p:grpSpPr>
          <a:xfrm>
            <a:off x="4331313" y="3223951"/>
            <a:ext cx="441357" cy="441357"/>
            <a:chOff x="2369213" y="5618276"/>
            <a:chExt cx="441357" cy="441357"/>
          </a:xfrm>
        </p:grpSpPr>
        <p:pic>
          <p:nvPicPr>
            <p:cNvPr id="31" name="Image 30">
              <a:extLst>
                <a:ext uri="{FF2B5EF4-FFF2-40B4-BE49-F238E27FC236}">
                  <a16:creationId xmlns:a16="http://schemas.microsoft.com/office/drawing/2014/main" id="{32EE5569-EBED-473E-9E05-E237D90E31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32" name="ZoneTexte 31">
              <a:extLst>
                <a:ext uri="{FF2B5EF4-FFF2-40B4-BE49-F238E27FC236}">
                  <a16:creationId xmlns:a16="http://schemas.microsoft.com/office/drawing/2014/main" id="{4FC3C52F-46A6-47F8-B3E5-26CCC2E5A4F5}"/>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grpSp>
        <p:nvGrpSpPr>
          <p:cNvPr id="33" name="Groupe 32">
            <a:extLst>
              <a:ext uri="{FF2B5EF4-FFF2-40B4-BE49-F238E27FC236}">
                <a16:creationId xmlns:a16="http://schemas.microsoft.com/office/drawing/2014/main" id="{660281C0-B324-47AE-B884-23A8807AD494}"/>
              </a:ext>
            </a:extLst>
          </p:cNvPr>
          <p:cNvGrpSpPr/>
          <p:nvPr userDrawn="1"/>
        </p:nvGrpSpPr>
        <p:grpSpPr>
          <a:xfrm>
            <a:off x="4283702" y="1555189"/>
            <a:ext cx="441357" cy="441357"/>
            <a:chOff x="2369213" y="5618276"/>
            <a:chExt cx="441357" cy="441357"/>
          </a:xfrm>
        </p:grpSpPr>
        <p:pic>
          <p:nvPicPr>
            <p:cNvPr id="34" name="Image 33">
              <a:extLst>
                <a:ext uri="{FF2B5EF4-FFF2-40B4-BE49-F238E27FC236}">
                  <a16:creationId xmlns:a16="http://schemas.microsoft.com/office/drawing/2014/main" id="{8901E6AE-DAFE-4772-BD3D-2F77699FF8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35" name="ZoneTexte 34">
              <a:extLst>
                <a:ext uri="{FF2B5EF4-FFF2-40B4-BE49-F238E27FC236}">
                  <a16:creationId xmlns:a16="http://schemas.microsoft.com/office/drawing/2014/main" id="{21139FD4-D0F2-4935-BCF2-0F04FCDAC1D1}"/>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pic>
        <p:nvPicPr>
          <p:cNvPr id="39" name="Image 38" descr="Une image contenant texte&#10;&#10;Description générée automatiquement">
            <a:extLst>
              <a:ext uri="{FF2B5EF4-FFF2-40B4-BE49-F238E27FC236}">
                <a16:creationId xmlns:a16="http://schemas.microsoft.com/office/drawing/2014/main" id="{06033A43-BA97-4980-AA62-462FCCFECFCC}"/>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4734" r="12222"/>
          <a:stretch/>
        </p:blipFill>
        <p:spPr>
          <a:xfrm>
            <a:off x="493348" y="2144977"/>
            <a:ext cx="1643645" cy="1498983"/>
          </a:xfrm>
          <a:prstGeom prst="rect">
            <a:avLst/>
          </a:prstGeom>
        </p:spPr>
      </p:pic>
      <p:pic>
        <p:nvPicPr>
          <p:cNvPr id="40" name="Image 39">
            <a:extLst>
              <a:ext uri="{FF2B5EF4-FFF2-40B4-BE49-F238E27FC236}">
                <a16:creationId xmlns:a16="http://schemas.microsoft.com/office/drawing/2014/main" id="{18D040A7-34F2-4CAF-8D5A-B574E821B528}"/>
              </a:ext>
            </a:extLst>
          </p:cNvPr>
          <p:cNvPicPr>
            <a:picLocks noChangeAspect="1"/>
          </p:cNvPicPr>
          <p:nvPr userDrawn="1"/>
        </p:nvPicPr>
        <p:blipFill>
          <a:blip r:embed="rId7"/>
          <a:stretch>
            <a:fillRect/>
          </a:stretch>
        </p:blipFill>
        <p:spPr>
          <a:xfrm>
            <a:off x="435430" y="3770848"/>
            <a:ext cx="1759868" cy="1600511"/>
          </a:xfrm>
          <a:prstGeom prst="rect">
            <a:avLst/>
          </a:prstGeom>
        </p:spPr>
      </p:pic>
    </p:spTree>
    <p:extLst>
      <p:ext uri="{BB962C8B-B14F-4D97-AF65-F5344CB8AC3E}">
        <p14:creationId xmlns:p14="http://schemas.microsoft.com/office/powerpoint/2010/main" val="35532046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eenops">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0" y="0"/>
            <a:ext cx="12331148"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fr-FR" b="0" i="0">
              <a:solidFill>
                <a:srgbClr val="02023F"/>
              </a:solidFill>
              <a:effectLst/>
              <a:latin typeface="Segoe UI" panose="020B0502040204020203" pitchFamily="34" charset="0"/>
            </a:endParaRPr>
          </a:p>
        </p:txBody>
      </p:sp>
      <p:pic>
        <p:nvPicPr>
          <p:cNvPr id="30" name="Image 29">
            <a:extLst>
              <a:ext uri="{FF2B5EF4-FFF2-40B4-BE49-F238E27FC236}">
                <a16:creationId xmlns:a16="http://schemas.microsoft.com/office/drawing/2014/main" id="{9381C26B-2617-437E-AE26-7A8671DD0D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47" name="Google Shape;307;p62">
            <a:extLst>
              <a:ext uri="{FF2B5EF4-FFF2-40B4-BE49-F238E27FC236}">
                <a16:creationId xmlns:a16="http://schemas.microsoft.com/office/drawing/2014/main" id="{5B02BD1E-FC4A-4AB8-858A-01E405838FB4}"/>
              </a:ext>
            </a:extLst>
          </p:cNvPr>
          <p:cNvPicPr preferRelativeResize="0"/>
          <p:nvPr userDrawn="1"/>
        </p:nvPicPr>
        <p:blipFill rotWithShape="1">
          <a:blip r:embed="rId3">
            <a:alphaModFix/>
          </a:blip>
          <a:srcRect/>
          <a:stretch/>
        </p:blipFill>
        <p:spPr>
          <a:xfrm>
            <a:off x="5080049" y="213174"/>
            <a:ext cx="2031901" cy="775956"/>
          </a:xfrm>
          <a:prstGeom prst="rect">
            <a:avLst/>
          </a:prstGeom>
          <a:noFill/>
          <a:ln>
            <a:noFill/>
          </a:ln>
        </p:spPr>
      </p:pic>
      <p:sp>
        <p:nvSpPr>
          <p:cNvPr id="48" name="Google Shape;308;p62">
            <a:extLst>
              <a:ext uri="{FF2B5EF4-FFF2-40B4-BE49-F238E27FC236}">
                <a16:creationId xmlns:a16="http://schemas.microsoft.com/office/drawing/2014/main" id="{61C42C48-7478-4637-BD01-49EE81D26B7C}"/>
              </a:ext>
            </a:extLst>
          </p:cNvPr>
          <p:cNvSpPr txBox="1"/>
          <p:nvPr userDrawn="1"/>
        </p:nvSpPr>
        <p:spPr>
          <a:xfrm>
            <a:off x="826718" y="2907812"/>
            <a:ext cx="3694441" cy="24621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2023F"/>
              </a:buClr>
              <a:buSzPts val="1800"/>
              <a:buFont typeface="Quattrocento Sans"/>
              <a:buNone/>
            </a:pP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Le </a:t>
            </a:r>
            <a:r>
              <a:rPr lang="fr-FR" sz="1400" b="1" i="0" u="none" strike="noStrike" cap="none" dirty="0" err="1">
                <a:solidFill>
                  <a:schemeClr val="bg1"/>
                </a:solidFill>
                <a:latin typeface="Segoe UI" panose="020B0502040204020203" pitchFamily="34" charset="0"/>
                <a:ea typeface="Quattrocento Sans"/>
                <a:cs typeface="Segoe UI" panose="020B0502040204020203" pitchFamily="34" charset="0"/>
                <a:sym typeface="Quattrocento Sans"/>
              </a:rPr>
              <a:t>GreenOps</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 est une </a:t>
            </a:r>
            <a:r>
              <a:rPr lang="fr-FR" sz="1400" b="1" i="0" u="none" strike="noStrike" cap="none" dirty="0">
                <a:solidFill>
                  <a:srgbClr val="2BB673"/>
                </a:solidFill>
                <a:latin typeface="Segoe UI" panose="020B0502040204020203" pitchFamily="34" charset="0"/>
                <a:ea typeface="Quattrocento Sans"/>
                <a:cs typeface="Segoe UI" panose="020B0502040204020203" pitchFamily="34" charset="0"/>
                <a:sym typeface="Quattrocento Sans"/>
              </a:rPr>
              <a:t>méthode d’optimisation de l’impact écologique des entreprises.</a:t>
            </a:r>
            <a:endParaRPr sz="1400" b="0" i="0" u="none" strike="noStrike" cap="none" dirty="0">
              <a:solidFill>
                <a:srgbClr val="2BB673"/>
              </a:solidFill>
              <a:latin typeface="Segoe UI" panose="020B0502040204020203" pitchFamily="34" charset="0"/>
              <a:ea typeface="Quattrocento Sans"/>
              <a:cs typeface="Segoe UI" panose="020B0502040204020203" pitchFamily="34" charset="0"/>
              <a:sym typeface="Quattrocento Sans"/>
            </a:endParaRPr>
          </a:p>
          <a:p>
            <a:pPr marL="0" marR="0" lvl="0" indent="0" algn="l" rtl="0">
              <a:lnSpc>
                <a:spcPct val="100000"/>
              </a:lnSpc>
              <a:spcBef>
                <a:spcPts val="0"/>
              </a:spcBef>
              <a:spcAft>
                <a:spcPts val="0"/>
              </a:spcAft>
              <a:buClr>
                <a:schemeClr val="dk1"/>
              </a:buClr>
              <a:buSzPts val="1800"/>
              <a:buFont typeface="Quattrocento Sans"/>
              <a:buNone/>
            </a:pPr>
            <a:endParaRP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a:p>
            <a:pPr marL="0" marR="0" lvl="0" indent="0" algn="l" rtl="0">
              <a:lnSpc>
                <a:spcPct val="100000"/>
              </a:lnSpc>
              <a:spcBef>
                <a:spcPts val="0"/>
              </a:spcBef>
              <a:spcAft>
                <a:spcPts val="0"/>
              </a:spcAft>
              <a:buClr>
                <a:srgbClr val="02023F"/>
              </a:buClr>
              <a:buSzPts val="1800"/>
              <a:buFont typeface="Quattrocento Sans"/>
              <a:buNone/>
            </a:pP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La pratique du </a:t>
            </a:r>
            <a:r>
              <a:rPr lang="fr-FR" sz="1400" b="1" i="0" u="none" strike="noStrike" cap="none" dirty="0" err="1">
                <a:solidFill>
                  <a:schemeClr val="bg1"/>
                </a:solidFill>
                <a:latin typeface="Segoe UI" panose="020B0502040204020203" pitchFamily="34" charset="0"/>
                <a:ea typeface="Quattrocento Sans"/>
                <a:cs typeface="Segoe UI" panose="020B0502040204020203" pitchFamily="34" charset="0"/>
                <a:sym typeface="Quattrocento Sans"/>
              </a:rPr>
              <a:t>GreenOps</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 donne aux entreprises </a:t>
            </a:r>
            <a:r>
              <a:rPr lang="fr-FR" sz="1400" b="1"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une méthodologie et des indicateurs pour diminuer leur empreinte écologique </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réalisée au travers de leur consommations en Cloud </a:t>
            </a:r>
            <a:r>
              <a:rPr lang="fr-FR" sz="1400" b="0" i="0" u="none" strike="noStrike" cap="none" dirty="0" err="1">
                <a:solidFill>
                  <a:schemeClr val="bg1"/>
                </a:solidFill>
                <a:latin typeface="Segoe UI" panose="020B0502040204020203" pitchFamily="34" charset="0"/>
                <a:ea typeface="Quattrocento Sans"/>
                <a:cs typeface="Segoe UI" panose="020B0502040204020203" pitchFamily="34" charset="0"/>
                <a:sym typeface="Quattrocento Sans"/>
              </a:rPr>
              <a:t>Computing</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a:t>
            </a:r>
            <a:endParaRP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a:p>
            <a:pPr marL="0" marR="0" lvl="0" indent="0" algn="l" rtl="0">
              <a:lnSpc>
                <a:spcPct val="100000"/>
              </a:lnSpc>
              <a:spcBef>
                <a:spcPts val="0"/>
              </a:spcBef>
              <a:spcAft>
                <a:spcPts val="0"/>
              </a:spcAft>
              <a:buClr>
                <a:schemeClr val="dk1"/>
              </a:buClr>
              <a:buSzPts val="1800"/>
              <a:buFont typeface="Quattrocento Sans"/>
              <a:buNone/>
            </a:pPr>
            <a:endParaRP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a:p>
            <a:pPr marL="0" marR="0" lvl="0" indent="0" algn="l" rtl="0">
              <a:lnSpc>
                <a:spcPct val="100000"/>
              </a:lnSpc>
              <a:spcBef>
                <a:spcPts val="0"/>
              </a:spcBef>
              <a:spcAft>
                <a:spcPts val="0"/>
              </a:spcAft>
              <a:buClr>
                <a:srgbClr val="02023F"/>
              </a:buClr>
              <a:buSzPts val="1800"/>
              <a:buFont typeface="Quattrocento Sans"/>
              <a:buNone/>
            </a:pP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Le </a:t>
            </a:r>
            <a:r>
              <a:rPr lang="fr-FR" sz="1400" b="1" i="0" u="none" strike="noStrike" cap="none" dirty="0" err="1">
                <a:solidFill>
                  <a:schemeClr val="bg1"/>
                </a:solidFill>
                <a:latin typeface="Segoe UI" panose="020B0502040204020203" pitchFamily="34" charset="0"/>
                <a:ea typeface="Quattrocento Sans"/>
                <a:cs typeface="Segoe UI" panose="020B0502040204020203" pitchFamily="34" charset="0"/>
                <a:sym typeface="Quattrocento Sans"/>
              </a:rPr>
              <a:t>GreenOps</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 à pour but :</a:t>
            </a:r>
            <a:endParaRP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p:txBody>
      </p:sp>
      <p:sp>
        <p:nvSpPr>
          <p:cNvPr id="49" name="Google Shape;309;p62">
            <a:extLst>
              <a:ext uri="{FF2B5EF4-FFF2-40B4-BE49-F238E27FC236}">
                <a16:creationId xmlns:a16="http://schemas.microsoft.com/office/drawing/2014/main" id="{4A6D800E-453E-49E6-BB1E-787E1DDC2DF9}"/>
              </a:ext>
            </a:extLst>
          </p:cNvPr>
          <p:cNvSpPr/>
          <p:nvPr userDrawn="1"/>
        </p:nvSpPr>
        <p:spPr>
          <a:xfrm>
            <a:off x="4822069" y="2458633"/>
            <a:ext cx="937095" cy="937095"/>
          </a:xfrm>
          <a:prstGeom prst="ellipse">
            <a:avLst/>
          </a:prstGeom>
          <a:solidFill>
            <a:srgbClr val="2BB6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0" name="Google Shape;310;p62">
            <a:extLst>
              <a:ext uri="{FF2B5EF4-FFF2-40B4-BE49-F238E27FC236}">
                <a16:creationId xmlns:a16="http://schemas.microsoft.com/office/drawing/2014/main" id="{9C2DBE22-A332-42C2-ABE0-0DBA2BBBAAE6}"/>
              </a:ext>
            </a:extLst>
          </p:cNvPr>
          <p:cNvSpPr txBox="1"/>
          <p:nvPr userDrawn="1"/>
        </p:nvSpPr>
        <p:spPr>
          <a:xfrm>
            <a:off x="5850258" y="2557869"/>
            <a:ext cx="1705817" cy="7386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2023F"/>
              </a:buClr>
              <a:buSzPts val="1800"/>
              <a:buFont typeface="Quattrocento Sans"/>
              <a:buNone/>
            </a:pPr>
            <a:r>
              <a:rPr lang="fr-FR" sz="1400" b="0" i="0" u="none" strike="noStrike" cap="none">
                <a:solidFill>
                  <a:schemeClr val="bg1"/>
                </a:solidFill>
                <a:latin typeface="Segoe UI" panose="020B0502040204020203" pitchFamily="34" charset="0"/>
                <a:ea typeface="Quattrocento Sans"/>
                <a:cs typeface="Segoe UI" panose="020B0502040204020203" pitchFamily="34" charset="0"/>
                <a:sym typeface="Quattrocento Sans"/>
              </a:rPr>
              <a:t>De </a:t>
            </a:r>
            <a:r>
              <a:rPr lang="fr-FR" sz="1400" b="1" i="0" u="none" strike="noStrike" cap="none">
                <a:solidFill>
                  <a:schemeClr val="bg1"/>
                </a:solidFill>
                <a:latin typeface="Segoe UI" panose="020B0502040204020203" pitchFamily="34" charset="0"/>
                <a:ea typeface="Quattrocento Sans"/>
                <a:cs typeface="Segoe UI" panose="020B0502040204020203" pitchFamily="34" charset="0"/>
                <a:sym typeface="Quattrocento Sans"/>
              </a:rPr>
              <a:t>diminuer </a:t>
            </a:r>
            <a:r>
              <a:rPr lang="fr-FR" sz="1400" b="0" i="0" u="none" strike="noStrike" cap="none">
                <a:solidFill>
                  <a:schemeClr val="bg1"/>
                </a:solidFill>
                <a:latin typeface="Segoe UI" panose="020B0502040204020203" pitchFamily="34" charset="0"/>
                <a:ea typeface="Quattrocento Sans"/>
                <a:cs typeface="Segoe UI" panose="020B0502040204020203" pitchFamily="34" charset="0"/>
                <a:sym typeface="Quattrocento Sans"/>
              </a:rPr>
              <a:t>l’impact environnemental </a:t>
            </a:r>
            <a:endParaRPr sz="1050" b="0" i="0" u="none" strike="noStrike" cap="none">
              <a:solidFill>
                <a:schemeClr val="bg1"/>
              </a:solidFill>
              <a:latin typeface="Segoe UI" panose="020B0502040204020203" pitchFamily="34" charset="0"/>
              <a:ea typeface="Quattrocento Sans"/>
              <a:cs typeface="Segoe UI" panose="020B0502040204020203" pitchFamily="34" charset="0"/>
              <a:sym typeface="Quattrocento Sans"/>
            </a:endParaRPr>
          </a:p>
        </p:txBody>
      </p:sp>
      <p:sp>
        <p:nvSpPr>
          <p:cNvPr id="51" name="Google Shape;311;p62">
            <a:extLst>
              <a:ext uri="{FF2B5EF4-FFF2-40B4-BE49-F238E27FC236}">
                <a16:creationId xmlns:a16="http://schemas.microsoft.com/office/drawing/2014/main" id="{5CA7049C-5A8F-4B25-996F-7BE2352B5830}"/>
              </a:ext>
            </a:extLst>
          </p:cNvPr>
          <p:cNvSpPr txBox="1"/>
          <p:nvPr userDrawn="1"/>
        </p:nvSpPr>
        <p:spPr>
          <a:xfrm>
            <a:off x="5850258" y="3781746"/>
            <a:ext cx="20298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2023F"/>
              </a:buClr>
              <a:buSzPts val="1800"/>
              <a:buFont typeface="Quattrocento Sans"/>
              <a:buNone/>
            </a:pP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De </a:t>
            </a:r>
            <a:r>
              <a:rPr lang="fr-FR" sz="1400" b="1" dirty="0">
                <a:solidFill>
                  <a:schemeClr val="bg1"/>
                </a:solidFill>
                <a:latin typeface="Segoe UI" panose="020B0502040204020203" pitchFamily="34" charset="0"/>
                <a:ea typeface="Quattrocento Sans"/>
                <a:cs typeface="Segoe UI" panose="020B0502040204020203" pitchFamily="34" charset="0"/>
                <a:sym typeface="Quattrocento Sans"/>
              </a:rPr>
              <a:t>rationaliser</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 les consommations de Cloud </a:t>
            </a:r>
            <a:r>
              <a:rPr lang="fr-FR" sz="1400" b="0" i="0" u="none" strike="noStrike" cap="none" dirty="0" err="1">
                <a:solidFill>
                  <a:schemeClr val="bg1"/>
                </a:solidFill>
                <a:latin typeface="Segoe UI" panose="020B0502040204020203" pitchFamily="34" charset="0"/>
                <a:ea typeface="Quattrocento Sans"/>
                <a:cs typeface="Segoe UI" panose="020B0502040204020203" pitchFamily="34" charset="0"/>
                <a:sym typeface="Quattrocento Sans"/>
              </a:rPr>
              <a:t>Computing</a:t>
            </a:r>
            <a:endParaRP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p:txBody>
      </p:sp>
      <p:sp>
        <p:nvSpPr>
          <p:cNvPr id="52" name="Google Shape;313;p62">
            <a:extLst>
              <a:ext uri="{FF2B5EF4-FFF2-40B4-BE49-F238E27FC236}">
                <a16:creationId xmlns:a16="http://schemas.microsoft.com/office/drawing/2014/main" id="{1A847FE5-F9C1-4CEE-9189-23487E2C5239}"/>
              </a:ext>
            </a:extLst>
          </p:cNvPr>
          <p:cNvSpPr txBox="1"/>
          <p:nvPr userDrawn="1"/>
        </p:nvSpPr>
        <p:spPr>
          <a:xfrm>
            <a:off x="5850258" y="5024193"/>
            <a:ext cx="1958591"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2023F"/>
              </a:buClr>
              <a:buSzPts val="1800"/>
              <a:buFont typeface="Quattrocento Sans"/>
              <a:buNone/>
            </a:pP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De servir l’objectif de </a:t>
            </a:r>
            <a:r>
              <a:rPr lang="fr-FR" sz="1400" b="1"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transformation </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du client</a:t>
            </a:r>
            <a:endParaRPr sz="105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p:txBody>
      </p:sp>
      <p:sp>
        <p:nvSpPr>
          <p:cNvPr id="53" name="Google Shape;314;p62">
            <a:extLst>
              <a:ext uri="{FF2B5EF4-FFF2-40B4-BE49-F238E27FC236}">
                <a16:creationId xmlns:a16="http://schemas.microsoft.com/office/drawing/2014/main" id="{940B905E-037F-4AFB-8BA1-9D0B26B9F241}"/>
              </a:ext>
            </a:extLst>
          </p:cNvPr>
          <p:cNvSpPr txBox="1"/>
          <p:nvPr userDrawn="1"/>
        </p:nvSpPr>
        <p:spPr>
          <a:xfrm>
            <a:off x="9041476" y="3808118"/>
            <a:ext cx="2260653"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2023F"/>
              </a:buClr>
              <a:buSzPts val="1800"/>
              <a:buFont typeface="Quattrocento Sans"/>
              <a:buNone/>
            </a:pPr>
            <a:r>
              <a:rPr lang="fr-FR" sz="140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D’</a:t>
            </a:r>
            <a:r>
              <a:rPr lang="fr-FR" sz="1400" b="1"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influer</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 une démarche Green IT à ses fournisseurs et/ou clients</a:t>
            </a:r>
            <a:endParaRPr sz="105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p:txBody>
      </p:sp>
      <p:sp>
        <p:nvSpPr>
          <p:cNvPr id="54" name="Google Shape;315;p62">
            <a:extLst>
              <a:ext uri="{FF2B5EF4-FFF2-40B4-BE49-F238E27FC236}">
                <a16:creationId xmlns:a16="http://schemas.microsoft.com/office/drawing/2014/main" id="{85DDE410-A47B-4CEF-B141-DBE79F4F8826}"/>
              </a:ext>
            </a:extLst>
          </p:cNvPr>
          <p:cNvSpPr/>
          <p:nvPr userDrawn="1"/>
        </p:nvSpPr>
        <p:spPr>
          <a:xfrm>
            <a:off x="4822066" y="3687313"/>
            <a:ext cx="937095" cy="937095"/>
          </a:xfrm>
          <a:prstGeom prst="ellipse">
            <a:avLst/>
          </a:prstGeom>
          <a:solidFill>
            <a:srgbClr val="2BB6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 name="Google Shape;316;p62">
            <a:extLst>
              <a:ext uri="{FF2B5EF4-FFF2-40B4-BE49-F238E27FC236}">
                <a16:creationId xmlns:a16="http://schemas.microsoft.com/office/drawing/2014/main" id="{29116F21-B939-438F-9617-294094715CF1}"/>
              </a:ext>
            </a:extLst>
          </p:cNvPr>
          <p:cNvSpPr/>
          <p:nvPr userDrawn="1"/>
        </p:nvSpPr>
        <p:spPr>
          <a:xfrm>
            <a:off x="4822066" y="4924958"/>
            <a:ext cx="937095" cy="937095"/>
          </a:xfrm>
          <a:prstGeom prst="ellipse">
            <a:avLst/>
          </a:prstGeom>
          <a:solidFill>
            <a:srgbClr val="2BB6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6" name="Google Shape;317;p62">
            <a:extLst>
              <a:ext uri="{FF2B5EF4-FFF2-40B4-BE49-F238E27FC236}">
                <a16:creationId xmlns:a16="http://schemas.microsoft.com/office/drawing/2014/main" id="{9D4D9F21-E918-48FF-BF4A-1946E2355819}"/>
              </a:ext>
            </a:extLst>
          </p:cNvPr>
          <p:cNvSpPr/>
          <p:nvPr userDrawn="1"/>
        </p:nvSpPr>
        <p:spPr>
          <a:xfrm>
            <a:off x="7971155" y="2466879"/>
            <a:ext cx="937095" cy="937095"/>
          </a:xfrm>
          <a:prstGeom prst="ellipse">
            <a:avLst/>
          </a:prstGeom>
          <a:solidFill>
            <a:srgbClr val="2BB6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7" name="Google Shape;318;p62">
            <a:extLst>
              <a:ext uri="{FF2B5EF4-FFF2-40B4-BE49-F238E27FC236}">
                <a16:creationId xmlns:a16="http://schemas.microsoft.com/office/drawing/2014/main" id="{DE1F30B0-0DC8-4B87-A9DD-8AB1AB64A7C5}"/>
              </a:ext>
            </a:extLst>
          </p:cNvPr>
          <p:cNvSpPr/>
          <p:nvPr userDrawn="1"/>
        </p:nvSpPr>
        <p:spPr>
          <a:xfrm>
            <a:off x="7971154" y="3682509"/>
            <a:ext cx="937095" cy="937095"/>
          </a:xfrm>
          <a:prstGeom prst="ellipse">
            <a:avLst/>
          </a:prstGeom>
          <a:solidFill>
            <a:srgbClr val="2BB6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58" name="Google Shape;319;p62">
            <a:extLst>
              <a:ext uri="{FF2B5EF4-FFF2-40B4-BE49-F238E27FC236}">
                <a16:creationId xmlns:a16="http://schemas.microsoft.com/office/drawing/2014/main" id="{B7D42533-0567-4A02-B9DF-3947748121BE}"/>
              </a:ext>
            </a:extLst>
          </p:cNvPr>
          <p:cNvPicPr preferRelativeResize="0"/>
          <p:nvPr userDrawn="1"/>
        </p:nvPicPr>
        <p:blipFill rotWithShape="1">
          <a:blip r:embed="rId4">
            <a:alphaModFix/>
          </a:blip>
          <a:srcRect/>
          <a:stretch/>
        </p:blipFill>
        <p:spPr>
          <a:xfrm rot="-3051324">
            <a:off x="5140880" y="2751340"/>
            <a:ext cx="311372" cy="361865"/>
          </a:xfrm>
          <a:prstGeom prst="rect">
            <a:avLst/>
          </a:prstGeom>
          <a:noFill/>
          <a:ln>
            <a:noFill/>
          </a:ln>
        </p:spPr>
      </p:pic>
      <p:pic>
        <p:nvPicPr>
          <p:cNvPr id="59" name="Google Shape;320;p62">
            <a:extLst>
              <a:ext uri="{FF2B5EF4-FFF2-40B4-BE49-F238E27FC236}">
                <a16:creationId xmlns:a16="http://schemas.microsoft.com/office/drawing/2014/main" id="{DA9D3301-E6D1-4504-A7C3-67C9DD481DC3}"/>
              </a:ext>
            </a:extLst>
          </p:cNvPr>
          <p:cNvPicPr preferRelativeResize="0"/>
          <p:nvPr userDrawn="1"/>
        </p:nvPicPr>
        <p:blipFill rotWithShape="1">
          <a:blip r:embed="rId5">
            <a:alphaModFix/>
          </a:blip>
          <a:srcRect/>
          <a:stretch/>
        </p:blipFill>
        <p:spPr>
          <a:xfrm>
            <a:off x="5027639" y="3958314"/>
            <a:ext cx="512780" cy="349623"/>
          </a:xfrm>
          <a:prstGeom prst="rect">
            <a:avLst/>
          </a:prstGeom>
          <a:noFill/>
          <a:ln>
            <a:noFill/>
          </a:ln>
        </p:spPr>
      </p:pic>
      <p:pic>
        <p:nvPicPr>
          <p:cNvPr id="60" name="Google Shape;321;p62">
            <a:extLst>
              <a:ext uri="{FF2B5EF4-FFF2-40B4-BE49-F238E27FC236}">
                <a16:creationId xmlns:a16="http://schemas.microsoft.com/office/drawing/2014/main" id="{C09D6B82-6408-498E-A7E5-5BFBA4DC083A}"/>
              </a:ext>
            </a:extLst>
          </p:cNvPr>
          <p:cNvPicPr preferRelativeResize="0"/>
          <p:nvPr userDrawn="1"/>
        </p:nvPicPr>
        <p:blipFill rotWithShape="1">
          <a:blip r:embed="rId6">
            <a:alphaModFix/>
          </a:blip>
          <a:srcRect/>
          <a:stretch/>
        </p:blipFill>
        <p:spPr>
          <a:xfrm>
            <a:off x="5048996" y="5144833"/>
            <a:ext cx="468231" cy="475907"/>
          </a:xfrm>
          <a:prstGeom prst="rect">
            <a:avLst/>
          </a:prstGeom>
          <a:noFill/>
          <a:ln>
            <a:noFill/>
          </a:ln>
        </p:spPr>
      </p:pic>
      <p:pic>
        <p:nvPicPr>
          <p:cNvPr id="61" name="Google Shape;322;p62">
            <a:extLst>
              <a:ext uri="{FF2B5EF4-FFF2-40B4-BE49-F238E27FC236}">
                <a16:creationId xmlns:a16="http://schemas.microsoft.com/office/drawing/2014/main" id="{A0EAB4A2-3B2F-4FBF-952A-E9A487DA359D}"/>
              </a:ext>
            </a:extLst>
          </p:cNvPr>
          <p:cNvPicPr preferRelativeResize="0"/>
          <p:nvPr userDrawn="1"/>
        </p:nvPicPr>
        <p:blipFill rotWithShape="1">
          <a:blip r:embed="rId7">
            <a:alphaModFix/>
          </a:blip>
          <a:srcRect/>
          <a:stretch/>
        </p:blipFill>
        <p:spPr>
          <a:xfrm>
            <a:off x="8254211" y="2742133"/>
            <a:ext cx="389188" cy="380342"/>
          </a:xfrm>
          <a:prstGeom prst="rect">
            <a:avLst/>
          </a:prstGeom>
          <a:noFill/>
          <a:ln>
            <a:noFill/>
          </a:ln>
        </p:spPr>
      </p:pic>
      <p:pic>
        <p:nvPicPr>
          <p:cNvPr id="62" name="Google Shape;323;p62">
            <a:extLst>
              <a:ext uri="{FF2B5EF4-FFF2-40B4-BE49-F238E27FC236}">
                <a16:creationId xmlns:a16="http://schemas.microsoft.com/office/drawing/2014/main" id="{00082B43-0288-483C-BBB5-F8B8099F929C}"/>
              </a:ext>
            </a:extLst>
          </p:cNvPr>
          <p:cNvPicPr preferRelativeResize="0"/>
          <p:nvPr userDrawn="1"/>
        </p:nvPicPr>
        <p:blipFill rotWithShape="1">
          <a:blip r:embed="rId8">
            <a:alphaModFix/>
          </a:blip>
          <a:srcRect/>
          <a:stretch/>
        </p:blipFill>
        <p:spPr>
          <a:xfrm rot="1594623">
            <a:off x="8186403" y="3972100"/>
            <a:ext cx="524524" cy="357910"/>
          </a:xfrm>
          <a:prstGeom prst="rect">
            <a:avLst/>
          </a:prstGeom>
          <a:noFill/>
          <a:ln>
            <a:noFill/>
          </a:ln>
        </p:spPr>
      </p:pic>
      <p:sp>
        <p:nvSpPr>
          <p:cNvPr id="79" name="Google Shape;312;p62">
            <a:extLst>
              <a:ext uri="{FF2B5EF4-FFF2-40B4-BE49-F238E27FC236}">
                <a16:creationId xmlns:a16="http://schemas.microsoft.com/office/drawing/2014/main" id="{6F75F51B-32D4-4F0B-9B1B-8AA352CB4718}"/>
              </a:ext>
            </a:extLst>
          </p:cNvPr>
          <p:cNvSpPr txBox="1"/>
          <p:nvPr userDrawn="1"/>
        </p:nvSpPr>
        <p:spPr>
          <a:xfrm>
            <a:off x="9041476" y="2566114"/>
            <a:ext cx="2576052"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2023F"/>
              </a:buClr>
              <a:buSzPts val="1800"/>
              <a:buFont typeface="Quattrocento Sans"/>
              <a:buNone/>
            </a:pPr>
            <a:r>
              <a:rPr lang="fr-FR" sz="1400" dirty="0">
                <a:solidFill>
                  <a:schemeClr val="bg1"/>
                </a:solidFill>
                <a:latin typeface="Segoe UI" panose="020B0502040204020203" pitchFamily="34" charset="0"/>
                <a:ea typeface="Quattrocento Sans"/>
                <a:cs typeface="Segoe UI" panose="020B0502040204020203" pitchFamily="34" charset="0"/>
                <a:sym typeface="Quattrocento Sans"/>
              </a:rPr>
              <a:t>De</a:t>
            </a:r>
            <a:r>
              <a:rPr lang="fr-FR" sz="1400" b="1" dirty="0">
                <a:solidFill>
                  <a:schemeClr val="bg1"/>
                </a:solidFill>
                <a:latin typeface="Segoe UI" panose="020B0502040204020203" pitchFamily="34" charset="0"/>
                <a:ea typeface="Quattrocento Sans"/>
                <a:cs typeface="Segoe UI" panose="020B0502040204020203" pitchFamily="34" charset="0"/>
                <a:sym typeface="Quattrocento Sans"/>
              </a:rPr>
              <a:t> fa</a:t>
            </a:r>
            <a:r>
              <a:rPr lang="fr-FR" sz="1400" b="1"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voriser</a:t>
            </a:r>
            <a:r>
              <a:rPr lang="fr-F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rPr>
              <a:t> la collaboration et l’appropriation de l’IT par les équipes RSE</a:t>
            </a:r>
            <a:endParaRPr sz="1400" b="0" i="0" u="none" strike="noStrike" cap="none" dirty="0">
              <a:solidFill>
                <a:schemeClr val="bg1"/>
              </a:solidFill>
              <a:latin typeface="Segoe UI" panose="020B0502040204020203" pitchFamily="34" charset="0"/>
              <a:ea typeface="Quattrocento Sans"/>
              <a:cs typeface="Segoe UI" panose="020B0502040204020203" pitchFamily="34" charset="0"/>
              <a:sym typeface="Quattrocento Sans"/>
            </a:endParaRPr>
          </a:p>
        </p:txBody>
      </p:sp>
      <p:sp>
        <p:nvSpPr>
          <p:cNvPr id="25" name="Google Shape;308;p62">
            <a:extLst>
              <a:ext uri="{FF2B5EF4-FFF2-40B4-BE49-F238E27FC236}">
                <a16:creationId xmlns:a16="http://schemas.microsoft.com/office/drawing/2014/main" id="{98D165BB-47A6-4687-B943-4277CFB18E7F}"/>
              </a:ext>
            </a:extLst>
          </p:cNvPr>
          <p:cNvSpPr txBox="1"/>
          <p:nvPr userDrawn="1"/>
        </p:nvSpPr>
        <p:spPr>
          <a:xfrm>
            <a:off x="862774" y="1289680"/>
            <a:ext cx="10745026" cy="738623"/>
          </a:xfrm>
          <a:prstGeom prst="rect">
            <a:avLst/>
          </a:prstGeom>
          <a:noFill/>
          <a:ln>
            <a:noFill/>
          </a:ln>
        </p:spPr>
        <p:txBody>
          <a:bodyPr spcFirstLastPara="1" wrap="square" lIns="91425" tIns="45700" rIns="91425" bIns="45700" anchor="t" anchorCtr="0">
            <a:spAutoFit/>
          </a:bodyPr>
          <a:lstStyle/>
          <a:p>
            <a:pPr algn="ctr"/>
            <a:r>
              <a:rPr lang="fr-FR" sz="1400" b="0" i="0" dirty="0">
                <a:solidFill>
                  <a:schemeClr val="bg1"/>
                </a:solidFill>
                <a:effectLst/>
                <a:latin typeface="Segoe UI" panose="020B0502040204020203" pitchFamily="34" charset="0"/>
              </a:rPr>
              <a:t>Après 10 années d’accompagnement sur le </a:t>
            </a:r>
            <a:r>
              <a:rPr lang="fr-FR" sz="1400" b="1" i="0" dirty="0">
                <a:solidFill>
                  <a:schemeClr val="bg1"/>
                </a:solidFill>
                <a:effectLst/>
                <a:latin typeface="Segoe UI" panose="020B0502040204020203" pitchFamily="34" charset="0"/>
              </a:rPr>
              <a:t>Cloud Azure</a:t>
            </a:r>
            <a:r>
              <a:rPr lang="fr-FR" sz="1400" b="0" i="0" dirty="0">
                <a:solidFill>
                  <a:schemeClr val="bg1"/>
                </a:solidFill>
                <a:effectLst/>
                <a:latin typeface="Segoe UI" panose="020B0502040204020203" pitchFamily="34" charset="0"/>
              </a:rPr>
              <a:t>, les équipes d’</a:t>
            </a:r>
            <a:r>
              <a:rPr lang="fr-FR" sz="1400" b="0" i="0" dirty="0" err="1">
                <a:solidFill>
                  <a:schemeClr val="bg1"/>
                </a:solidFill>
                <a:effectLst/>
                <a:latin typeface="Segoe UI" panose="020B0502040204020203" pitchFamily="34" charset="0"/>
              </a:rPr>
              <a:t>Expertime</a:t>
            </a:r>
            <a:r>
              <a:rPr lang="fr-FR" sz="1400" b="0" i="0" dirty="0">
                <a:solidFill>
                  <a:schemeClr val="bg1"/>
                </a:solidFill>
                <a:effectLst/>
                <a:latin typeface="Segoe UI" panose="020B0502040204020203" pitchFamily="34" charset="0"/>
              </a:rPr>
              <a:t> se sont interrogées sur l’impact environnemental </a:t>
            </a:r>
            <a:r>
              <a:rPr lang="fr-FR" sz="1400" b="1" i="0" dirty="0">
                <a:solidFill>
                  <a:schemeClr val="bg1"/>
                </a:solidFill>
                <a:effectLst/>
                <a:latin typeface="Segoe UI" panose="020B0502040204020203" pitchFamily="34" charset="0"/>
              </a:rPr>
              <a:t>des socles Cloud</a:t>
            </a:r>
            <a:r>
              <a:rPr lang="fr-FR" sz="1400" b="0" i="0" dirty="0">
                <a:solidFill>
                  <a:schemeClr val="bg1"/>
                </a:solidFill>
                <a:effectLst/>
                <a:latin typeface="Segoe UI" panose="020B0502040204020203" pitchFamily="34" charset="0"/>
              </a:rPr>
              <a:t> mis en place chez ses clients. Nous avons créé </a:t>
            </a:r>
            <a:r>
              <a:rPr lang="fr-FR" sz="1400" b="1" i="0" dirty="0">
                <a:solidFill>
                  <a:schemeClr val="bg1"/>
                </a:solidFill>
                <a:effectLst/>
                <a:latin typeface="Segoe UI" panose="020B0502040204020203" pitchFamily="34" charset="0"/>
              </a:rPr>
              <a:t>l'offre </a:t>
            </a:r>
            <a:r>
              <a:rPr lang="fr-FR" sz="1400" b="1" i="0" dirty="0" err="1">
                <a:solidFill>
                  <a:schemeClr val="bg1"/>
                </a:solidFill>
                <a:effectLst/>
                <a:latin typeface="Segoe UI" panose="020B0502040204020203" pitchFamily="34" charset="0"/>
              </a:rPr>
              <a:t>GreenOps</a:t>
            </a:r>
            <a:r>
              <a:rPr lang="fr-FR" sz="1400" b="1" i="0" dirty="0">
                <a:solidFill>
                  <a:schemeClr val="bg1"/>
                </a:solidFill>
                <a:effectLst/>
                <a:latin typeface="Segoe UI" panose="020B0502040204020203" pitchFamily="34" charset="0"/>
              </a:rPr>
              <a:t> </a:t>
            </a:r>
            <a:r>
              <a:rPr lang="fr-FR" sz="1400" b="0" i="0" dirty="0">
                <a:solidFill>
                  <a:schemeClr val="bg1"/>
                </a:solidFill>
                <a:effectLst/>
                <a:latin typeface="Segoe UI" panose="020B0502040204020203" pitchFamily="34" charset="0"/>
              </a:rPr>
              <a:t>afin d'accompagner les entreprises dans une démarche plus responsable dans leur transformation digitale :</a:t>
            </a:r>
          </a:p>
        </p:txBody>
      </p:sp>
    </p:spTree>
    <p:extLst>
      <p:ext uri="{BB962C8B-B14F-4D97-AF65-F5344CB8AC3E}">
        <p14:creationId xmlns:p14="http://schemas.microsoft.com/office/powerpoint/2010/main" val="131412288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Expertime Open">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0" y="-2571"/>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14" name="ZoneTexte 13">
            <a:extLst>
              <a:ext uri="{FF2B5EF4-FFF2-40B4-BE49-F238E27FC236}">
                <a16:creationId xmlns:a16="http://schemas.microsoft.com/office/drawing/2014/main" id="{DC4F0214-2EDC-44D6-B9B1-288CDA91F1C8}"/>
              </a:ext>
            </a:extLst>
          </p:cNvPr>
          <p:cNvSpPr txBox="1"/>
          <p:nvPr userDrawn="1"/>
        </p:nvSpPr>
        <p:spPr>
          <a:xfrm>
            <a:off x="838197" y="41244"/>
            <a:ext cx="10515606" cy="1508105"/>
          </a:xfrm>
          <a:prstGeom prst="rect">
            <a:avLst/>
          </a:prstGeom>
          <a:noFill/>
        </p:spPr>
        <p:txBody>
          <a:bodyPr wrap="square" rtlCol="0" anchor="ctr">
            <a:spAutoFit/>
          </a:bodyPr>
          <a:lstStyle/>
          <a:p>
            <a:r>
              <a:rPr lang="fr-FR" sz="4400">
                <a:solidFill>
                  <a:schemeClr val="bg1"/>
                </a:solidFill>
                <a:latin typeface="+mj-lt"/>
              </a:rPr>
              <a:t>Une agence pour l’activité Web et </a:t>
            </a:r>
          </a:p>
          <a:p>
            <a:r>
              <a:rPr lang="fr-FR" sz="4400">
                <a:solidFill>
                  <a:schemeClr val="bg1"/>
                </a:solidFill>
                <a:latin typeface="+mj-lt"/>
              </a:rPr>
              <a:t>E-Commerce</a:t>
            </a:r>
            <a:r>
              <a:rPr lang="fr-FR" sz="4800">
                <a:solidFill>
                  <a:schemeClr val="bg1"/>
                </a:solidFill>
                <a:latin typeface="+mj-lt"/>
              </a:rPr>
              <a:t> </a:t>
            </a:r>
          </a:p>
        </p:txBody>
      </p:sp>
      <p:pic>
        <p:nvPicPr>
          <p:cNvPr id="3" name="Image 2">
            <a:extLst>
              <a:ext uri="{FF2B5EF4-FFF2-40B4-BE49-F238E27FC236}">
                <a16:creationId xmlns:a16="http://schemas.microsoft.com/office/drawing/2014/main" id="{506019FE-1411-47C0-8F2F-B9FCBB122DEA}"/>
              </a:ext>
            </a:extLst>
          </p:cNvPr>
          <p:cNvPicPr>
            <a:picLocks noChangeAspect="1"/>
          </p:cNvPicPr>
          <p:nvPr userDrawn="1"/>
        </p:nvPicPr>
        <p:blipFill rotWithShape="1">
          <a:blip r:embed="rId2"/>
          <a:srcRect l="27659" t="9001" b="1"/>
          <a:stretch/>
        </p:blipFill>
        <p:spPr>
          <a:xfrm>
            <a:off x="-3740" y="2163142"/>
            <a:ext cx="2743200" cy="3450713"/>
          </a:xfrm>
          <a:prstGeom prst="rect">
            <a:avLst/>
          </a:prstGeom>
        </p:spPr>
      </p:pic>
      <p:pic>
        <p:nvPicPr>
          <p:cNvPr id="30" name="Image 29">
            <a:extLst>
              <a:ext uri="{FF2B5EF4-FFF2-40B4-BE49-F238E27FC236}">
                <a16:creationId xmlns:a16="http://schemas.microsoft.com/office/drawing/2014/main" id="{9381C26B-2617-437E-AE26-7A8671DD0D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714"/>
            <a:ext cx="481792" cy="496073"/>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2" name="Image 1">
            <a:extLst>
              <a:ext uri="{FF2B5EF4-FFF2-40B4-BE49-F238E27FC236}">
                <a16:creationId xmlns:a16="http://schemas.microsoft.com/office/drawing/2014/main" id="{D11650CB-F9CF-427E-BE7E-0E1F5D9ED653}"/>
              </a:ext>
            </a:extLst>
          </p:cNvPr>
          <p:cNvPicPr>
            <a:picLocks noChangeAspect="1"/>
          </p:cNvPicPr>
          <p:nvPr userDrawn="1"/>
        </p:nvPicPr>
        <p:blipFill rotWithShape="1">
          <a:blip r:embed="rId4"/>
          <a:srcRect l="69055" t="8561"/>
          <a:stretch/>
        </p:blipFill>
        <p:spPr>
          <a:xfrm>
            <a:off x="3138090" y="2133600"/>
            <a:ext cx="635769" cy="3450712"/>
          </a:xfrm>
          <a:prstGeom prst="rect">
            <a:avLst/>
          </a:prstGeom>
        </p:spPr>
      </p:pic>
      <p:sp>
        <p:nvSpPr>
          <p:cNvPr id="16" name="ZoneTexte 15">
            <a:extLst>
              <a:ext uri="{FF2B5EF4-FFF2-40B4-BE49-F238E27FC236}">
                <a16:creationId xmlns:a16="http://schemas.microsoft.com/office/drawing/2014/main" id="{4ABADA7E-BDB5-457B-BE73-D8F8982B681F}"/>
              </a:ext>
            </a:extLst>
          </p:cNvPr>
          <p:cNvSpPr txBox="1"/>
          <p:nvPr userDrawn="1"/>
        </p:nvSpPr>
        <p:spPr>
          <a:xfrm>
            <a:off x="4838007" y="2227014"/>
            <a:ext cx="2790812" cy="369332"/>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a:solidFill>
                  <a:schemeClr val="bg1"/>
                </a:solidFill>
                <a:latin typeface="+mj-lt"/>
              </a:rPr>
              <a:t>Notre crédo</a:t>
            </a:r>
          </a:p>
        </p:txBody>
      </p:sp>
      <p:sp>
        <p:nvSpPr>
          <p:cNvPr id="17" name="ZoneTexte 16">
            <a:extLst>
              <a:ext uri="{FF2B5EF4-FFF2-40B4-BE49-F238E27FC236}">
                <a16:creationId xmlns:a16="http://schemas.microsoft.com/office/drawing/2014/main" id="{F9CF77C2-4AC6-4C9E-BD40-AC2FF29F69C8}"/>
              </a:ext>
            </a:extLst>
          </p:cNvPr>
          <p:cNvSpPr txBox="1"/>
          <p:nvPr userDrawn="1"/>
        </p:nvSpPr>
        <p:spPr>
          <a:xfrm>
            <a:off x="4213658" y="2719322"/>
            <a:ext cx="3417426" cy="523220"/>
          </a:xfrm>
          <a:prstGeom prst="rect">
            <a:avLst/>
          </a:prstGeom>
          <a:noFill/>
        </p:spPr>
        <p:txBody>
          <a:bodyPr wrap="square" rtlCol="0">
            <a:spAutoFit/>
          </a:bodyPr>
          <a:lstStyle/>
          <a:p>
            <a:pPr>
              <a:defRPr/>
            </a:pPr>
            <a:r>
              <a:rPr lang="fr-FR" sz="1200">
                <a:solidFill>
                  <a:schemeClr val="bg1"/>
                </a:solidFill>
                <a:cs typeface="Segoe UI"/>
              </a:rPr>
              <a:t>Concevoir vos solutions Web et E-commerce.</a:t>
            </a:r>
            <a:endParaRPr lang="fr-FR" sz="1200" noProof="0">
              <a:solidFill>
                <a:schemeClr val="bg1"/>
              </a:solidFill>
              <a:cs typeface="Segoe UI"/>
            </a:endParaRPr>
          </a:p>
          <a:p>
            <a:endParaRPr lang="fr-FR" sz="1600"/>
          </a:p>
        </p:txBody>
      </p:sp>
      <p:sp>
        <p:nvSpPr>
          <p:cNvPr id="18" name="ZoneTexte 17">
            <a:extLst>
              <a:ext uri="{FF2B5EF4-FFF2-40B4-BE49-F238E27FC236}">
                <a16:creationId xmlns:a16="http://schemas.microsoft.com/office/drawing/2014/main" id="{010FABD4-BBA9-4583-AE75-BBA21FF85866}"/>
              </a:ext>
            </a:extLst>
          </p:cNvPr>
          <p:cNvSpPr txBox="1"/>
          <p:nvPr userDrawn="1"/>
        </p:nvSpPr>
        <p:spPr>
          <a:xfrm>
            <a:off x="8577954" y="2493673"/>
            <a:ext cx="2790812" cy="369332"/>
          </a:xfrm>
          <a:prstGeom prst="rect">
            <a:avLst/>
          </a:prstGeom>
          <a:noFill/>
        </p:spPr>
        <p:txBody>
          <a:bodyPr wrap="square" rtlCol="0">
            <a:spAutoFit/>
          </a:bodyPr>
          <a:lstStyle/>
          <a:p>
            <a:r>
              <a:rPr lang="fr-FR">
                <a:solidFill>
                  <a:schemeClr val="bg1"/>
                </a:solidFill>
                <a:latin typeface="+mj-lt"/>
              </a:rPr>
              <a:t>Notre expertise</a:t>
            </a:r>
          </a:p>
        </p:txBody>
      </p:sp>
      <p:sp>
        <p:nvSpPr>
          <p:cNvPr id="19" name="ZoneTexte 18">
            <a:extLst>
              <a:ext uri="{FF2B5EF4-FFF2-40B4-BE49-F238E27FC236}">
                <a16:creationId xmlns:a16="http://schemas.microsoft.com/office/drawing/2014/main" id="{6EF8D3F6-541A-49E6-845E-5AFA91F34D04}"/>
              </a:ext>
            </a:extLst>
          </p:cNvPr>
          <p:cNvSpPr txBox="1"/>
          <p:nvPr userDrawn="1"/>
        </p:nvSpPr>
        <p:spPr>
          <a:xfrm>
            <a:off x="7951340" y="3005072"/>
            <a:ext cx="3417426" cy="538609"/>
          </a:xfrm>
          <a:prstGeom prst="rect">
            <a:avLst/>
          </a:prstGeom>
          <a:noFill/>
        </p:spPr>
        <p:txBody>
          <a:bodyPr wrap="square" rtlCol="0">
            <a:spAutoFit/>
          </a:bodyPr>
          <a:lstStyle/>
          <a:p>
            <a:pPr>
              <a:spcAft>
                <a:spcPts val="600"/>
              </a:spcAft>
              <a:defRPr/>
            </a:pPr>
            <a:r>
              <a:rPr lang="fr-FR" sz="1200">
                <a:solidFill>
                  <a:schemeClr val="bg1"/>
                </a:solidFill>
                <a:cs typeface="Segoe UI"/>
              </a:rPr>
              <a:t>Web : CMS WordPress &amp; Drupal</a:t>
            </a:r>
          </a:p>
          <a:p>
            <a:pPr>
              <a:spcAft>
                <a:spcPts val="600"/>
              </a:spcAft>
              <a:defRPr/>
            </a:pPr>
            <a:r>
              <a:rPr lang="fr-FR" sz="1200">
                <a:solidFill>
                  <a:schemeClr val="bg1"/>
                </a:solidFill>
                <a:cs typeface="Segoe UI"/>
              </a:rPr>
              <a:t>E-commerce : Solutions Magento &amp; </a:t>
            </a:r>
            <a:r>
              <a:rPr lang="fr-FR" sz="1200" err="1">
                <a:solidFill>
                  <a:schemeClr val="bg1"/>
                </a:solidFill>
                <a:cs typeface="Segoe UI"/>
              </a:rPr>
              <a:t>Shopify</a:t>
            </a:r>
            <a:r>
              <a:rPr lang="fr-FR" sz="1200">
                <a:solidFill>
                  <a:schemeClr val="bg1"/>
                </a:solidFill>
                <a:cs typeface="Segoe UI"/>
              </a:rPr>
              <a:t>.</a:t>
            </a:r>
          </a:p>
        </p:txBody>
      </p:sp>
      <p:sp>
        <p:nvSpPr>
          <p:cNvPr id="21" name="ZoneTexte 20">
            <a:extLst>
              <a:ext uri="{FF2B5EF4-FFF2-40B4-BE49-F238E27FC236}">
                <a16:creationId xmlns:a16="http://schemas.microsoft.com/office/drawing/2014/main" id="{14FE1E3B-9767-4A9F-A2CA-69BC01B593F7}"/>
              </a:ext>
            </a:extLst>
          </p:cNvPr>
          <p:cNvSpPr txBox="1"/>
          <p:nvPr userDrawn="1"/>
        </p:nvSpPr>
        <p:spPr>
          <a:xfrm>
            <a:off x="4838007" y="3247339"/>
            <a:ext cx="2793587" cy="369332"/>
          </a:xfrm>
          <a:prstGeom prst="rect">
            <a:avLst/>
          </a:prstGeom>
          <a:noFill/>
        </p:spPr>
        <p:txBody>
          <a:bodyPr wrap="square" rtlCol="0">
            <a:spAutoFit/>
          </a:bodyPr>
          <a:lstStyle/>
          <a:p>
            <a:r>
              <a:rPr lang="fr-FR">
                <a:solidFill>
                  <a:schemeClr val="bg1"/>
                </a:solidFill>
                <a:latin typeface="+mj-lt"/>
              </a:rPr>
              <a:t>Notre talent</a:t>
            </a:r>
          </a:p>
        </p:txBody>
      </p:sp>
      <p:sp>
        <p:nvSpPr>
          <p:cNvPr id="22" name="ZoneTexte 21">
            <a:extLst>
              <a:ext uri="{FF2B5EF4-FFF2-40B4-BE49-F238E27FC236}">
                <a16:creationId xmlns:a16="http://schemas.microsoft.com/office/drawing/2014/main" id="{D90928AB-BE66-4A5B-8592-EB191AD113A5}"/>
              </a:ext>
            </a:extLst>
          </p:cNvPr>
          <p:cNvSpPr txBox="1"/>
          <p:nvPr userDrawn="1"/>
        </p:nvSpPr>
        <p:spPr>
          <a:xfrm>
            <a:off x="4216433" y="3747330"/>
            <a:ext cx="3417426" cy="646331"/>
          </a:xfrm>
          <a:prstGeom prst="rect">
            <a:avLst/>
          </a:prstGeom>
          <a:noFill/>
        </p:spPr>
        <p:txBody>
          <a:bodyPr wrap="square" rtlCol="0">
            <a:spAutoFit/>
          </a:bodyPr>
          <a:lstStyle/>
          <a:p>
            <a:pPr>
              <a:defRPr/>
            </a:pPr>
            <a:r>
              <a:rPr lang="fr-FR" sz="1200">
                <a:solidFill>
                  <a:schemeClr val="bg1"/>
                </a:solidFill>
                <a:cs typeface="Segoe UI"/>
              </a:rPr>
              <a:t>Vous accompagner de l'idée à la réalisation (étude, conception, UX/UI, développement, maintenance).</a:t>
            </a:r>
          </a:p>
        </p:txBody>
      </p:sp>
      <p:grpSp>
        <p:nvGrpSpPr>
          <p:cNvPr id="25" name="Groupe 24">
            <a:extLst>
              <a:ext uri="{FF2B5EF4-FFF2-40B4-BE49-F238E27FC236}">
                <a16:creationId xmlns:a16="http://schemas.microsoft.com/office/drawing/2014/main" id="{C432FBF0-4CCC-4B28-9C4A-0B8F9F4452CF}"/>
              </a:ext>
            </a:extLst>
          </p:cNvPr>
          <p:cNvGrpSpPr/>
          <p:nvPr userDrawn="1"/>
        </p:nvGrpSpPr>
        <p:grpSpPr>
          <a:xfrm>
            <a:off x="4266308" y="2171913"/>
            <a:ext cx="441357" cy="441357"/>
            <a:chOff x="2369213" y="5618276"/>
            <a:chExt cx="441357" cy="441357"/>
          </a:xfrm>
        </p:grpSpPr>
        <p:pic>
          <p:nvPicPr>
            <p:cNvPr id="26" name="Image 25">
              <a:extLst>
                <a:ext uri="{FF2B5EF4-FFF2-40B4-BE49-F238E27FC236}">
                  <a16:creationId xmlns:a16="http://schemas.microsoft.com/office/drawing/2014/main" id="{FC97D212-A5F9-4EDC-937E-423B282C29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27" name="ZoneTexte 26">
              <a:extLst>
                <a:ext uri="{FF2B5EF4-FFF2-40B4-BE49-F238E27FC236}">
                  <a16:creationId xmlns:a16="http://schemas.microsoft.com/office/drawing/2014/main" id="{4EAA7CB6-8397-4D74-9A40-CEF5C149E91D}"/>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grpSp>
        <p:nvGrpSpPr>
          <p:cNvPr id="29" name="Groupe 28">
            <a:extLst>
              <a:ext uri="{FF2B5EF4-FFF2-40B4-BE49-F238E27FC236}">
                <a16:creationId xmlns:a16="http://schemas.microsoft.com/office/drawing/2014/main" id="{F093A91C-A5EB-4FFE-B74E-84BB5F7E37FD}"/>
              </a:ext>
            </a:extLst>
          </p:cNvPr>
          <p:cNvGrpSpPr/>
          <p:nvPr userDrawn="1"/>
        </p:nvGrpSpPr>
        <p:grpSpPr>
          <a:xfrm>
            <a:off x="4266308" y="3219009"/>
            <a:ext cx="441357" cy="441357"/>
            <a:chOff x="2369213" y="5618276"/>
            <a:chExt cx="441357" cy="441357"/>
          </a:xfrm>
        </p:grpSpPr>
        <p:pic>
          <p:nvPicPr>
            <p:cNvPr id="31" name="Image 30">
              <a:extLst>
                <a:ext uri="{FF2B5EF4-FFF2-40B4-BE49-F238E27FC236}">
                  <a16:creationId xmlns:a16="http://schemas.microsoft.com/office/drawing/2014/main" id="{32EE5569-EBED-473E-9E05-E237D90E31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32" name="ZoneTexte 31">
              <a:extLst>
                <a:ext uri="{FF2B5EF4-FFF2-40B4-BE49-F238E27FC236}">
                  <a16:creationId xmlns:a16="http://schemas.microsoft.com/office/drawing/2014/main" id="{4FC3C52F-46A6-47F8-B3E5-26CCC2E5A4F5}"/>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grpSp>
        <p:nvGrpSpPr>
          <p:cNvPr id="33" name="Groupe 32">
            <a:extLst>
              <a:ext uri="{FF2B5EF4-FFF2-40B4-BE49-F238E27FC236}">
                <a16:creationId xmlns:a16="http://schemas.microsoft.com/office/drawing/2014/main" id="{660281C0-B324-47AE-B884-23A8807AD494}"/>
              </a:ext>
            </a:extLst>
          </p:cNvPr>
          <p:cNvGrpSpPr/>
          <p:nvPr userDrawn="1"/>
        </p:nvGrpSpPr>
        <p:grpSpPr>
          <a:xfrm>
            <a:off x="8032489" y="2476751"/>
            <a:ext cx="441357" cy="441357"/>
            <a:chOff x="2369213" y="5618276"/>
            <a:chExt cx="441357" cy="441357"/>
          </a:xfrm>
        </p:grpSpPr>
        <p:pic>
          <p:nvPicPr>
            <p:cNvPr id="34" name="Image 33">
              <a:extLst>
                <a:ext uri="{FF2B5EF4-FFF2-40B4-BE49-F238E27FC236}">
                  <a16:creationId xmlns:a16="http://schemas.microsoft.com/office/drawing/2014/main" id="{8901E6AE-DAFE-4772-BD3D-2F77699FF8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35" name="ZoneTexte 34">
              <a:extLst>
                <a:ext uri="{FF2B5EF4-FFF2-40B4-BE49-F238E27FC236}">
                  <a16:creationId xmlns:a16="http://schemas.microsoft.com/office/drawing/2014/main" id="{21139FD4-D0F2-4935-BCF2-0F04FCDAC1D1}"/>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pic>
        <p:nvPicPr>
          <p:cNvPr id="28" name="Image 27" descr="Une image contenant texte&#10;&#10;Description générée automatiquement">
            <a:extLst>
              <a:ext uri="{FF2B5EF4-FFF2-40B4-BE49-F238E27FC236}">
                <a16:creationId xmlns:a16="http://schemas.microsoft.com/office/drawing/2014/main" id="{8E7C872C-906C-4A9D-B90F-21F0D9EDFD2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74897" y="3208528"/>
            <a:ext cx="1995507" cy="744862"/>
          </a:xfrm>
          <a:prstGeom prst="rect">
            <a:avLst/>
          </a:prstGeom>
        </p:spPr>
      </p:pic>
      <p:sp>
        <p:nvSpPr>
          <p:cNvPr id="37" name="ZoneTexte 36">
            <a:extLst>
              <a:ext uri="{FF2B5EF4-FFF2-40B4-BE49-F238E27FC236}">
                <a16:creationId xmlns:a16="http://schemas.microsoft.com/office/drawing/2014/main" id="{A6D82C1B-4062-42BE-A2CC-FA2608786BBD}"/>
              </a:ext>
            </a:extLst>
          </p:cNvPr>
          <p:cNvSpPr txBox="1"/>
          <p:nvPr userDrawn="1"/>
        </p:nvSpPr>
        <p:spPr>
          <a:xfrm>
            <a:off x="4838007" y="4656369"/>
            <a:ext cx="2793587" cy="369332"/>
          </a:xfrm>
          <a:prstGeom prst="rect">
            <a:avLst/>
          </a:prstGeom>
          <a:noFill/>
        </p:spPr>
        <p:txBody>
          <a:bodyPr wrap="square" rtlCol="0">
            <a:spAutoFit/>
          </a:bodyPr>
          <a:lstStyle/>
          <a:p>
            <a:r>
              <a:rPr lang="fr-FR">
                <a:solidFill>
                  <a:schemeClr val="bg1"/>
                </a:solidFill>
                <a:latin typeface="+mj-lt"/>
              </a:rPr>
              <a:t>Notre leitmotiv</a:t>
            </a:r>
          </a:p>
        </p:txBody>
      </p:sp>
      <p:sp>
        <p:nvSpPr>
          <p:cNvPr id="38" name="ZoneTexte 37">
            <a:extLst>
              <a:ext uri="{FF2B5EF4-FFF2-40B4-BE49-F238E27FC236}">
                <a16:creationId xmlns:a16="http://schemas.microsoft.com/office/drawing/2014/main" id="{21D9AF84-D6B0-40BE-B0FD-B29E0F886B74}"/>
              </a:ext>
            </a:extLst>
          </p:cNvPr>
          <p:cNvSpPr txBox="1"/>
          <p:nvPr userDrawn="1"/>
        </p:nvSpPr>
        <p:spPr>
          <a:xfrm>
            <a:off x="4216433" y="5156360"/>
            <a:ext cx="3417426" cy="461665"/>
          </a:xfrm>
          <a:prstGeom prst="rect">
            <a:avLst/>
          </a:prstGeom>
          <a:noFill/>
        </p:spPr>
        <p:txBody>
          <a:bodyPr wrap="square" rtlCol="0">
            <a:spAutoFit/>
          </a:bodyPr>
          <a:lstStyle/>
          <a:p>
            <a:pPr>
              <a:defRPr/>
            </a:pPr>
            <a:r>
              <a:rPr lang="fr-FR" sz="1200">
                <a:solidFill>
                  <a:schemeClr val="bg1"/>
                </a:solidFill>
                <a:cs typeface="Segoe UI"/>
              </a:rPr>
              <a:t>Proposer une haute expertise technique afin de créer une expérience digitale performante.</a:t>
            </a:r>
          </a:p>
        </p:txBody>
      </p:sp>
      <p:grpSp>
        <p:nvGrpSpPr>
          <p:cNvPr id="39" name="Groupe 38">
            <a:extLst>
              <a:ext uri="{FF2B5EF4-FFF2-40B4-BE49-F238E27FC236}">
                <a16:creationId xmlns:a16="http://schemas.microsoft.com/office/drawing/2014/main" id="{4BF158E2-A819-4A04-A524-D156BA8280FB}"/>
              </a:ext>
            </a:extLst>
          </p:cNvPr>
          <p:cNvGrpSpPr/>
          <p:nvPr userDrawn="1"/>
        </p:nvGrpSpPr>
        <p:grpSpPr>
          <a:xfrm>
            <a:off x="4266308" y="4628039"/>
            <a:ext cx="441357" cy="441357"/>
            <a:chOff x="2369213" y="5618276"/>
            <a:chExt cx="441357" cy="441357"/>
          </a:xfrm>
        </p:grpSpPr>
        <p:pic>
          <p:nvPicPr>
            <p:cNvPr id="40" name="Image 39">
              <a:extLst>
                <a:ext uri="{FF2B5EF4-FFF2-40B4-BE49-F238E27FC236}">
                  <a16:creationId xmlns:a16="http://schemas.microsoft.com/office/drawing/2014/main" id="{C726B929-EEFC-4CF8-9852-ED5FE90B35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41" name="ZoneTexte 40">
              <a:extLst>
                <a:ext uri="{FF2B5EF4-FFF2-40B4-BE49-F238E27FC236}">
                  <a16:creationId xmlns:a16="http://schemas.microsoft.com/office/drawing/2014/main" id="{BB7AADB5-D967-45CB-85F0-6DFDB8D775F1}"/>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sp>
        <p:nvSpPr>
          <p:cNvPr id="42" name="ZoneTexte 41">
            <a:extLst>
              <a:ext uri="{FF2B5EF4-FFF2-40B4-BE49-F238E27FC236}">
                <a16:creationId xmlns:a16="http://schemas.microsoft.com/office/drawing/2014/main" id="{8AB0F863-2EB9-4C1A-A09D-583565C11B6B}"/>
              </a:ext>
            </a:extLst>
          </p:cNvPr>
          <p:cNvSpPr txBox="1"/>
          <p:nvPr userDrawn="1"/>
        </p:nvSpPr>
        <p:spPr>
          <a:xfrm>
            <a:off x="8577954" y="3846223"/>
            <a:ext cx="2790812" cy="369332"/>
          </a:xfrm>
          <a:prstGeom prst="rect">
            <a:avLst/>
          </a:prstGeom>
          <a:noFill/>
        </p:spPr>
        <p:txBody>
          <a:bodyPr wrap="square" rtlCol="0">
            <a:spAutoFit/>
          </a:bodyPr>
          <a:lstStyle/>
          <a:p>
            <a:r>
              <a:rPr lang="fr-FR">
                <a:solidFill>
                  <a:schemeClr val="bg1"/>
                </a:solidFill>
                <a:latin typeface="+mj-lt"/>
              </a:rPr>
              <a:t>Follow The Sun</a:t>
            </a:r>
          </a:p>
        </p:txBody>
      </p:sp>
      <p:sp>
        <p:nvSpPr>
          <p:cNvPr id="43" name="ZoneTexte 42">
            <a:extLst>
              <a:ext uri="{FF2B5EF4-FFF2-40B4-BE49-F238E27FC236}">
                <a16:creationId xmlns:a16="http://schemas.microsoft.com/office/drawing/2014/main" id="{7D5B4486-18B4-41F3-B3EC-C42606F8AA4F}"/>
              </a:ext>
            </a:extLst>
          </p:cNvPr>
          <p:cNvSpPr txBox="1"/>
          <p:nvPr userDrawn="1"/>
        </p:nvSpPr>
        <p:spPr>
          <a:xfrm>
            <a:off x="7951340" y="4357622"/>
            <a:ext cx="3417426" cy="646331"/>
          </a:xfrm>
          <a:prstGeom prst="rect">
            <a:avLst/>
          </a:prstGeom>
          <a:noFill/>
        </p:spPr>
        <p:txBody>
          <a:bodyPr wrap="square" rtlCol="0">
            <a:spAutoFit/>
          </a:bodyPr>
          <a:lstStyle/>
          <a:p>
            <a:pPr>
              <a:defRPr/>
            </a:pPr>
            <a:r>
              <a:rPr lang="fr-FR" sz="1200">
                <a:solidFill>
                  <a:schemeClr val="bg1"/>
                </a:solidFill>
                <a:cs typeface="Segoe UI"/>
              </a:rPr>
              <a:t>Nos équipes présentes en France et à Hong-Kong nous permettent une forte continuité de services.</a:t>
            </a:r>
          </a:p>
        </p:txBody>
      </p:sp>
      <p:grpSp>
        <p:nvGrpSpPr>
          <p:cNvPr id="44" name="Groupe 43">
            <a:extLst>
              <a:ext uri="{FF2B5EF4-FFF2-40B4-BE49-F238E27FC236}">
                <a16:creationId xmlns:a16="http://schemas.microsoft.com/office/drawing/2014/main" id="{4D420CD4-ACD9-4DC7-A48A-78DBA1C5EEC2}"/>
              </a:ext>
            </a:extLst>
          </p:cNvPr>
          <p:cNvGrpSpPr/>
          <p:nvPr userDrawn="1"/>
        </p:nvGrpSpPr>
        <p:grpSpPr>
          <a:xfrm>
            <a:off x="8032489" y="3829301"/>
            <a:ext cx="441357" cy="441357"/>
            <a:chOff x="2369213" y="5618276"/>
            <a:chExt cx="441357" cy="441357"/>
          </a:xfrm>
        </p:grpSpPr>
        <p:pic>
          <p:nvPicPr>
            <p:cNvPr id="45" name="Image 44">
              <a:extLst>
                <a:ext uri="{FF2B5EF4-FFF2-40B4-BE49-F238E27FC236}">
                  <a16:creationId xmlns:a16="http://schemas.microsoft.com/office/drawing/2014/main" id="{2A6D68FB-37F3-4309-AF60-56E04EE383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369213" y="5618276"/>
              <a:ext cx="441357" cy="441357"/>
            </a:xfrm>
            <a:prstGeom prst="rect">
              <a:avLst/>
            </a:prstGeom>
          </p:spPr>
        </p:pic>
        <p:sp>
          <p:nvSpPr>
            <p:cNvPr id="46" name="ZoneTexte 45">
              <a:extLst>
                <a:ext uri="{FF2B5EF4-FFF2-40B4-BE49-F238E27FC236}">
                  <a16:creationId xmlns:a16="http://schemas.microsoft.com/office/drawing/2014/main" id="{2C535111-337B-4587-BB19-10728DA2302C}"/>
                </a:ext>
              </a:extLst>
            </p:cNvPr>
            <p:cNvSpPr txBox="1"/>
            <p:nvPr/>
          </p:nvSpPr>
          <p:spPr>
            <a:xfrm>
              <a:off x="2379042" y="5654286"/>
              <a:ext cx="431528" cy="369332"/>
            </a:xfrm>
            <a:prstGeom prst="rect">
              <a:avLst/>
            </a:prstGeom>
            <a:noFill/>
          </p:spPr>
          <p:txBody>
            <a:bodyPr wrap="none" rtlCol="0">
              <a:spAutoFit/>
            </a:bodyPr>
            <a:lstStyle/>
            <a:p>
              <a:r>
                <a:rPr lang="fr-FR">
                  <a:sym typeface="Wingdings" panose="05000000000000000000" pitchFamily="2" charset="2"/>
                </a:rPr>
                <a:t></a:t>
              </a:r>
              <a:endParaRPr lang="fr-FR"/>
            </a:p>
          </p:txBody>
        </p:sp>
      </p:grpSp>
    </p:spTree>
    <p:extLst>
      <p:ext uri="{BB962C8B-B14F-4D97-AF65-F5344CB8AC3E}">
        <p14:creationId xmlns:p14="http://schemas.microsoft.com/office/powerpoint/2010/main" val="107234666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Nos valeurs">
    <p:spTree>
      <p:nvGrpSpPr>
        <p:cNvPr id="1" name=""/>
        <p:cNvGrpSpPr/>
        <p:nvPr/>
      </p:nvGrpSpPr>
      <p:grpSpPr>
        <a:xfrm>
          <a:off x="0" y="0"/>
          <a:ext cx="0" cy="0"/>
          <a:chOff x="0" y="0"/>
          <a:chExt cx="0" cy="0"/>
        </a:xfrm>
      </p:grpSpPr>
      <p:pic>
        <p:nvPicPr>
          <p:cNvPr id="23" name="Image 22">
            <a:extLst>
              <a:ext uri="{FF2B5EF4-FFF2-40B4-BE49-F238E27FC236}">
                <a16:creationId xmlns:a16="http://schemas.microsoft.com/office/drawing/2014/main" id="{3F43BFB0-CC05-4049-AD4A-2ADE8F5EB608}"/>
              </a:ext>
            </a:extLst>
          </p:cNvPr>
          <p:cNvPicPr>
            <a:picLocks noChangeAspect="1"/>
          </p:cNvPicPr>
          <p:nvPr userDrawn="1"/>
        </p:nvPicPr>
        <p:blipFill rotWithShape="1">
          <a:blip r:embed="rId2"/>
          <a:srcRect t="66056"/>
          <a:stretch/>
        </p:blipFill>
        <p:spPr>
          <a:xfrm>
            <a:off x="351321" y="-1"/>
            <a:ext cx="11840679" cy="114935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11607800" y="6273800"/>
            <a:ext cx="584200" cy="58420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Date Placeholder 3"/>
          <p:cNvSpPr>
            <a:spLocks noGrp="1"/>
          </p:cNvSpPr>
          <p:nvPr>
            <p:ph type="dt" sz="half" idx="10"/>
          </p:nvPr>
        </p:nvSpPr>
        <p:spPr/>
        <p:txBody>
          <a:bodyPr/>
          <a:lstStyle/>
          <a:p>
            <a:fld id="{2B8B315D-1A6B-4A62-AE3F-D0C0DFC1C7BF}" type="datetime1">
              <a:rPr lang="fr-FR" smtClean="0"/>
              <a:t>10/07/2025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408" y="6273800"/>
            <a:ext cx="481792" cy="495903"/>
          </a:xfrm>
          <a:prstGeom prst="rect">
            <a:avLst/>
          </a:prstGeom>
        </p:spPr>
      </p:pic>
      <p:pic>
        <p:nvPicPr>
          <p:cNvPr id="9" name="Image 8">
            <a:extLst>
              <a:ext uri="{FF2B5EF4-FFF2-40B4-BE49-F238E27FC236}">
                <a16:creationId xmlns:a16="http://schemas.microsoft.com/office/drawing/2014/main" id="{B5AA9B4F-8206-4737-B20F-C58E8E475DE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3234" y="1671047"/>
            <a:ext cx="700725" cy="613756"/>
          </a:xfrm>
          <a:prstGeom prst="rect">
            <a:avLst/>
          </a:prstGeom>
        </p:spPr>
      </p:pic>
      <p:pic>
        <p:nvPicPr>
          <p:cNvPr id="14" name="Image 13">
            <a:extLst>
              <a:ext uri="{FF2B5EF4-FFF2-40B4-BE49-F238E27FC236}">
                <a16:creationId xmlns:a16="http://schemas.microsoft.com/office/drawing/2014/main" id="{41D6E1E0-A82C-4D62-82E8-A9EEAD9FBF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14678" y="2797719"/>
            <a:ext cx="607384" cy="607384"/>
          </a:xfrm>
          <a:prstGeom prst="rect">
            <a:avLst/>
          </a:prstGeom>
        </p:spPr>
      </p:pic>
      <p:pic>
        <p:nvPicPr>
          <p:cNvPr id="16" name="Image 15">
            <a:extLst>
              <a:ext uri="{FF2B5EF4-FFF2-40B4-BE49-F238E27FC236}">
                <a16:creationId xmlns:a16="http://schemas.microsoft.com/office/drawing/2014/main" id="{0992EBCE-1ABB-47D7-A36B-51F6E974585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61042" y="3890955"/>
            <a:ext cx="700725" cy="634573"/>
          </a:xfrm>
          <a:prstGeom prst="rect">
            <a:avLst/>
          </a:prstGeom>
        </p:spPr>
      </p:pic>
      <p:pic>
        <p:nvPicPr>
          <p:cNvPr id="18" name="Image 17">
            <a:extLst>
              <a:ext uri="{FF2B5EF4-FFF2-40B4-BE49-F238E27FC236}">
                <a16:creationId xmlns:a16="http://schemas.microsoft.com/office/drawing/2014/main" id="{D54807C9-426A-42EC-84C6-1D8A11064C1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52568" y="4994209"/>
            <a:ext cx="637023" cy="723441"/>
          </a:xfrm>
          <a:prstGeom prst="rect">
            <a:avLst/>
          </a:prstGeom>
        </p:spPr>
      </p:pic>
      <p:sp>
        <p:nvSpPr>
          <p:cNvPr id="19" name="ZoneTexte 18">
            <a:extLst>
              <a:ext uri="{FF2B5EF4-FFF2-40B4-BE49-F238E27FC236}">
                <a16:creationId xmlns:a16="http://schemas.microsoft.com/office/drawing/2014/main" id="{E541C469-7D87-42DA-B51E-BC2B099C2E0E}"/>
              </a:ext>
            </a:extLst>
          </p:cNvPr>
          <p:cNvSpPr txBox="1"/>
          <p:nvPr userDrawn="1"/>
        </p:nvSpPr>
        <p:spPr>
          <a:xfrm>
            <a:off x="1975104" y="1638472"/>
            <a:ext cx="9378696"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noProof="0">
                <a:latin typeface="+mj-lt"/>
              </a:rPr>
              <a:t>Excellence</a:t>
            </a:r>
          </a:p>
          <a:p>
            <a:r>
              <a:rPr lang="fr-FR" sz="1200"/>
              <a:t>Notre culture de l’excellence nous pousse à viser le meilleur niveau de qualité, non seulement dans les solutions proposées, mais aussi dans nos interactions avec nos clients, avec nos partenaires, avec nos collègues. C’est aussi ce qui nous pousse à nous surpasser, à nous challenger, à nous former continuellement. Et à ne jamais arrêter d’explorer de nouvelles pistes pour créer des opportunités.</a:t>
            </a:r>
          </a:p>
        </p:txBody>
      </p:sp>
      <p:sp>
        <p:nvSpPr>
          <p:cNvPr id="20" name="ZoneTexte 19">
            <a:extLst>
              <a:ext uri="{FF2B5EF4-FFF2-40B4-BE49-F238E27FC236}">
                <a16:creationId xmlns:a16="http://schemas.microsoft.com/office/drawing/2014/main" id="{D3A51235-EB5D-4E8D-8734-C2DEF2D60446}"/>
              </a:ext>
            </a:extLst>
          </p:cNvPr>
          <p:cNvSpPr txBox="1"/>
          <p:nvPr userDrawn="1"/>
        </p:nvSpPr>
        <p:spPr>
          <a:xfrm>
            <a:off x="1975104" y="2665062"/>
            <a:ext cx="9378696"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noProof="0">
                <a:latin typeface="+mj-lt"/>
              </a:rPr>
              <a:t>Audace</a:t>
            </a:r>
          </a:p>
          <a:p>
            <a:r>
              <a:rPr lang="fr-FR" sz="1200"/>
              <a:t>Nous ne fixons pas de limites à notre goût d’entreprendre et à notre capacité à prendre des risques quand il le faut. Nous n’avons pas peur de remettre en cause les certitudes, d’explorer de nouvelles pistes, et de prendre des initiatives. Oser, c’est notre façon de progresser, d’évoluer, d’avancer.</a:t>
            </a:r>
          </a:p>
        </p:txBody>
      </p:sp>
      <p:sp>
        <p:nvSpPr>
          <p:cNvPr id="21" name="ZoneTexte 20">
            <a:extLst>
              <a:ext uri="{FF2B5EF4-FFF2-40B4-BE49-F238E27FC236}">
                <a16:creationId xmlns:a16="http://schemas.microsoft.com/office/drawing/2014/main" id="{C4317451-0BFE-46D9-933E-F5A4D17074FD}"/>
              </a:ext>
            </a:extLst>
          </p:cNvPr>
          <p:cNvSpPr txBox="1"/>
          <p:nvPr userDrawn="1"/>
        </p:nvSpPr>
        <p:spPr>
          <a:xfrm>
            <a:off x="1975104" y="3809714"/>
            <a:ext cx="9378696" cy="7386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noProof="0">
                <a:latin typeface="+mj-lt"/>
              </a:rPr>
              <a:t>Passion</a:t>
            </a:r>
          </a:p>
          <a:p>
            <a:r>
              <a:rPr lang="fr-FR" sz="1200"/>
              <a:t>Ce qui nous anime au quotidien, c’est notre passion pour notre métier et pour les nouvelles technologies. C’est le moteur de notre engagement et de notre motivation pour repousser les limites.</a:t>
            </a:r>
          </a:p>
        </p:txBody>
      </p:sp>
      <p:sp>
        <p:nvSpPr>
          <p:cNvPr id="22" name="ZoneTexte 21">
            <a:extLst>
              <a:ext uri="{FF2B5EF4-FFF2-40B4-BE49-F238E27FC236}">
                <a16:creationId xmlns:a16="http://schemas.microsoft.com/office/drawing/2014/main" id="{BEFBCC56-7E75-4C89-B96A-03F6D7A26964}"/>
              </a:ext>
            </a:extLst>
          </p:cNvPr>
          <p:cNvSpPr txBox="1"/>
          <p:nvPr userDrawn="1"/>
        </p:nvSpPr>
        <p:spPr>
          <a:xfrm>
            <a:off x="1975104" y="4794320"/>
            <a:ext cx="9378696"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noProof="0">
                <a:latin typeface="+mj-lt"/>
              </a:rPr>
              <a:t>Confiance</a:t>
            </a:r>
          </a:p>
          <a:p>
            <a:r>
              <a:rPr lang="fr-FR" sz="1200"/>
              <a:t>Nous sommes une entreprise à taille humaine qui met la confiance au cœur de ses interactions, que ce soit avec nos clients, avec nos partenaires, ou en interne dans les relations avec les managers et au sein des équipes. La confiance, c’est aussi une façon d’aborder les nouveaux projets et les challenges, en faisant preuve de bienveillance, d’écoute et de compréhension, avec l’esprit ouvert.</a:t>
            </a:r>
          </a:p>
        </p:txBody>
      </p:sp>
      <p:sp>
        <p:nvSpPr>
          <p:cNvPr id="17" name="ZoneTexte 16">
            <a:extLst>
              <a:ext uri="{FF2B5EF4-FFF2-40B4-BE49-F238E27FC236}">
                <a16:creationId xmlns:a16="http://schemas.microsoft.com/office/drawing/2014/main" id="{6C6B99B3-7C5C-46E9-A995-6A1A4A3E94CB}"/>
              </a:ext>
            </a:extLst>
          </p:cNvPr>
          <p:cNvSpPr txBox="1"/>
          <p:nvPr userDrawn="1"/>
        </p:nvSpPr>
        <p:spPr>
          <a:xfrm>
            <a:off x="838197" y="143876"/>
            <a:ext cx="10515606" cy="769441"/>
          </a:xfrm>
          <a:prstGeom prst="rect">
            <a:avLst/>
          </a:prstGeom>
          <a:noFill/>
        </p:spPr>
        <p:txBody>
          <a:bodyPr wrap="square" rtlCol="0" anchor="ctr">
            <a:spAutoFit/>
          </a:bodyPr>
          <a:lstStyle/>
          <a:p>
            <a:r>
              <a:rPr lang="fr-FR" sz="4400">
                <a:solidFill>
                  <a:schemeClr val="bg1"/>
                </a:solidFill>
                <a:latin typeface="+mj-lt"/>
              </a:rPr>
              <a:t>Nos valeurs</a:t>
            </a:r>
          </a:p>
        </p:txBody>
      </p:sp>
    </p:spTree>
    <p:extLst>
      <p:ext uri="{BB962C8B-B14F-4D97-AF65-F5344CB8AC3E}">
        <p14:creationId xmlns:p14="http://schemas.microsoft.com/office/powerpoint/2010/main" val="1159945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5.xml"/><Relationship Id="rId7"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slideLayout" Target="../slideLayouts/slideLayout63.xml"/><Relationship Id="rId3" Type="http://schemas.openxmlformats.org/officeDocument/2006/relationships/slideLayout" Target="../slideLayouts/slideLayout48.xml"/><Relationship Id="rId21" Type="http://schemas.openxmlformats.org/officeDocument/2006/relationships/slideLayout" Target="../slideLayouts/slideLayout66.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theme" Target="../theme/theme4.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5" Type="http://schemas.openxmlformats.org/officeDocument/2006/relationships/slideLayout" Target="../slideLayouts/slideLayout72.xml"/><Relationship Id="rId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393FA-339C-4FA4-907B-FF47975436B3}" type="datetime1">
              <a:rPr lang="fr-FR" smtClean="0"/>
              <a:t>10/07/2025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9" name="Slide Number Placeholder 5">
            <a:extLst>
              <a:ext uri="{FF2B5EF4-FFF2-40B4-BE49-F238E27FC236}">
                <a16:creationId xmlns:a16="http://schemas.microsoft.com/office/drawing/2014/main" id="{E880D31E-F10B-40F7-9219-B1CCD2124FC8}"/>
              </a:ext>
            </a:extLst>
          </p:cNvPr>
          <p:cNvSpPr>
            <a:spLocks noGrp="1"/>
          </p:cNvSpPr>
          <p:nvPr>
            <p:ph type="sldNum" sz="quarter" idx="4"/>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Tree>
    <p:extLst>
      <p:ext uri="{BB962C8B-B14F-4D97-AF65-F5344CB8AC3E}">
        <p14:creationId xmlns:p14="http://schemas.microsoft.com/office/powerpoint/2010/main" val="2257435967"/>
      </p:ext>
    </p:extLst>
  </p:cSld>
  <p:clrMap bg1="lt1" tx1="dk1" bg2="lt2" tx2="dk2" accent1="accent1" accent2="accent2" accent3="accent3" accent4="accent4" accent5="accent5" accent6="accent6" hlink="hlink" folHlink="folHlink"/>
  <p:sldLayoutIdLst>
    <p:sldLayoutId id="2147483731" r:id="rId1"/>
    <p:sldLayoutId id="2147483848" r:id="rId2"/>
    <p:sldLayoutId id="2147483849" r:id="rId3"/>
    <p:sldLayoutId id="2147483851" r:id="rId4"/>
    <p:sldLayoutId id="2147483686" r:id="rId5"/>
    <p:sldLayoutId id="2147483705" r:id="rId6"/>
    <p:sldLayoutId id="2147483698" r:id="rId7"/>
    <p:sldLayoutId id="2147483699" r:id="rId8"/>
    <p:sldLayoutId id="2147483700" r:id="rId9"/>
    <p:sldLayoutId id="2147483697" r:id="rId10"/>
    <p:sldLayoutId id="2147483703" r:id="rId11"/>
    <p:sldLayoutId id="2147483701" r:id="rId12"/>
    <p:sldLayoutId id="2147483702" r:id="rId13"/>
    <p:sldLayoutId id="2147483704" r:id="rId14"/>
    <p:sldLayoutId id="2147483706" r:id="rId15"/>
    <p:sldLayoutId id="2147483884" r:id="rId16"/>
    <p:sldLayoutId id="2147483708" r:id="rId17"/>
    <p:sldLayoutId id="2147483709" r:id="rId18"/>
    <p:sldLayoutId id="2147483730" r:id="rId19"/>
    <p:sldLayoutId id="2147483887" r:id="rId20"/>
    <p:sldLayoutId id="2147483899" r:id="rId21"/>
    <p:sldLayoutId id="2147483902" r:id="rId2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393FA-339C-4FA4-907B-FF47975436B3}" type="datetime1">
              <a:rPr lang="fr-FR" smtClean="0"/>
              <a:t>10/07/2025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9" name="Slide Number Placeholder 5">
            <a:extLst>
              <a:ext uri="{FF2B5EF4-FFF2-40B4-BE49-F238E27FC236}">
                <a16:creationId xmlns:a16="http://schemas.microsoft.com/office/drawing/2014/main" id="{E880D31E-F10B-40F7-9219-B1CCD2124FC8}"/>
              </a:ext>
            </a:extLst>
          </p:cNvPr>
          <p:cNvSpPr>
            <a:spLocks noGrp="1"/>
          </p:cNvSpPr>
          <p:nvPr>
            <p:ph type="sldNum" sz="quarter" idx="4"/>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Tree>
    <p:extLst>
      <p:ext uri="{BB962C8B-B14F-4D97-AF65-F5344CB8AC3E}">
        <p14:creationId xmlns:p14="http://schemas.microsoft.com/office/powerpoint/2010/main" val="2884374338"/>
      </p:ext>
    </p:extLst>
  </p:cSld>
  <p:clrMap bg1="lt1" tx1="dk1" bg2="lt2" tx2="dk2" accent1="accent1" accent2="accent2" accent3="accent3" accent4="accent4" accent5="accent5" accent6="accent6" hlink="hlink" folHlink="folHlink"/>
  <p:sldLayoutIdLst>
    <p:sldLayoutId id="2147483862" r:id="rId1"/>
    <p:sldLayoutId id="2147483866" r:id="rId2"/>
    <p:sldLayoutId id="2147483869" r:id="rId3"/>
    <p:sldLayoutId id="2147483886" r:id="rId4"/>
    <p:sldLayoutId id="2147483878" r:id="rId5"/>
    <p:sldLayoutId id="2147483882"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393FA-339C-4FA4-907B-FF47975436B3}" type="datetime1">
              <a:rPr lang="fr-FR" smtClean="0"/>
              <a:t>10/07/2025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9" name="Slide Number Placeholder 5">
            <a:extLst>
              <a:ext uri="{FF2B5EF4-FFF2-40B4-BE49-F238E27FC236}">
                <a16:creationId xmlns:a16="http://schemas.microsoft.com/office/drawing/2014/main" id="{E880D31E-F10B-40F7-9219-B1CCD2124FC8}"/>
              </a:ext>
            </a:extLst>
          </p:cNvPr>
          <p:cNvSpPr>
            <a:spLocks noGrp="1"/>
          </p:cNvSpPr>
          <p:nvPr>
            <p:ph type="sldNum" sz="quarter" idx="4"/>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Tree>
    <p:extLst>
      <p:ext uri="{BB962C8B-B14F-4D97-AF65-F5344CB8AC3E}">
        <p14:creationId xmlns:p14="http://schemas.microsoft.com/office/powerpoint/2010/main" val="1757112607"/>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39" r:id="rId3"/>
    <p:sldLayoutId id="2147483844" r:id="rId4"/>
    <p:sldLayoutId id="2147483825" r:id="rId5"/>
    <p:sldLayoutId id="2147483826" r:id="rId6"/>
    <p:sldLayoutId id="2147483827" r:id="rId7"/>
    <p:sldLayoutId id="2147483828" r:id="rId8"/>
    <p:sldLayoutId id="2147483841" r:id="rId9"/>
    <p:sldLayoutId id="2147483829" r:id="rId10"/>
    <p:sldLayoutId id="2147483836" r:id="rId11"/>
    <p:sldLayoutId id="2147483830" r:id="rId12"/>
    <p:sldLayoutId id="2147483831" r:id="rId13"/>
    <p:sldLayoutId id="2147483832" r:id="rId14"/>
    <p:sldLayoutId id="2147483842" r:id="rId15"/>
    <p:sldLayoutId id="2147483834" r:id="rId16"/>
    <p:sldLayoutId id="2147483835"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393FA-339C-4FA4-907B-FF47975436B3}" type="datetime1">
              <a:rPr lang="fr-FR" smtClean="0"/>
              <a:t>10/07/2025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9" name="Slide Number Placeholder 5">
            <a:extLst>
              <a:ext uri="{FF2B5EF4-FFF2-40B4-BE49-F238E27FC236}">
                <a16:creationId xmlns:a16="http://schemas.microsoft.com/office/drawing/2014/main" id="{E880D31E-F10B-40F7-9219-B1CCD2124FC8}"/>
              </a:ext>
            </a:extLst>
          </p:cNvPr>
          <p:cNvSpPr>
            <a:spLocks noGrp="1"/>
          </p:cNvSpPr>
          <p:nvPr>
            <p:ph type="sldNum" sz="quarter" idx="4"/>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dirty="0"/>
          </a:p>
        </p:txBody>
      </p:sp>
    </p:spTree>
    <p:extLst>
      <p:ext uri="{BB962C8B-B14F-4D97-AF65-F5344CB8AC3E}">
        <p14:creationId xmlns:p14="http://schemas.microsoft.com/office/powerpoint/2010/main" val="926739460"/>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803" r:id="rId4"/>
    <p:sldLayoutId id="2147483774" r:id="rId5"/>
    <p:sldLayoutId id="2147483838" r:id="rId6"/>
    <p:sldLayoutId id="2147483843" r:id="rId7"/>
    <p:sldLayoutId id="2147483775" r:id="rId8"/>
    <p:sldLayoutId id="2147483776" r:id="rId9"/>
    <p:sldLayoutId id="2147483777" r:id="rId10"/>
    <p:sldLayoutId id="2147483837" r:id="rId11"/>
    <p:sldLayoutId id="2147483840" r:id="rId12"/>
    <p:sldLayoutId id="2147483802" r:id="rId13"/>
    <p:sldLayoutId id="2147483846" r:id="rId14"/>
    <p:sldLayoutId id="2147483847" r:id="rId15"/>
    <p:sldLayoutId id="2147483855" r:id="rId16"/>
    <p:sldLayoutId id="2147483854" r:id="rId17"/>
    <p:sldLayoutId id="2147483853" r:id="rId18"/>
    <p:sldLayoutId id="2147483856" r:id="rId19"/>
    <p:sldLayoutId id="2147483845" r:id="rId20"/>
    <p:sldLayoutId id="2147483852" r:id="rId21"/>
    <p:sldLayoutId id="2147483900" r:id="rId2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393FA-339C-4FA4-907B-FF47975436B3}" type="datetime1">
              <a:rPr lang="fr-FR" smtClean="0"/>
              <a:t>10/07/2025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9" name="Slide Number Placeholder 5">
            <a:extLst>
              <a:ext uri="{FF2B5EF4-FFF2-40B4-BE49-F238E27FC236}">
                <a16:creationId xmlns:a16="http://schemas.microsoft.com/office/drawing/2014/main" id="{E880D31E-F10B-40F7-9219-B1CCD2124FC8}"/>
              </a:ext>
            </a:extLst>
          </p:cNvPr>
          <p:cNvSpPr>
            <a:spLocks noGrp="1"/>
          </p:cNvSpPr>
          <p:nvPr>
            <p:ph type="sldNum" sz="quarter" idx="4"/>
          </p:nvPr>
        </p:nvSpPr>
        <p:spPr>
          <a:xfrm>
            <a:off x="11607800" y="6356350"/>
            <a:ext cx="584200" cy="365125"/>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Tree>
    <p:extLst>
      <p:ext uri="{BB962C8B-B14F-4D97-AF65-F5344CB8AC3E}">
        <p14:creationId xmlns:p14="http://schemas.microsoft.com/office/powerpoint/2010/main" val="1646131918"/>
      </p:ext>
    </p:extLst>
  </p:cSld>
  <p:clrMap bg1="lt1" tx1="dk1" bg2="lt2" tx2="dk2" accent1="accent1" accent2="accent2" accent3="accent3" accent4="accent4" accent5="accent5" accent6="accent6" hlink="hlink" folHlink="folHlink"/>
  <p:sldLayoutIdLst>
    <p:sldLayoutId id="2147483898" r:id="rId1"/>
    <p:sldLayoutId id="2147483892" r:id="rId2"/>
    <p:sldLayoutId id="2147483893" r:id="rId3"/>
    <p:sldLayoutId id="2147483894" r:id="rId4"/>
    <p:sldLayoutId id="2147483895" r:id="rId5"/>
    <p:sldLayoutId id="2147483896" r:id="rId6"/>
    <p:sldLayoutId id="2147483897"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8.png"/><Relationship Id="rId3" Type="http://schemas.openxmlformats.org/officeDocument/2006/relationships/image" Target="../media/image68.png"/><Relationship Id="rId7" Type="http://schemas.openxmlformats.org/officeDocument/2006/relationships/image" Target="../media/image72.png"/><Relationship Id="rId12" Type="http://schemas.openxmlformats.org/officeDocument/2006/relationships/image" Target="../media/image77.svg"/><Relationship Id="rId2" Type="http://schemas.openxmlformats.org/officeDocument/2006/relationships/notesSlide" Target="../notesSlides/notesSlide2.xml"/><Relationship Id="rId1" Type="http://schemas.openxmlformats.org/officeDocument/2006/relationships/slideLayout" Target="../slideLayouts/slideLayout67.xml"/><Relationship Id="rId6" Type="http://schemas.openxmlformats.org/officeDocument/2006/relationships/image" Target="../media/image71.png"/><Relationship Id="rId11" Type="http://schemas.openxmlformats.org/officeDocument/2006/relationships/image" Target="../media/image76.png"/><Relationship Id="rId5" Type="http://schemas.openxmlformats.org/officeDocument/2006/relationships/image" Target="../media/image70.png"/><Relationship Id="rId15" Type="http://schemas.openxmlformats.org/officeDocument/2006/relationships/image" Target="../media/image66.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 Id="rId14" Type="http://schemas.openxmlformats.org/officeDocument/2006/relationships/image" Target="../media/image79.svg"/></Relationships>
</file>

<file path=ppt/slides/_rels/slide4.xml.rels><?xml version="1.0" encoding="UTF-8" standalone="yes"?>
<Relationships xmlns="http://schemas.openxmlformats.org/package/2006/relationships"><Relationship Id="rId8" Type="http://schemas.openxmlformats.org/officeDocument/2006/relationships/image" Target="../media/image85.svg"/><Relationship Id="rId13" Type="http://schemas.openxmlformats.org/officeDocument/2006/relationships/image" Target="../media/image90.pn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89.svg"/><Relationship Id="rId17" Type="http://schemas.openxmlformats.org/officeDocument/2006/relationships/image" Target="../media/image92.png"/><Relationship Id="rId2" Type="http://schemas.openxmlformats.org/officeDocument/2006/relationships/notesSlide" Target="../notesSlides/notesSlide3.xml"/><Relationship Id="rId16" Type="http://schemas.openxmlformats.org/officeDocument/2006/relationships/image" Target="../media/image79.svg"/><Relationship Id="rId1" Type="http://schemas.openxmlformats.org/officeDocument/2006/relationships/slideLayout" Target="../slideLayouts/slideLayout21.xml"/><Relationship Id="rId6" Type="http://schemas.openxmlformats.org/officeDocument/2006/relationships/image" Target="../media/image83.svg"/><Relationship Id="rId11" Type="http://schemas.openxmlformats.org/officeDocument/2006/relationships/image" Target="../media/image88.png"/><Relationship Id="rId5" Type="http://schemas.openxmlformats.org/officeDocument/2006/relationships/image" Target="../media/image82.png"/><Relationship Id="rId15" Type="http://schemas.openxmlformats.org/officeDocument/2006/relationships/image" Target="../media/image78.png"/><Relationship Id="rId10" Type="http://schemas.openxmlformats.org/officeDocument/2006/relationships/image" Target="../media/image87.svg"/><Relationship Id="rId4" Type="http://schemas.openxmlformats.org/officeDocument/2006/relationships/image" Target="../media/image81.svg"/><Relationship Id="rId9" Type="http://schemas.openxmlformats.org/officeDocument/2006/relationships/image" Target="../media/image86.png"/><Relationship Id="rId14" Type="http://schemas.openxmlformats.org/officeDocument/2006/relationships/image" Target="../media/image91.png"/></Relationships>
</file>

<file path=ppt/slides/_rels/slide5.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78.png"/><Relationship Id="rId3" Type="http://schemas.openxmlformats.org/officeDocument/2006/relationships/image" Target="../media/image71.png"/><Relationship Id="rId7" Type="http://schemas.openxmlformats.org/officeDocument/2006/relationships/image" Target="../media/image95.png"/><Relationship Id="rId12" Type="http://schemas.openxmlformats.org/officeDocument/2006/relationships/image" Target="../media/image90.png"/><Relationship Id="rId2" Type="http://schemas.openxmlformats.org/officeDocument/2006/relationships/notesSlide" Target="../notesSlides/notesSlide4.xml"/><Relationship Id="rId16" Type="http://schemas.openxmlformats.org/officeDocument/2006/relationships/image" Target="../media/image97.png"/><Relationship Id="rId1" Type="http://schemas.openxmlformats.org/officeDocument/2006/relationships/slideLayout" Target="../slideLayouts/slideLayout21.xml"/><Relationship Id="rId6" Type="http://schemas.openxmlformats.org/officeDocument/2006/relationships/image" Target="../media/image69.png"/><Relationship Id="rId11" Type="http://schemas.openxmlformats.org/officeDocument/2006/relationships/image" Target="../media/image77.svg"/><Relationship Id="rId5" Type="http://schemas.openxmlformats.org/officeDocument/2006/relationships/image" Target="../media/image94.png"/><Relationship Id="rId15" Type="http://schemas.openxmlformats.org/officeDocument/2006/relationships/image" Target="../media/image91.png"/><Relationship Id="rId10" Type="http://schemas.openxmlformats.org/officeDocument/2006/relationships/image" Target="../media/image76.png"/><Relationship Id="rId4" Type="http://schemas.openxmlformats.org/officeDocument/2006/relationships/image" Target="../media/image93.png"/><Relationship Id="rId9" Type="http://schemas.openxmlformats.org/officeDocument/2006/relationships/image" Target="../media/image68.png"/><Relationship Id="rId14" Type="http://schemas.openxmlformats.org/officeDocument/2006/relationships/image" Target="../media/image79.svg"/></Relationships>
</file>

<file path=ppt/slides/_rels/slide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8.png"/><Relationship Id="rId7" Type="http://schemas.openxmlformats.org/officeDocument/2006/relationships/image" Target="../media/image101.emf"/><Relationship Id="rId2" Type="http://schemas.openxmlformats.org/officeDocument/2006/relationships/notesSlide" Target="../notesSlides/notesSlide6.xml"/><Relationship Id="rId1" Type="http://schemas.openxmlformats.org/officeDocument/2006/relationships/slideLayout" Target="../slideLayouts/slideLayout21.xml"/><Relationship Id="rId6" Type="http://schemas.openxmlformats.org/officeDocument/2006/relationships/image" Target="../media/image100.emf"/><Relationship Id="rId5" Type="http://schemas.openxmlformats.org/officeDocument/2006/relationships/image" Target="../media/image99.emf"/><Relationship Id="rId4" Type="http://schemas.openxmlformats.org/officeDocument/2006/relationships/image" Target="../media/image96.png"/><Relationship Id="rId9" Type="http://schemas.openxmlformats.org/officeDocument/2006/relationships/image" Target="../media/image103.svg"/></Relationships>
</file>

<file path=ppt/slides/_rels/slide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04.pn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openxmlformats.org/officeDocument/2006/relationships/image" Target="../media/image105.jpeg"/></Relationships>
</file>

<file path=ppt/slides/_rels/slide10.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image" Target="../media/image96.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image" Target="../media/image96.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96.png"/><Relationship Id="rId1" Type="http://schemas.openxmlformats.org/officeDocument/2006/relationships/slideLayout" Target="../slideLayouts/slideLayout21.xml"/><Relationship Id="rId4" Type="http://schemas.openxmlformats.org/officeDocument/2006/relationships/image" Target="../media/image109.svg"/></Relationships>
</file>

<file path=ppt/slides/_rels/slide1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96.png"/><Relationship Id="rId1" Type="http://schemas.openxmlformats.org/officeDocument/2006/relationships/slideLayout" Target="../slideLayouts/slideLayout21.xml"/><Relationship Id="rId6" Type="http://schemas.openxmlformats.org/officeDocument/2006/relationships/image" Target="../media/image111.svg"/><Relationship Id="rId5" Type="http://schemas.openxmlformats.org/officeDocument/2006/relationships/image" Target="../media/image110.png"/><Relationship Id="rId4" Type="http://schemas.openxmlformats.org/officeDocument/2006/relationships/image" Target="../media/image109.svg"/></Relationships>
</file>

<file path=ppt/slides/_rels/slide1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96.png"/><Relationship Id="rId1" Type="http://schemas.openxmlformats.org/officeDocument/2006/relationships/slideLayout" Target="../slideLayouts/slideLayout21.xml"/><Relationship Id="rId4" Type="http://schemas.openxmlformats.org/officeDocument/2006/relationships/image" Target="../media/image113.svg"/></Relationships>
</file>

<file path=ppt/slides/_rels/slide1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image" Target="../media/image96.pn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81A859-C9A6-4618-BAE3-CFF1B982CD1B}"/>
              </a:ext>
            </a:extLst>
          </p:cNvPr>
          <p:cNvSpPr>
            <a:spLocks noGrp="1"/>
          </p:cNvSpPr>
          <p:nvPr>
            <p:ph type="ctrTitle"/>
          </p:nvPr>
        </p:nvSpPr>
        <p:spPr/>
        <p:txBody>
          <a:bodyPr/>
          <a:lstStyle/>
          <a:p>
            <a:r>
              <a:rPr lang="fr-FR" dirty="0"/>
              <a:t>Formation MS Fabric</a:t>
            </a:r>
          </a:p>
        </p:txBody>
      </p:sp>
      <p:sp>
        <p:nvSpPr>
          <p:cNvPr id="3" name="Sous-titre 2">
            <a:extLst>
              <a:ext uri="{FF2B5EF4-FFF2-40B4-BE49-F238E27FC236}">
                <a16:creationId xmlns:a16="http://schemas.microsoft.com/office/drawing/2014/main" id="{29B7C791-3A4A-41F0-A0B1-67AECA6E70F5}"/>
              </a:ext>
            </a:extLst>
          </p:cNvPr>
          <p:cNvSpPr>
            <a:spLocks noGrp="1"/>
          </p:cNvSpPr>
          <p:nvPr>
            <p:ph type="subTitle" idx="1"/>
          </p:nvPr>
        </p:nvSpPr>
        <p:spPr/>
        <p:txBody>
          <a:bodyPr/>
          <a:lstStyle/>
          <a:p>
            <a:r>
              <a:rPr lang="da-DK" dirty="0"/>
              <a:t>Fabric Data Warehouse</a:t>
            </a:r>
          </a:p>
        </p:txBody>
      </p:sp>
      <p:sp>
        <p:nvSpPr>
          <p:cNvPr id="4" name="Espace réservé du numéro de diapositive 3">
            <a:extLst>
              <a:ext uri="{FF2B5EF4-FFF2-40B4-BE49-F238E27FC236}">
                <a16:creationId xmlns:a16="http://schemas.microsoft.com/office/drawing/2014/main" id="{F12F76BD-4256-4188-9955-A90A37E6C8AE}"/>
              </a:ext>
            </a:extLst>
          </p:cNvPr>
          <p:cNvSpPr>
            <a:spLocks noGrp="1"/>
          </p:cNvSpPr>
          <p:nvPr>
            <p:ph type="sldNum" sz="quarter" idx="12"/>
          </p:nvPr>
        </p:nvSpPr>
        <p:spPr/>
        <p:txBody>
          <a:bodyPr/>
          <a:lstStyle/>
          <a:p>
            <a:fld id="{323DE39C-8A81-4508-8EC3-8C55B05C4E7E}" type="slidenum">
              <a:rPr lang="fr-FR" smtClean="0"/>
              <a:t>1</a:t>
            </a:fld>
            <a:endParaRPr lang="fr-FR"/>
          </a:p>
        </p:txBody>
      </p:sp>
      <p:pic>
        <p:nvPicPr>
          <p:cNvPr id="5" name="Picture 105">
            <a:extLst>
              <a:ext uri="{FF2B5EF4-FFF2-40B4-BE49-F238E27FC236}">
                <a16:creationId xmlns:a16="http://schemas.microsoft.com/office/drawing/2014/main" id="{08AFEE07-8B70-5B86-6F72-FFEA23142C65}"/>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9318566" y="4630487"/>
            <a:ext cx="854597" cy="854593"/>
          </a:xfrm>
          <a:prstGeom prst="rect">
            <a:avLst/>
          </a:prstGeom>
          <a:effectLst/>
        </p:spPr>
      </p:pic>
    </p:spTree>
    <p:extLst>
      <p:ext uri="{BB962C8B-B14F-4D97-AF65-F5344CB8AC3E}">
        <p14:creationId xmlns:p14="http://schemas.microsoft.com/office/powerpoint/2010/main" val="21303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A4CEC-FC99-9A70-A476-89B57438FF66}"/>
              </a:ext>
            </a:extLst>
          </p:cNvPr>
          <p:cNvSpPr>
            <a:spLocks noGrp="1"/>
          </p:cNvSpPr>
          <p:nvPr>
            <p:ph type="title"/>
          </p:nvPr>
        </p:nvSpPr>
        <p:spPr>
          <a:xfrm>
            <a:off x="581025" y="365125"/>
            <a:ext cx="11029949" cy="549275"/>
          </a:xfrm>
        </p:spPr>
        <p:txBody>
          <a:bodyPr/>
          <a:lstStyle/>
          <a:p>
            <a:r>
              <a:rPr lang="en-US" sz="2800"/>
              <a:t>Customers enhancing their data estate face immense complexity</a:t>
            </a:r>
          </a:p>
        </p:txBody>
      </p:sp>
      <p:grpSp>
        <p:nvGrpSpPr>
          <p:cNvPr id="3" name="Group 2" descr="An image that depicts the vast landscape of machine learning, artificial intelligence, and data (MAD). Within the image, it shows the top ~50 companies and their associated logos in each of the MAD categories: Infrastructure, Analytics, Machine Learning and Artificial Intelligence, Applications, Enterprise, Applications, Horizontal, Applications, Industry, Open Source Infrastructure, Data Sources and APIs, and Data and AI Consulting. This showcases how fragmented the overall landscape is.">
            <a:extLst>
              <a:ext uri="{FF2B5EF4-FFF2-40B4-BE49-F238E27FC236}">
                <a16:creationId xmlns:a16="http://schemas.microsoft.com/office/drawing/2014/main" id="{9E398300-DAB4-79C9-A659-8570D8699442}"/>
              </a:ext>
            </a:extLst>
          </p:cNvPr>
          <p:cNvGrpSpPr/>
          <p:nvPr/>
        </p:nvGrpSpPr>
        <p:grpSpPr>
          <a:xfrm>
            <a:off x="871478" y="991352"/>
            <a:ext cx="10449044" cy="5315786"/>
            <a:chOff x="871478" y="991352"/>
            <a:chExt cx="10449044" cy="5315786"/>
          </a:xfrm>
        </p:grpSpPr>
        <p:sp>
          <p:nvSpPr>
            <p:cNvPr id="9" name="Rounded Rectangle 7">
              <a:extLst>
                <a:ext uri="{FF2B5EF4-FFF2-40B4-BE49-F238E27FC236}">
                  <a16:creationId xmlns:a16="http://schemas.microsoft.com/office/drawing/2014/main" id="{F6A24A54-1987-44D8-3ACA-DF96F5B3199D}"/>
                </a:ext>
                <a:ext uri="{C183D7F6-B498-43B3-948B-1728B52AA6E4}">
                  <adec:decorative xmlns:adec="http://schemas.microsoft.com/office/drawing/2017/decorative" val="1"/>
                </a:ext>
              </a:extLst>
            </p:cNvPr>
            <p:cNvSpPr/>
            <p:nvPr/>
          </p:nvSpPr>
          <p:spPr bwMode="auto">
            <a:xfrm>
              <a:off x="871478" y="991352"/>
              <a:ext cx="10449044" cy="5315786"/>
            </a:xfrm>
            <a:prstGeom prst="roundRect">
              <a:avLst>
                <a:gd name="adj" fmla="val 2729"/>
              </a:avLst>
            </a:prstGeom>
            <a:solidFill>
              <a:srgbClr val="FFFFFF">
                <a:alpha val="70000"/>
              </a:srgbClr>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pic>
          <p:nvPicPr>
            <p:cNvPr id="10" name="Picture 9">
              <a:extLst>
                <a:ext uri="{FF2B5EF4-FFF2-40B4-BE49-F238E27FC236}">
                  <a16:creationId xmlns:a16="http://schemas.microsoft.com/office/drawing/2014/main" id="{90AAF584-8E7D-20DB-3BFA-2BD2C3BC56BF}"/>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1031198" y="1121031"/>
              <a:ext cx="10129606" cy="5056429"/>
            </a:xfrm>
            <a:prstGeom prst="roundRect">
              <a:avLst>
                <a:gd name="adj" fmla="val 0"/>
              </a:avLst>
            </a:prstGeom>
          </p:spPr>
        </p:pic>
      </p:grpSp>
      <p:sp>
        <p:nvSpPr>
          <p:cNvPr id="7" name="Slide Number Placeholder 6">
            <a:extLst>
              <a:ext uri="{FF2B5EF4-FFF2-40B4-BE49-F238E27FC236}">
                <a16:creationId xmlns:a16="http://schemas.microsoft.com/office/drawing/2014/main" id="{88B4035F-55DA-DD22-5188-0D13C03F19A6}"/>
              </a:ext>
            </a:extLst>
          </p:cNvPr>
          <p:cNvSpPr>
            <a:spLocks noGrp="1"/>
          </p:cNvSpPr>
          <p:nvPr>
            <p:ph type="sldNum" sz="quarter" idx="11"/>
          </p:nvPr>
        </p:nvSpPr>
        <p:spPr>
          <a:prstGeom prst="rect">
            <a:avLst/>
          </a:prstGeom>
        </p:spPr>
        <p:txBody>
          <a:bodyPr vert="horz" lIns="91440" tIns="45720" rIns="91440" bIns="45720" rtlCol="0" anchor="ctr"/>
          <a:lstStyle>
            <a:defPPr>
              <a:defRPr lang="en-US"/>
            </a:defPPr>
            <a:lvl1pPr marL="0" algn="l" defTabSz="914400" rtl="0" eaLnBrk="1" latinLnBrk="0" hangingPunct="1">
              <a:defRPr lang="en-US" sz="800" b="0" i="0" kern="1200" smtClean="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fld id="{B1356FBF-028C-F74E-A7B4-9B8ED246DD1B}" type="slidenum">
              <a:rPr lang="en-US" smtClean="0"/>
              <a:pPr marL="0" marR="0" lvl="0" indent="0" algn="l" defTabSz="914367"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225B61">
                  <a:tint val="75000"/>
                </a:srgbClr>
              </a:solidFill>
              <a:effectLst/>
              <a:uLnTx/>
              <a:uFillTx/>
              <a:latin typeface="Segoe Sans Small Semilight" pitchFamily="2" charset="0"/>
              <a:ea typeface="+mn-ea"/>
              <a:cs typeface="Segoe Sans Small Semilight" pitchFamily="2" charset="0"/>
            </a:endParaRPr>
          </a:p>
        </p:txBody>
      </p:sp>
      <p:sp>
        <p:nvSpPr>
          <p:cNvPr id="6" name="Footer Placeholder 5">
            <a:extLst>
              <a:ext uri="{FF2B5EF4-FFF2-40B4-BE49-F238E27FC236}">
                <a16:creationId xmlns:a16="http://schemas.microsoft.com/office/drawing/2014/main" id="{EFE1E5E2-1E35-339D-C706-146B315F3E95}"/>
              </a:ext>
            </a:extLst>
          </p:cNvPr>
          <p:cNvSpPr>
            <a:spLocks noGrp="1"/>
          </p:cNvSpPr>
          <p:nvPr>
            <p:ph type="ftr" sz="quarter" idx="10"/>
          </p:nvPr>
        </p:nvSpPr>
        <p:spPr>
          <a:prstGeom prst="rect">
            <a:avLst/>
          </a:prstGeom>
        </p:spPr>
        <p:txBody>
          <a:bodyPr vert="horz" lIns="91440" tIns="45720" rIns="91440" bIns="45720" rtlCol="0" anchor="ctr"/>
          <a:lstStyle>
            <a:defPPr>
              <a:defRPr lang="en-US"/>
            </a:defPPr>
            <a:lvl1pPr marL="0" algn="l" defTabSz="914400" rtl="0" eaLnBrk="1" latinLnBrk="0" hangingPunct="1">
              <a:defRPr lang="en-IN" sz="800" b="0" i="0" kern="1200" smtClean="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a:t>Microsoft Fabric</a:t>
            </a:r>
            <a:endParaRPr kumimoji="0" lang="en-US" sz="800" b="0" i="0" u="none" strike="noStrike" kern="1200" cap="none" spc="0" normalizeH="0" baseline="0" noProof="0">
              <a:ln>
                <a:noFill/>
              </a:ln>
              <a:solidFill>
                <a:srgbClr val="225B61">
                  <a:tint val="75000"/>
                </a:srgbClr>
              </a:solidFill>
              <a:effectLst/>
              <a:uLnTx/>
              <a:uFillTx/>
              <a:latin typeface="Segoe Sans Small Semilight" pitchFamily="2" charset="0"/>
              <a:ea typeface="+mn-ea"/>
              <a:cs typeface="Segoe Sans Small Semilight" pitchFamily="2" charset="0"/>
            </a:endParaRPr>
          </a:p>
        </p:txBody>
      </p:sp>
    </p:spTree>
    <p:extLst>
      <p:ext uri="{BB962C8B-B14F-4D97-AF65-F5344CB8AC3E}">
        <p14:creationId xmlns:p14="http://schemas.microsoft.com/office/powerpoint/2010/main" val="350256596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DE745-CF76-71B0-E02C-B658CDDC948A}"/>
            </a:ext>
          </a:extLst>
        </p:cNvPr>
        <p:cNvGrpSpPr/>
        <p:nvPr/>
      </p:nvGrpSpPr>
      <p:grpSpPr>
        <a:xfrm>
          <a:off x="0" y="0"/>
          <a:ext cx="0" cy="0"/>
          <a:chOff x="0" y="0"/>
          <a:chExt cx="0" cy="0"/>
        </a:xfrm>
      </p:grpSpPr>
      <p:sp>
        <p:nvSpPr>
          <p:cNvPr id="36" name="Rectangle: Top Corners Rounded 125">
            <a:extLst>
              <a:ext uri="{FF2B5EF4-FFF2-40B4-BE49-F238E27FC236}">
                <a16:creationId xmlns:a16="http://schemas.microsoft.com/office/drawing/2014/main" id="{8039FB25-4F61-0612-6AC0-8A914D53624A}"/>
              </a:ext>
              <a:ext uri="{C183D7F6-B498-43B3-948B-1728B52AA6E4}">
                <adec:decorative xmlns:adec="http://schemas.microsoft.com/office/drawing/2017/decorative" val="1"/>
              </a:ext>
            </a:extLst>
          </p:cNvPr>
          <p:cNvSpPr/>
          <p:nvPr/>
        </p:nvSpPr>
        <p:spPr bwMode="auto">
          <a:xfrm>
            <a:off x="169558" y="1644213"/>
            <a:ext cx="11852884" cy="4657304"/>
          </a:xfrm>
          <a:prstGeom prst="roundRect">
            <a:avLst>
              <a:gd name="adj" fmla="val 3290"/>
            </a:avLst>
          </a:prstGeom>
          <a:ln w="19050" cap="rnd">
            <a:solidFill>
              <a:srgbClr val="C0C0C0"/>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marL="0" marR="0" lvl="0" indent="0" algn="ctr" defTabSz="654278"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gradFill>
                <a:gsLst>
                  <a:gs pos="25287">
                    <a:srgbClr val="FFFFFF"/>
                  </a:gs>
                  <a:gs pos="45000">
                    <a:srgbClr val="FFFFFF"/>
                  </a:gs>
                </a:gsLst>
                <a:lin ang="5400000" scaled="1"/>
              </a:gradFill>
              <a:effectLst/>
              <a:uLnTx/>
              <a:uFillTx/>
              <a:latin typeface="Segoe UI Semibold"/>
              <a:ea typeface="+mn-ea"/>
              <a:cs typeface="+mn-cs"/>
            </a:endParaRPr>
          </a:p>
        </p:txBody>
      </p:sp>
      <p:sp>
        <p:nvSpPr>
          <p:cNvPr id="28" name="Rounded Rectangle 30">
            <a:extLst>
              <a:ext uri="{FF2B5EF4-FFF2-40B4-BE49-F238E27FC236}">
                <a16:creationId xmlns:a16="http://schemas.microsoft.com/office/drawing/2014/main" id="{974E48E0-E343-C509-A903-D0FE4459B1AC}"/>
              </a:ext>
              <a:ext uri="{C183D7F6-B498-43B3-948B-1728B52AA6E4}">
                <adec:decorative xmlns:adec="http://schemas.microsoft.com/office/drawing/2017/decorative" val="1"/>
              </a:ext>
            </a:extLst>
          </p:cNvPr>
          <p:cNvSpPr/>
          <p:nvPr/>
        </p:nvSpPr>
        <p:spPr bwMode="auto">
          <a:xfrm>
            <a:off x="319000" y="5340257"/>
            <a:ext cx="11554000" cy="794260"/>
          </a:xfrm>
          <a:prstGeom prst="roundRect">
            <a:avLst>
              <a:gd name="adj" fmla="val 8427"/>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27" name="Rounded Rectangle 30">
            <a:extLst>
              <a:ext uri="{FF2B5EF4-FFF2-40B4-BE49-F238E27FC236}">
                <a16:creationId xmlns:a16="http://schemas.microsoft.com/office/drawing/2014/main" id="{F3B8F69D-F94A-2CCE-680F-3A4ADCBD1916}"/>
              </a:ext>
              <a:ext uri="{C183D7F6-B498-43B3-948B-1728B52AA6E4}">
                <adec:decorative xmlns:adec="http://schemas.microsoft.com/office/drawing/2017/decorative" val="1"/>
              </a:ext>
            </a:extLst>
          </p:cNvPr>
          <p:cNvSpPr/>
          <p:nvPr/>
        </p:nvSpPr>
        <p:spPr bwMode="auto">
          <a:xfrm>
            <a:off x="319000" y="4391302"/>
            <a:ext cx="11554000" cy="794260"/>
          </a:xfrm>
          <a:prstGeom prst="roundRect">
            <a:avLst>
              <a:gd name="adj" fmla="val 8427"/>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26" name="Rounded Rectangle 30">
            <a:extLst>
              <a:ext uri="{FF2B5EF4-FFF2-40B4-BE49-F238E27FC236}">
                <a16:creationId xmlns:a16="http://schemas.microsoft.com/office/drawing/2014/main" id="{64AEDAEF-CA77-8EFC-173C-8246D879E496}"/>
              </a:ext>
              <a:ext uri="{C183D7F6-B498-43B3-948B-1728B52AA6E4}">
                <adec:decorative xmlns:adec="http://schemas.microsoft.com/office/drawing/2017/decorative" val="1"/>
              </a:ext>
            </a:extLst>
          </p:cNvPr>
          <p:cNvSpPr/>
          <p:nvPr/>
        </p:nvSpPr>
        <p:spPr bwMode="auto">
          <a:xfrm>
            <a:off x="319000" y="3467423"/>
            <a:ext cx="11554000" cy="794260"/>
          </a:xfrm>
          <a:prstGeom prst="roundRect">
            <a:avLst>
              <a:gd name="adj" fmla="val 8427"/>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108" name="Text Placeholder 3">
            <a:extLst>
              <a:ext uri="{FF2B5EF4-FFF2-40B4-BE49-F238E27FC236}">
                <a16:creationId xmlns:a16="http://schemas.microsoft.com/office/drawing/2014/main" id="{8206C8CA-CE7E-CA93-B3E3-D2C6C53825EA}"/>
              </a:ext>
            </a:extLst>
          </p:cNvPr>
          <p:cNvSpPr txBox="1">
            <a:spLocks noGrp="1"/>
          </p:cNvSpPr>
          <p:nvPr>
            <p:ph type="title" idx="4294967295"/>
          </p:nvPr>
        </p:nvSpPr>
        <p:spPr>
          <a:xfrm>
            <a:off x="4333948" y="541398"/>
            <a:ext cx="3524106" cy="498598"/>
          </a:xfrm>
          <a:prstGeom prst="rect">
            <a:avLst/>
          </a:prstGeom>
          <a:noFill/>
          <a:ln>
            <a:noFill/>
            <a:prstDash/>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3200" b="0" i="0" kern="1200">
                <a:solidFill>
                  <a:schemeClr val="tx1"/>
                </a:solidFill>
                <a:latin typeface="+mj-lt"/>
                <a:ea typeface="+mj-ea"/>
                <a:cs typeface="Segoe Sans Display" pitchFamily="2"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0" i="0" u="none" strike="noStrike" kern="1200" cap="none" spc="0" normalizeH="0" baseline="0" noProof="0">
                <a:ln>
                  <a:noFill/>
                </a:ln>
                <a:solidFill>
                  <a:srgbClr val="225B61"/>
                </a:solidFill>
                <a:effectLst/>
                <a:uLnTx/>
                <a:uFillTx/>
                <a:latin typeface="Segoe Sans Display"/>
                <a:ea typeface="+mj-ea"/>
                <a:cs typeface="Segoe Sans Display Semibold" pitchFamily="2" charset="0"/>
              </a:rPr>
              <a:t>Microsoft Fabric  </a:t>
            </a:r>
          </a:p>
        </p:txBody>
      </p:sp>
      <p:sp>
        <p:nvSpPr>
          <p:cNvPr id="77" name="Rounded Rectangle 18">
            <a:extLst>
              <a:ext uri="{FF2B5EF4-FFF2-40B4-BE49-F238E27FC236}">
                <a16:creationId xmlns:a16="http://schemas.microsoft.com/office/drawing/2014/main" id="{3FB8F3A7-1F5D-89F9-D722-F11F9B05607B}"/>
              </a:ext>
              <a:ext uri="{C183D7F6-B498-43B3-948B-1728B52AA6E4}">
                <adec:decorative xmlns:adec="http://schemas.microsoft.com/office/drawing/2017/decorative" val="1"/>
              </a:ext>
            </a:extLst>
          </p:cNvPr>
          <p:cNvSpPr/>
          <p:nvPr/>
        </p:nvSpPr>
        <p:spPr bwMode="auto">
          <a:xfrm>
            <a:off x="5378197" y="1811212"/>
            <a:ext cx="1435608" cy="1448849"/>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pic>
        <p:nvPicPr>
          <p:cNvPr id="168" name="Picture 167">
            <a:extLst>
              <a:ext uri="{FF2B5EF4-FFF2-40B4-BE49-F238E27FC236}">
                <a16:creationId xmlns:a16="http://schemas.microsoft.com/office/drawing/2014/main" id="{5C9B6E38-667A-CBE7-451E-E6F157A3CFE3}"/>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val="0"/>
              </a:ext>
            </a:extLst>
          </a:blip>
          <a:srcRect/>
          <a:stretch/>
        </p:blipFill>
        <p:spPr>
          <a:xfrm>
            <a:off x="5876461" y="2021335"/>
            <a:ext cx="439081" cy="419191"/>
          </a:xfrm>
          <a:prstGeom prst="rect">
            <a:avLst/>
          </a:prstGeom>
        </p:spPr>
      </p:pic>
      <p:sp>
        <p:nvSpPr>
          <p:cNvPr id="79" name="Text Placeholder 2">
            <a:extLst>
              <a:ext uri="{FF2B5EF4-FFF2-40B4-BE49-F238E27FC236}">
                <a16:creationId xmlns:a16="http://schemas.microsoft.com/office/drawing/2014/main" id="{B2658B69-CCFB-7EF9-ADDD-24D140D4D9FD}"/>
              </a:ext>
            </a:extLst>
          </p:cNvPr>
          <p:cNvSpPr txBox="1">
            <a:spLocks/>
          </p:cNvSpPr>
          <p:nvPr/>
        </p:nvSpPr>
        <p:spPr>
          <a:xfrm>
            <a:off x="5709902" y="2744776"/>
            <a:ext cx="772199" cy="215444"/>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Analytics</a:t>
            </a:r>
          </a:p>
        </p:txBody>
      </p:sp>
      <p:sp>
        <p:nvSpPr>
          <p:cNvPr id="59" name="Rounded Rectangle 6">
            <a:extLst>
              <a:ext uri="{FF2B5EF4-FFF2-40B4-BE49-F238E27FC236}">
                <a16:creationId xmlns:a16="http://schemas.microsoft.com/office/drawing/2014/main" id="{B54B711A-4A1D-0EE8-CE6F-EE7F75017C27}"/>
              </a:ext>
              <a:ext uri="{C183D7F6-B498-43B3-948B-1728B52AA6E4}">
                <adec:decorative xmlns:adec="http://schemas.microsoft.com/office/drawing/2017/decorative" val="1"/>
              </a:ext>
            </a:extLst>
          </p:cNvPr>
          <p:cNvSpPr/>
          <p:nvPr/>
        </p:nvSpPr>
        <p:spPr bwMode="auto">
          <a:xfrm>
            <a:off x="319000" y="1811212"/>
            <a:ext cx="1435608" cy="1448849"/>
          </a:xfrm>
          <a:prstGeom prst="roundRect">
            <a:avLst>
              <a:gd name="adj" fmla="val 5399"/>
            </a:avLst>
          </a:prstGeom>
          <a:solidFill>
            <a:srgbClr val="FDFDFD">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61" name="Text Placeholder 2">
            <a:extLst>
              <a:ext uri="{FF2B5EF4-FFF2-40B4-BE49-F238E27FC236}">
                <a16:creationId xmlns:a16="http://schemas.microsoft.com/office/drawing/2014/main" id="{609A3DA7-DFB3-F54F-86C7-A06C97396CC7}"/>
              </a:ext>
            </a:extLst>
          </p:cNvPr>
          <p:cNvSpPr txBox="1">
            <a:spLocks/>
          </p:cNvSpPr>
          <p:nvPr/>
        </p:nvSpPr>
        <p:spPr>
          <a:xfrm>
            <a:off x="526347" y="2618577"/>
            <a:ext cx="1020914" cy="467843"/>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Data Factory</a:t>
            </a:r>
          </a:p>
        </p:txBody>
      </p:sp>
      <p:pic>
        <p:nvPicPr>
          <p:cNvPr id="297" name="Picture 296">
            <a:extLst>
              <a:ext uri="{FF2B5EF4-FFF2-40B4-BE49-F238E27FC236}">
                <a16:creationId xmlns:a16="http://schemas.microsoft.com/office/drawing/2014/main" id="{B4878D36-8725-BEF0-8E7B-9DCB9FA722FA}"/>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p:blipFill>
        <p:spPr>
          <a:xfrm>
            <a:off x="821605" y="2025478"/>
            <a:ext cx="430399" cy="410904"/>
          </a:xfrm>
          <a:prstGeom prst="rect">
            <a:avLst/>
          </a:prstGeom>
        </p:spPr>
      </p:pic>
      <p:sp>
        <p:nvSpPr>
          <p:cNvPr id="104" name="Text Placeholder 2">
            <a:extLst>
              <a:ext uri="{FF2B5EF4-FFF2-40B4-BE49-F238E27FC236}">
                <a16:creationId xmlns:a16="http://schemas.microsoft.com/office/drawing/2014/main" id="{AC241710-2798-ED5A-64FA-C6671F1B5206}"/>
              </a:ext>
            </a:extLst>
          </p:cNvPr>
          <p:cNvSpPr txBox="1">
            <a:spLocks/>
          </p:cNvSpPr>
          <p:nvPr/>
        </p:nvSpPr>
        <p:spPr>
          <a:xfrm>
            <a:off x="4951501" y="3706187"/>
            <a:ext cx="2279600" cy="316735"/>
          </a:xfrm>
          <a:prstGeom prst="rect">
            <a:avLst/>
          </a:prstGeom>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1" i="0" u="none" strike="noStrike" kern="1200" cap="none" spc="0" normalizeH="0" baseline="0" noProof="0">
                <a:ln>
                  <a:noFill/>
                </a:ln>
                <a:solidFill>
                  <a:srgbClr val="0078D3"/>
                </a:solidFill>
                <a:effectLst/>
                <a:uLnTx/>
                <a:uFillTx/>
                <a:latin typeface="Segoe UI Semibold" panose="020B0702040204020203" pitchFamily="34" charset="0"/>
                <a:ea typeface="+mn-ea"/>
                <a:cs typeface="Segoe UI Semibold" panose="020B0702040204020203" pitchFamily="34" charset="0"/>
              </a:rPr>
              <a:t>Copilot in Fabric</a:t>
            </a:r>
          </a:p>
        </p:txBody>
      </p:sp>
      <p:pic>
        <p:nvPicPr>
          <p:cNvPr id="13" name="Picture 12">
            <a:extLst>
              <a:ext uri="{FF2B5EF4-FFF2-40B4-BE49-F238E27FC236}">
                <a16:creationId xmlns:a16="http://schemas.microsoft.com/office/drawing/2014/main" id="{F1AD1FC1-B8E8-83C0-E294-2EFEA3CC0EEE}"/>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325766" y="3607828"/>
            <a:ext cx="544250" cy="543655"/>
          </a:xfrm>
          <a:prstGeom prst="rect">
            <a:avLst/>
          </a:prstGeom>
        </p:spPr>
      </p:pic>
      <p:pic>
        <p:nvPicPr>
          <p:cNvPr id="20" name="Picture 19">
            <a:extLst>
              <a:ext uri="{FF2B5EF4-FFF2-40B4-BE49-F238E27FC236}">
                <a16:creationId xmlns:a16="http://schemas.microsoft.com/office/drawing/2014/main" id="{92C06CBC-45B8-D68E-4EAF-454DB2BA65CC}"/>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val="0"/>
              </a:ext>
            </a:extLst>
          </a:blip>
          <a:srcRect/>
          <a:stretch/>
        </p:blipFill>
        <p:spPr>
          <a:xfrm>
            <a:off x="4375159" y="4561412"/>
            <a:ext cx="453154" cy="454042"/>
          </a:xfrm>
          <a:prstGeom prst="rect">
            <a:avLst/>
          </a:prstGeom>
        </p:spPr>
      </p:pic>
      <p:sp>
        <p:nvSpPr>
          <p:cNvPr id="21" name="Text Placeholder 2">
            <a:extLst>
              <a:ext uri="{FF2B5EF4-FFF2-40B4-BE49-F238E27FC236}">
                <a16:creationId xmlns:a16="http://schemas.microsoft.com/office/drawing/2014/main" id="{10B3F4B6-E1AE-E004-E5E1-8F247EB4F29F}"/>
              </a:ext>
            </a:extLst>
          </p:cNvPr>
          <p:cNvSpPr txBox="1">
            <a:spLocks/>
          </p:cNvSpPr>
          <p:nvPr/>
        </p:nvSpPr>
        <p:spPr>
          <a:xfrm>
            <a:off x="4951501" y="4630066"/>
            <a:ext cx="2176529" cy="316735"/>
          </a:xfrm>
          <a:prstGeom prst="rect">
            <a:avLst/>
          </a:prstGeom>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1" i="0" u="none" strike="noStrike" kern="1200" cap="none" spc="0" normalizeH="0" baseline="0" noProof="0">
                <a:ln>
                  <a:noFill/>
                </a:ln>
                <a:solidFill>
                  <a:srgbClr val="0078D3"/>
                </a:solidFill>
                <a:effectLst/>
                <a:uLnTx/>
                <a:uFillTx/>
                <a:latin typeface="Segoe UI Semibold" panose="020B0702040204020203" pitchFamily="34" charset="0"/>
                <a:ea typeface="+mn-ea"/>
                <a:cs typeface="Segoe UI Semibold" panose="020B0702040204020203" pitchFamily="34" charset="0"/>
              </a:rPr>
              <a:t>OneLake</a:t>
            </a:r>
          </a:p>
        </p:txBody>
      </p:sp>
      <p:sp>
        <p:nvSpPr>
          <p:cNvPr id="23" name="Text Placeholder 2">
            <a:extLst>
              <a:ext uri="{FF2B5EF4-FFF2-40B4-BE49-F238E27FC236}">
                <a16:creationId xmlns:a16="http://schemas.microsoft.com/office/drawing/2014/main" id="{09F8F513-61B8-60D3-BAF6-D8B035A11DB0}"/>
              </a:ext>
            </a:extLst>
          </p:cNvPr>
          <p:cNvSpPr txBox="1">
            <a:spLocks/>
          </p:cNvSpPr>
          <p:nvPr/>
        </p:nvSpPr>
        <p:spPr>
          <a:xfrm>
            <a:off x="4951501" y="5579020"/>
            <a:ext cx="2542726" cy="316735"/>
          </a:xfrm>
          <a:prstGeom prst="rect">
            <a:avLst/>
          </a:prstGeom>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1" i="0" u="none" strike="noStrike" kern="1200" cap="none" spc="0" normalizeH="0" baseline="0" noProof="0">
                <a:ln>
                  <a:noFill/>
                </a:ln>
                <a:solidFill>
                  <a:srgbClr val="0078D3"/>
                </a:solidFill>
                <a:effectLst/>
                <a:uLnTx/>
                <a:uFillTx/>
                <a:latin typeface="Segoe UI Semibold" panose="020B0702040204020203" pitchFamily="34" charset="0"/>
                <a:ea typeface="+mn-ea"/>
                <a:cs typeface="Segoe UI Semibold" panose="020B0702040204020203" pitchFamily="34" charset="0"/>
              </a:rPr>
              <a:t>Microsoft Purview</a:t>
            </a:r>
          </a:p>
        </p:txBody>
      </p:sp>
      <p:pic>
        <p:nvPicPr>
          <p:cNvPr id="11" name="Picture 10">
            <a:extLst>
              <a:ext uri="{FF2B5EF4-FFF2-40B4-BE49-F238E27FC236}">
                <a16:creationId xmlns:a16="http://schemas.microsoft.com/office/drawing/2014/main" id="{AC377FBB-3CF2-EA81-8750-8753E2F914F2}"/>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4325766" y="5426806"/>
            <a:ext cx="529704" cy="529703"/>
          </a:xfrm>
          <a:prstGeom prst="rect">
            <a:avLst/>
          </a:prstGeom>
        </p:spPr>
      </p:pic>
      <p:sp>
        <p:nvSpPr>
          <p:cNvPr id="6" name="Rounded Rectangle 22">
            <a:extLst>
              <a:ext uri="{FF2B5EF4-FFF2-40B4-BE49-F238E27FC236}">
                <a16:creationId xmlns:a16="http://schemas.microsoft.com/office/drawing/2014/main" id="{736C12D8-8BFE-71EB-BAC9-012304A42F51}"/>
              </a:ext>
              <a:ext uri="{C183D7F6-B498-43B3-948B-1728B52AA6E4}">
                <adec:decorative xmlns:adec="http://schemas.microsoft.com/office/drawing/2017/decorative" val="1"/>
              </a:ext>
            </a:extLst>
          </p:cNvPr>
          <p:cNvSpPr/>
          <p:nvPr/>
        </p:nvSpPr>
        <p:spPr bwMode="auto">
          <a:xfrm>
            <a:off x="3691798" y="1811212"/>
            <a:ext cx="1435608" cy="1448849"/>
          </a:xfrm>
          <a:prstGeom prst="roundRect">
            <a:avLst>
              <a:gd name="adj" fmla="val 5399"/>
            </a:avLst>
          </a:prstGeom>
          <a:solidFill>
            <a:srgbClr val="FFFFFF">
              <a:alpha val="94098"/>
            </a:srgbClr>
          </a:solidFill>
          <a:ln w="28575">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16" name="Text Placeholder 2">
            <a:extLst>
              <a:ext uri="{FF2B5EF4-FFF2-40B4-BE49-F238E27FC236}">
                <a16:creationId xmlns:a16="http://schemas.microsoft.com/office/drawing/2014/main" id="{678CF0AD-D07B-D3F1-6286-87074E0555AE}"/>
              </a:ext>
            </a:extLst>
          </p:cNvPr>
          <p:cNvSpPr txBox="1">
            <a:spLocks/>
          </p:cNvSpPr>
          <p:nvPr/>
        </p:nvSpPr>
        <p:spPr>
          <a:xfrm>
            <a:off x="3860999" y="2744776"/>
            <a:ext cx="1097206" cy="215444"/>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Databases</a:t>
            </a:r>
          </a:p>
        </p:txBody>
      </p:sp>
      <p:pic>
        <p:nvPicPr>
          <p:cNvPr id="31" name="Picture 30">
            <a:extLst>
              <a:ext uri="{FF2B5EF4-FFF2-40B4-BE49-F238E27FC236}">
                <a16:creationId xmlns:a16="http://schemas.microsoft.com/office/drawing/2014/main" id="{0D204011-377B-2C6D-EF4F-6360498B66C4}"/>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4196672" y="2018000"/>
            <a:ext cx="425860" cy="425860"/>
          </a:xfrm>
          <a:prstGeom prst="rect">
            <a:avLst/>
          </a:prstGeom>
        </p:spPr>
      </p:pic>
      <p:sp>
        <p:nvSpPr>
          <p:cNvPr id="7" name="Rounded Rectangle 22">
            <a:extLst>
              <a:ext uri="{FF2B5EF4-FFF2-40B4-BE49-F238E27FC236}">
                <a16:creationId xmlns:a16="http://schemas.microsoft.com/office/drawing/2014/main" id="{A9FE7580-5C07-CC1C-C6E0-F06FFD4FFC8B}"/>
              </a:ext>
              <a:ext uri="{C183D7F6-B498-43B3-948B-1728B52AA6E4}">
                <adec:decorative xmlns:adec="http://schemas.microsoft.com/office/drawing/2017/decorative" val="1"/>
              </a:ext>
            </a:extLst>
          </p:cNvPr>
          <p:cNvSpPr/>
          <p:nvPr/>
        </p:nvSpPr>
        <p:spPr bwMode="auto">
          <a:xfrm>
            <a:off x="7064595" y="1811212"/>
            <a:ext cx="1435608" cy="1448849"/>
          </a:xfrm>
          <a:prstGeom prst="roundRect">
            <a:avLst>
              <a:gd name="adj" fmla="val 5399"/>
            </a:avLst>
          </a:prstGeom>
          <a:solidFill>
            <a:srgbClr val="FFFFFF">
              <a:alpha val="94098"/>
            </a:srgbClr>
          </a:solidFill>
          <a:ln w="28575">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18" name="Text Placeholder 2">
            <a:extLst>
              <a:ext uri="{FF2B5EF4-FFF2-40B4-BE49-F238E27FC236}">
                <a16:creationId xmlns:a16="http://schemas.microsoft.com/office/drawing/2014/main" id="{B049414A-EDAA-1E02-4279-D4C22931E0A6}"/>
              </a:ext>
            </a:extLst>
          </p:cNvPr>
          <p:cNvSpPr txBox="1">
            <a:spLocks/>
          </p:cNvSpPr>
          <p:nvPr/>
        </p:nvSpPr>
        <p:spPr>
          <a:xfrm>
            <a:off x="7233796" y="2637055"/>
            <a:ext cx="1097206"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Industry Solutions</a:t>
            </a:r>
          </a:p>
        </p:txBody>
      </p:sp>
      <p:pic>
        <p:nvPicPr>
          <p:cNvPr id="35" name="Picture 34">
            <a:extLst>
              <a:ext uri="{FF2B5EF4-FFF2-40B4-BE49-F238E27FC236}">
                <a16:creationId xmlns:a16="http://schemas.microsoft.com/office/drawing/2014/main" id="{80CCDA01-9662-B85F-D45F-A354F17CF9DA}"/>
              </a:ext>
              <a:ext uri="{C183D7F6-B498-43B3-948B-1728B52AA6E4}">
                <adec:decorative xmlns:adec="http://schemas.microsoft.com/office/drawing/2017/decorative" val="1"/>
              </a:ext>
            </a:extLst>
          </p:cNvPr>
          <p:cNvPicPr>
            <a:picLocks noChangeAspect="1"/>
          </p:cNvPicPr>
          <p:nvPr/>
        </p:nvPicPr>
        <p:blipFill>
          <a:blip r:embed="rId9" cstate="screen">
            <a:extLst>
              <a:ext uri="{28A0092B-C50C-407E-A947-70E740481C1C}">
                <a14:useLocalDpi xmlns:a14="http://schemas.microsoft.com/office/drawing/2010/main" val="0"/>
              </a:ext>
            </a:extLst>
          </a:blip>
          <a:stretch>
            <a:fillRect/>
          </a:stretch>
        </p:blipFill>
        <p:spPr>
          <a:xfrm>
            <a:off x="7515246" y="1953096"/>
            <a:ext cx="534307" cy="532930"/>
          </a:xfrm>
          <a:prstGeom prst="rect">
            <a:avLst/>
          </a:prstGeom>
        </p:spPr>
      </p:pic>
      <p:sp>
        <p:nvSpPr>
          <p:cNvPr id="2" name="Rounded Rectangle 22">
            <a:extLst>
              <a:ext uri="{FF2B5EF4-FFF2-40B4-BE49-F238E27FC236}">
                <a16:creationId xmlns:a16="http://schemas.microsoft.com/office/drawing/2014/main" id="{9EF1C46F-74E1-9333-53DB-007CDE2FA7BC}"/>
              </a:ext>
              <a:ext uri="{C183D7F6-B498-43B3-948B-1728B52AA6E4}">
                <adec:decorative xmlns:adec="http://schemas.microsoft.com/office/drawing/2017/decorative" val="1"/>
              </a:ext>
            </a:extLst>
          </p:cNvPr>
          <p:cNvSpPr/>
          <p:nvPr/>
        </p:nvSpPr>
        <p:spPr bwMode="auto">
          <a:xfrm>
            <a:off x="2005399" y="1811212"/>
            <a:ext cx="1435608" cy="1448849"/>
          </a:xfrm>
          <a:prstGeom prst="roundRect">
            <a:avLst>
              <a:gd name="adj" fmla="val 5399"/>
            </a:avLst>
          </a:prstGeom>
          <a:solidFill>
            <a:srgbClr val="FFFFFF">
              <a:alpha val="94098"/>
            </a:srgbClr>
          </a:solidFill>
          <a:ln w="28575">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pic>
        <p:nvPicPr>
          <p:cNvPr id="3" name="Picture 2">
            <a:extLst>
              <a:ext uri="{FF2B5EF4-FFF2-40B4-BE49-F238E27FC236}">
                <a16:creationId xmlns:a16="http://schemas.microsoft.com/office/drawing/2014/main" id="{00C78A34-0206-CEE5-F2F8-FADCBAE86FCD}"/>
              </a:ext>
              <a:ext uri="{C183D7F6-B498-43B3-948B-1728B52AA6E4}">
                <adec:decorative xmlns:adec="http://schemas.microsoft.com/office/drawing/2017/decorative" val="1"/>
              </a:ext>
            </a:extLst>
          </p:cNvPr>
          <p:cNvPicPr>
            <a:picLocks noChangeAspect="1"/>
          </p:cNvPicPr>
          <p:nvPr/>
        </p:nvPicPr>
        <p:blipFill>
          <a:blip r:embed="rId10" cstate="screen">
            <a:extLst>
              <a:ext uri="{28A0092B-C50C-407E-A947-70E740481C1C}">
                <a14:useLocalDpi xmlns:a14="http://schemas.microsoft.com/office/drawing/2010/main" val="0"/>
              </a:ext>
            </a:extLst>
          </a:blip>
          <a:srcRect/>
          <a:stretch/>
        </p:blipFill>
        <p:spPr>
          <a:xfrm>
            <a:off x="2516079" y="2023611"/>
            <a:ext cx="414249" cy="414638"/>
          </a:xfrm>
          <a:prstGeom prst="rect">
            <a:avLst/>
          </a:prstGeom>
        </p:spPr>
      </p:pic>
      <p:sp>
        <p:nvSpPr>
          <p:cNvPr id="4" name="Text Placeholder 2">
            <a:extLst>
              <a:ext uri="{FF2B5EF4-FFF2-40B4-BE49-F238E27FC236}">
                <a16:creationId xmlns:a16="http://schemas.microsoft.com/office/drawing/2014/main" id="{003DA099-EDEB-062B-61C2-7A401A189781}"/>
              </a:ext>
            </a:extLst>
          </p:cNvPr>
          <p:cNvSpPr txBox="1">
            <a:spLocks/>
          </p:cNvSpPr>
          <p:nvPr/>
        </p:nvSpPr>
        <p:spPr>
          <a:xfrm>
            <a:off x="2174600" y="2618577"/>
            <a:ext cx="1097206" cy="467843"/>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Real-Time Intelligence</a:t>
            </a:r>
          </a:p>
        </p:txBody>
      </p:sp>
      <p:sp>
        <p:nvSpPr>
          <p:cNvPr id="8" name="Rounded Rectangle 26">
            <a:extLst>
              <a:ext uri="{FF2B5EF4-FFF2-40B4-BE49-F238E27FC236}">
                <a16:creationId xmlns:a16="http://schemas.microsoft.com/office/drawing/2014/main" id="{D6D53204-3C6B-EBFA-3FDF-415F2063FA2B}"/>
              </a:ext>
              <a:ext uri="{C183D7F6-B498-43B3-948B-1728B52AA6E4}">
                <adec:decorative xmlns:adec="http://schemas.microsoft.com/office/drawing/2017/decorative" val="1"/>
              </a:ext>
            </a:extLst>
          </p:cNvPr>
          <p:cNvSpPr/>
          <p:nvPr/>
        </p:nvSpPr>
        <p:spPr bwMode="auto">
          <a:xfrm>
            <a:off x="8750993" y="1811212"/>
            <a:ext cx="1435608" cy="1448849"/>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Segoe UI" panose="020B0502040204020203" pitchFamily="34" charset="0"/>
            </a:endParaRPr>
          </a:p>
        </p:txBody>
      </p:sp>
      <p:pic>
        <p:nvPicPr>
          <p:cNvPr id="9" name="Graphic 8">
            <a:extLst>
              <a:ext uri="{FF2B5EF4-FFF2-40B4-BE49-F238E27FC236}">
                <a16:creationId xmlns:a16="http://schemas.microsoft.com/office/drawing/2014/main" id="{CA46AD42-9A5C-C70E-F02E-E4A137BA7CCA}"/>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93400" y="1934014"/>
            <a:ext cx="550795" cy="524822"/>
          </a:xfrm>
          <a:prstGeom prst="rect">
            <a:avLst/>
          </a:prstGeom>
        </p:spPr>
      </p:pic>
      <p:sp>
        <p:nvSpPr>
          <p:cNvPr id="10" name="Text Placeholder 2">
            <a:extLst>
              <a:ext uri="{FF2B5EF4-FFF2-40B4-BE49-F238E27FC236}">
                <a16:creationId xmlns:a16="http://schemas.microsoft.com/office/drawing/2014/main" id="{83DEBF28-C8AF-D57C-C009-DA5363B6E130}"/>
              </a:ext>
            </a:extLst>
          </p:cNvPr>
          <p:cNvSpPr txBox="1">
            <a:spLocks/>
          </p:cNvSpPr>
          <p:nvPr/>
        </p:nvSpPr>
        <p:spPr>
          <a:xfrm>
            <a:off x="8920844" y="2735537"/>
            <a:ext cx="1095906" cy="233922"/>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Power BI</a:t>
            </a:r>
          </a:p>
        </p:txBody>
      </p:sp>
      <p:sp>
        <p:nvSpPr>
          <p:cNvPr id="85" name="Rounded Rectangle 26">
            <a:extLst>
              <a:ext uri="{FF2B5EF4-FFF2-40B4-BE49-F238E27FC236}">
                <a16:creationId xmlns:a16="http://schemas.microsoft.com/office/drawing/2014/main" id="{E0856A74-F528-C9BC-7D5C-D022EA3CBFDF}"/>
              </a:ext>
              <a:ext uri="{C183D7F6-B498-43B3-948B-1728B52AA6E4}">
                <adec:decorative xmlns:adec="http://schemas.microsoft.com/office/drawing/2017/decorative" val="1"/>
              </a:ext>
            </a:extLst>
          </p:cNvPr>
          <p:cNvSpPr/>
          <p:nvPr/>
        </p:nvSpPr>
        <p:spPr bwMode="auto">
          <a:xfrm>
            <a:off x="10437392" y="1811212"/>
            <a:ext cx="1435608" cy="1448849"/>
          </a:xfrm>
          <a:prstGeom prst="roundRect">
            <a:avLst>
              <a:gd name="adj" fmla="val 5399"/>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Segoe UI" panose="020B0502040204020203" pitchFamily="34" charset="0"/>
            </a:endParaRPr>
          </a:p>
        </p:txBody>
      </p:sp>
      <p:sp>
        <p:nvSpPr>
          <p:cNvPr id="87" name="Text Placeholder 2">
            <a:extLst>
              <a:ext uri="{FF2B5EF4-FFF2-40B4-BE49-F238E27FC236}">
                <a16:creationId xmlns:a16="http://schemas.microsoft.com/office/drawing/2014/main" id="{217BB7A1-5505-D54A-B1BD-5C9CE1D2E168}"/>
              </a:ext>
            </a:extLst>
          </p:cNvPr>
          <p:cNvSpPr txBox="1">
            <a:spLocks/>
          </p:cNvSpPr>
          <p:nvPr/>
        </p:nvSpPr>
        <p:spPr>
          <a:xfrm>
            <a:off x="10607243" y="2735537"/>
            <a:ext cx="1095906"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lumMod val="75000"/>
                    <a:lumOff val="25000"/>
                  </a:srgbClr>
                </a:solidFill>
                <a:effectLst/>
                <a:uLnTx/>
                <a:uFillTx/>
                <a:latin typeface="Segoe Sans Display Semibold" pitchFamily="2" charset="0"/>
                <a:ea typeface="+mn-ea"/>
                <a:cs typeface="Segoe Sans Display Semibold" pitchFamily="2" charset="0"/>
              </a:rPr>
              <a:t>Partner solutions</a:t>
            </a:r>
          </a:p>
        </p:txBody>
      </p:sp>
      <p:pic>
        <p:nvPicPr>
          <p:cNvPr id="12" name="Graphic 11" descr="iconography featuring an overlapping square, triangle and plus sign">
            <a:extLst>
              <a:ext uri="{FF2B5EF4-FFF2-40B4-BE49-F238E27FC236}">
                <a16:creationId xmlns:a16="http://schemas.microsoft.com/office/drawing/2014/main" id="{C090422F-F9D5-62C2-2D17-0D2525E5392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898077" y="1962441"/>
            <a:ext cx="514239" cy="514239"/>
          </a:xfrm>
          <a:prstGeom prst="rect">
            <a:avLst/>
          </a:prstGeom>
        </p:spPr>
      </p:pic>
      <p:pic>
        <p:nvPicPr>
          <p:cNvPr id="5" name="Picture 105">
            <a:extLst>
              <a:ext uri="{FF2B5EF4-FFF2-40B4-BE49-F238E27FC236}">
                <a16:creationId xmlns:a16="http://schemas.microsoft.com/office/drawing/2014/main" id="{23DB82E9-C9F6-879C-78D7-453EE2BB1163}"/>
              </a:ext>
              <a:ext uri="{C183D7F6-B498-43B3-948B-1728B52AA6E4}">
                <adec:decorative xmlns:adec="http://schemas.microsoft.com/office/drawing/2017/decorative" val="1"/>
              </a:ext>
            </a:extLst>
          </p:cNvPr>
          <p:cNvPicPr>
            <a:picLocks noChangeAspect="1"/>
          </p:cNvPicPr>
          <p:nvPr/>
        </p:nvPicPr>
        <p:blipFill>
          <a:blip r:embed="rId15" cstate="screen">
            <a:extLst>
              <a:ext uri="{28A0092B-C50C-407E-A947-70E740481C1C}">
                <a14:useLocalDpi xmlns:a14="http://schemas.microsoft.com/office/drawing/2010/main" val="0"/>
              </a:ext>
            </a:extLst>
          </a:blip>
          <a:stretch>
            <a:fillRect/>
          </a:stretch>
        </p:blipFill>
        <p:spPr>
          <a:xfrm>
            <a:off x="3389106" y="363401"/>
            <a:ext cx="854597" cy="854593"/>
          </a:xfrm>
          <a:prstGeom prst="rect">
            <a:avLst/>
          </a:prstGeom>
          <a:effectLst/>
        </p:spPr>
      </p:pic>
    </p:spTree>
    <p:extLst>
      <p:ext uri="{BB962C8B-B14F-4D97-AF65-F5344CB8AC3E}">
        <p14:creationId xmlns:p14="http://schemas.microsoft.com/office/powerpoint/2010/main" val="2469875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B8896-E08D-F82B-7F70-FFC8C16CC7E8}"/>
            </a:ext>
          </a:extLst>
        </p:cNvPr>
        <p:cNvGrpSpPr/>
        <p:nvPr/>
      </p:nvGrpSpPr>
      <p:grpSpPr>
        <a:xfrm>
          <a:off x="0" y="0"/>
          <a:ext cx="0" cy="0"/>
          <a:chOff x="0" y="0"/>
          <a:chExt cx="0" cy="0"/>
        </a:xfrm>
      </p:grpSpPr>
      <p:sp>
        <p:nvSpPr>
          <p:cNvPr id="101" name="Title 100">
            <a:extLst>
              <a:ext uri="{FF2B5EF4-FFF2-40B4-BE49-F238E27FC236}">
                <a16:creationId xmlns:a16="http://schemas.microsoft.com/office/drawing/2014/main" id="{A983B6A3-DB30-EBD5-16DA-EA8987A8C34D}"/>
              </a:ext>
            </a:extLst>
          </p:cNvPr>
          <p:cNvSpPr>
            <a:spLocks noGrp="1"/>
          </p:cNvSpPr>
          <p:nvPr>
            <p:ph type="title"/>
          </p:nvPr>
        </p:nvSpPr>
        <p:spPr>
          <a:xfrm>
            <a:off x="331729" y="148817"/>
            <a:ext cx="11029949" cy="549275"/>
          </a:xfrm>
        </p:spPr>
        <p:txBody>
          <a:bodyPr/>
          <a:lstStyle/>
          <a:p>
            <a:r>
              <a:rPr lang="en-US" noProof="0"/>
              <a:t>Fabric workloads for end-to-end analytics</a:t>
            </a:r>
            <a:endParaRPr lang="en-US"/>
          </a:p>
        </p:txBody>
      </p:sp>
      <p:sp>
        <p:nvSpPr>
          <p:cNvPr id="73" name="Rectangle: Rounded Corners 72">
            <a:extLst>
              <a:ext uri="{FF2B5EF4-FFF2-40B4-BE49-F238E27FC236}">
                <a16:creationId xmlns:a16="http://schemas.microsoft.com/office/drawing/2014/main" id="{D0AC4926-BEE7-7E5D-9C15-D299F086901F}"/>
              </a:ext>
              <a:ext uri="{C183D7F6-B498-43B3-948B-1728B52AA6E4}">
                <adec:decorative xmlns:adec="http://schemas.microsoft.com/office/drawing/2017/decorative" val="1"/>
              </a:ext>
            </a:extLst>
          </p:cNvPr>
          <p:cNvSpPr/>
          <p:nvPr/>
        </p:nvSpPr>
        <p:spPr>
          <a:xfrm>
            <a:off x="400050" y="867910"/>
            <a:ext cx="11430000" cy="5650331"/>
          </a:xfrm>
          <a:prstGeom prst="roundRect">
            <a:avLst>
              <a:gd name="adj" fmla="val 3233"/>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pPr>
            <a:endParaRPr lang="en-IN" sz="1200">
              <a:gradFill>
                <a:gsLst>
                  <a:gs pos="2874">
                    <a:srgbClr val="FFFFFF"/>
                  </a:gs>
                  <a:gs pos="17978">
                    <a:srgbClr val="FFFFFF"/>
                  </a:gs>
                </a:gsLst>
                <a:lin ang="2700000" scaled="0"/>
              </a:gradFill>
              <a:latin typeface="Segoe UI"/>
            </a:endParaRPr>
          </a:p>
        </p:txBody>
      </p:sp>
      <p:sp>
        <p:nvSpPr>
          <p:cNvPr id="74" name="Rectangle: Rounded Corners 73">
            <a:extLst>
              <a:ext uri="{FF2B5EF4-FFF2-40B4-BE49-F238E27FC236}">
                <a16:creationId xmlns:a16="http://schemas.microsoft.com/office/drawing/2014/main" id="{5E37E262-0148-9141-1B32-C62C4CA7F686}"/>
              </a:ext>
              <a:ext uri="{C183D7F6-B498-43B3-948B-1728B52AA6E4}">
                <adec:decorative xmlns:adec="http://schemas.microsoft.com/office/drawing/2017/decorative" val="1"/>
              </a:ext>
            </a:extLst>
          </p:cNvPr>
          <p:cNvSpPr/>
          <p:nvPr/>
        </p:nvSpPr>
        <p:spPr>
          <a:xfrm>
            <a:off x="525969" y="1001487"/>
            <a:ext cx="11140062" cy="5381778"/>
          </a:xfrm>
          <a:prstGeom prst="roundRect">
            <a:avLst>
              <a:gd name="adj" fmla="val 2367"/>
            </a:avLst>
          </a:prstGeom>
          <a:solidFill>
            <a:srgbClr val="FFFFFF">
              <a:alpha val="94098"/>
            </a:srgbClr>
          </a:solidFill>
          <a:ln>
            <a:noFill/>
            <a:headEnd type="none" w="med" len="med"/>
            <a:tailEnd type="none" w="med" len="med"/>
          </a:ln>
          <a:effectLst>
            <a:outerShdw blurRad="235619" dist="38100" dir="2700000" algn="tl" rotWithShape="0">
              <a:prstClr val="black">
                <a:alpha val="19837"/>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spcAft>
                <a:spcPts val="800"/>
              </a:spcAft>
            </a:pPr>
            <a:endParaRPr lang="en-IN" sz="1400">
              <a:solidFill>
                <a:schemeClr val="bg2"/>
              </a:solidFill>
              <a:cs typeface="Segoe UI" pitchFamily="34" charset="0"/>
            </a:endParaRPr>
          </a:p>
        </p:txBody>
      </p:sp>
      <p:sp>
        <p:nvSpPr>
          <p:cNvPr id="75" name="Rectangle: Top Corners Rounded 74">
            <a:extLst>
              <a:ext uri="{FF2B5EF4-FFF2-40B4-BE49-F238E27FC236}">
                <a16:creationId xmlns:a16="http://schemas.microsoft.com/office/drawing/2014/main" id="{1A92366A-4D04-A286-3C15-7DF66B49AB44}"/>
              </a:ext>
              <a:ext uri="{C183D7F6-B498-43B3-948B-1728B52AA6E4}">
                <adec:decorative xmlns:adec="http://schemas.microsoft.com/office/drawing/2017/decorative" val="1"/>
              </a:ext>
            </a:extLst>
          </p:cNvPr>
          <p:cNvSpPr/>
          <p:nvPr/>
        </p:nvSpPr>
        <p:spPr>
          <a:xfrm rot="16200000">
            <a:off x="-1191914" y="2719370"/>
            <a:ext cx="5364357" cy="1928590"/>
          </a:xfrm>
          <a:prstGeom prst="round2SameRect">
            <a:avLst>
              <a:gd name="adj1" fmla="val 6175"/>
              <a:gd name="adj2" fmla="val 0"/>
            </a:avLst>
          </a:prstGeom>
          <a:solidFill>
            <a:srgbClr val="F6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6" name="Graphic 75">
            <a:extLst>
              <a:ext uri="{FF2B5EF4-FFF2-40B4-BE49-F238E27FC236}">
                <a16:creationId xmlns:a16="http://schemas.microsoft.com/office/drawing/2014/main" id="{FAD7FA87-05C6-1EBD-E9A7-6DE42CF60023}"/>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6299" y="1191351"/>
            <a:ext cx="312308" cy="312306"/>
          </a:xfrm>
          <a:prstGeom prst="rect">
            <a:avLst/>
          </a:prstGeom>
        </p:spPr>
      </p:pic>
      <p:sp>
        <p:nvSpPr>
          <p:cNvPr id="77" name="Text Placeholder 2">
            <a:extLst>
              <a:ext uri="{FF2B5EF4-FFF2-40B4-BE49-F238E27FC236}">
                <a16:creationId xmlns:a16="http://schemas.microsoft.com/office/drawing/2014/main" id="{B8106AD0-F2BA-6AC3-E28A-B650E829E07A}"/>
              </a:ext>
            </a:extLst>
          </p:cNvPr>
          <p:cNvSpPr txBox="1">
            <a:spLocks/>
          </p:cNvSpPr>
          <p:nvPr/>
        </p:nvSpPr>
        <p:spPr>
          <a:xfrm>
            <a:off x="1381148" y="1162838"/>
            <a:ext cx="660296" cy="369332"/>
          </a:xfrm>
          <a:prstGeom prst="rect">
            <a:avLst/>
          </a:prstGeom>
        </p:spPr>
        <p:txBody>
          <a:bodyPr wrap="squar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i="0" u="none" strike="noStrike" kern="1200" cap="none" spc="0" normalizeH="0" baseline="0" noProof="0">
                <a:ln>
                  <a:noFill/>
                </a:ln>
                <a:effectLst/>
                <a:uLnTx/>
                <a:uFillTx/>
                <a:latin typeface="Segoe Sans Display Semibold" pitchFamily="2" charset="0"/>
                <a:cs typeface="Segoe Sans Display Semibold" pitchFamily="2" charset="0"/>
              </a:rPr>
              <a:t>Data Factory</a:t>
            </a:r>
          </a:p>
        </p:txBody>
      </p:sp>
      <p:sp>
        <p:nvSpPr>
          <p:cNvPr id="78" name="TextBox 77">
            <a:extLst>
              <a:ext uri="{FF2B5EF4-FFF2-40B4-BE49-F238E27FC236}">
                <a16:creationId xmlns:a16="http://schemas.microsoft.com/office/drawing/2014/main" id="{942F2748-3DD1-AE33-1F85-3C13B3CC680F}"/>
              </a:ext>
            </a:extLst>
          </p:cNvPr>
          <p:cNvSpPr txBox="1"/>
          <p:nvPr/>
        </p:nvSpPr>
        <p:spPr>
          <a:xfrm>
            <a:off x="2613620" y="1258962"/>
            <a:ext cx="9371947" cy="169277"/>
          </a:xfrm>
          <a:prstGeom prst="rect">
            <a:avLst/>
          </a:prstGeom>
          <a:noFill/>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Unify your data estate with a data integration experience and 300+ data transformations to easily solve the most complex ETL scenarios</a:t>
            </a:r>
          </a:p>
        </p:txBody>
      </p:sp>
      <p:pic>
        <p:nvPicPr>
          <p:cNvPr id="79" name="Graphic 78">
            <a:extLst>
              <a:ext uri="{FF2B5EF4-FFF2-40B4-BE49-F238E27FC236}">
                <a16:creationId xmlns:a16="http://schemas.microsoft.com/office/drawing/2014/main" id="{DEB3E5B2-37DB-4576-5444-716EA8E6EE83}"/>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0090" y="2973065"/>
            <a:ext cx="312308" cy="312306"/>
          </a:xfrm>
          <a:prstGeom prst="rect">
            <a:avLst/>
          </a:prstGeom>
        </p:spPr>
      </p:pic>
      <p:sp>
        <p:nvSpPr>
          <p:cNvPr id="80" name="Text Placeholder 2">
            <a:extLst>
              <a:ext uri="{FF2B5EF4-FFF2-40B4-BE49-F238E27FC236}">
                <a16:creationId xmlns:a16="http://schemas.microsoft.com/office/drawing/2014/main" id="{ED2A4526-E111-75DB-FD87-E5509951F740}"/>
              </a:ext>
            </a:extLst>
          </p:cNvPr>
          <p:cNvSpPr txBox="1">
            <a:spLocks/>
          </p:cNvSpPr>
          <p:nvPr/>
        </p:nvSpPr>
        <p:spPr>
          <a:xfrm>
            <a:off x="1381148" y="2944552"/>
            <a:ext cx="881814" cy="369332"/>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Data Engineering</a:t>
            </a:r>
          </a:p>
        </p:txBody>
      </p:sp>
      <p:sp>
        <p:nvSpPr>
          <p:cNvPr id="81" name="TextBox 80">
            <a:extLst>
              <a:ext uri="{FF2B5EF4-FFF2-40B4-BE49-F238E27FC236}">
                <a16:creationId xmlns:a16="http://schemas.microsoft.com/office/drawing/2014/main" id="{46F6BAD7-22A3-5533-8297-E768E0AC6C34}"/>
              </a:ext>
            </a:extLst>
          </p:cNvPr>
          <p:cNvSpPr txBox="1"/>
          <p:nvPr/>
        </p:nvSpPr>
        <p:spPr>
          <a:xfrm>
            <a:off x="2623078" y="3048116"/>
            <a:ext cx="9371947" cy="169277"/>
          </a:xfrm>
          <a:prstGeom prst="rect">
            <a:avLst/>
          </a:prstGeom>
          <a:noFill/>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Enable data engineers to design, build, and maintain infrastructures at scale using </a:t>
            </a:r>
            <a:r>
              <a:rPr lang="en-US" sz="1100">
                <a:solidFill>
                  <a:srgbClr val="000000"/>
                </a:solidFill>
                <a:cs typeface="Segoe UI"/>
              </a:rPr>
              <a:t>world-class</a:t>
            </a:r>
            <a:r>
              <a:rPr kumimoji="0" lang="en-US" sz="1100" b="0" i="0" u="none" strike="noStrike" kern="1200" cap="none" spc="0" normalizeH="0" baseline="0" noProof="0">
                <a:ln>
                  <a:noFill/>
                </a:ln>
                <a:solidFill>
                  <a:srgbClr val="000000"/>
                </a:solidFill>
                <a:effectLst/>
                <a:uLnTx/>
                <a:uFillTx/>
                <a:cs typeface="Segoe UI"/>
              </a:rPr>
              <a:t> Spark platform with great authoring experiences</a:t>
            </a:r>
          </a:p>
        </p:txBody>
      </p:sp>
      <p:pic>
        <p:nvPicPr>
          <p:cNvPr id="82" name="Graphic 81">
            <a:extLst>
              <a:ext uri="{FF2B5EF4-FFF2-40B4-BE49-F238E27FC236}">
                <a16:creationId xmlns:a16="http://schemas.microsoft.com/office/drawing/2014/main" id="{6A618106-43C8-3FCB-47E8-ADE27DD37B8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8698" y="3537189"/>
            <a:ext cx="312308" cy="312306"/>
          </a:xfrm>
          <a:prstGeom prst="rect">
            <a:avLst/>
          </a:prstGeom>
        </p:spPr>
      </p:pic>
      <p:sp>
        <p:nvSpPr>
          <p:cNvPr id="83" name="Text Placeholder 2">
            <a:extLst>
              <a:ext uri="{FF2B5EF4-FFF2-40B4-BE49-F238E27FC236}">
                <a16:creationId xmlns:a16="http://schemas.microsoft.com/office/drawing/2014/main" id="{D81EA558-21CD-501A-A179-02849B8DA0BE}"/>
              </a:ext>
            </a:extLst>
          </p:cNvPr>
          <p:cNvSpPr txBox="1">
            <a:spLocks/>
          </p:cNvSpPr>
          <p:nvPr/>
        </p:nvSpPr>
        <p:spPr>
          <a:xfrm>
            <a:off x="1381148" y="3508676"/>
            <a:ext cx="853414" cy="369332"/>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Data Warehouse</a:t>
            </a:r>
          </a:p>
        </p:txBody>
      </p:sp>
      <p:sp>
        <p:nvSpPr>
          <p:cNvPr id="84" name="TextBox 83">
            <a:extLst>
              <a:ext uri="{FF2B5EF4-FFF2-40B4-BE49-F238E27FC236}">
                <a16:creationId xmlns:a16="http://schemas.microsoft.com/office/drawing/2014/main" id="{B6F1B4E4-05B5-D2DC-790F-B1D4E86CE76E}"/>
              </a:ext>
            </a:extLst>
          </p:cNvPr>
          <p:cNvSpPr txBox="1"/>
          <p:nvPr/>
        </p:nvSpPr>
        <p:spPr>
          <a:xfrm>
            <a:off x="2621306" y="3524065"/>
            <a:ext cx="8693373" cy="338554"/>
          </a:xfrm>
          <a:prstGeom prst="rect">
            <a:avLst/>
          </a:prstGeom>
          <a:noFill/>
        </p:spPr>
        <p:txBody>
          <a:bodyPr wrap="square" lIns="0" tIns="0" rIns="0" bIns="0" anchor="ctr">
            <a:spAutoFit/>
          </a:bodyPr>
          <a:lstStyle/>
          <a:p>
            <a:pPr marL="0" marR="0" lvl="0" indent="0"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Provide industry-leading SQL performance and scale, fully separating compute from storage for independently scaling and natively storing data in open Parquet/Delta Lake</a:t>
            </a:r>
          </a:p>
        </p:txBody>
      </p:sp>
      <p:pic>
        <p:nvPicPr>
          <p:cNvPr id="85" name="Graphic 84">
            <a:extLst>
              <a:ext uri="{FF2B5EF4-FFF2-40B4-BE49-F238E27FC236}">
                <a16:creationId xmlns:a16="http://schemas.microsoft.com/office/drawing/2014/main" id="{00DB9997-B4AE-46BE-DB58-A06F6B5B5F8E}"/>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6160" y="4101313"/>
            <a:ext cx="312308" cy="312306"/>
          </a:xfrm>
          <a:prstGeom prst="rect">
            <a:avLst/>
          </a:prstGeom>
        </p:spPr>
      </p:pic>
      <p:sp>
        <p:nvSpPr>
          <p:cNvPr id="86" name="Text Placeholder 2">
            <a:extLst>
              <a:ext uri="{FF2B5EF4-FFF2-40B4-BE49-F238E27FC236}">
                <a16:creationId xmlns:a16="http://schemas.microsoft.com/office/drawing/2014/main" id="{B34D4F60-91C3-01A1-620D-ACAB3F8D07AA}"/>
              </a:ext>
            </a:extLst>
          </p:cNvPr>
          <p:cNvSpPr txBox="1">
            <a:spLocks/>
          </p:cNvSpPr>
          <p:nvPr/>
        </p:nvSpPr>
        <p:spPr>
          <a:xfrm>
            <a:off x="1382489" y="4072800"/>
            <a:ext cx="668816" cy="369332"/>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Data Science</a:t>
            </a:r>
          </a:p>
        </p:txBody>
      </p:sp>
      <p:sp>
        <p:nvSpPr>
          <p:cNvPr id="87" name="TextBox 86">
            <a:extLst>
              <a:ext uri="{FF2B5EF4-FFF2-40B4-BE49-F238E27FC236}">
                <a16:creationId xmlns:a16="http://schemas.microsoft.com/office/drawing/2014/main" id="{D9F91B29-DC0E-F5E7-7E3B-D5FEAADC0313}"/>
              </a:ext>
            </a:extLst>
          </p:cNvPr>
          <p:cNvSpPr txBox="1"/>
          <p:nvPr/>
        </p:nvSpPr>
        <p:spPr>
          <a:xfrm>
            <a:off x="2631167" y="4163179"/>
            <a:ext cx="9371947" cy="169277"/>
          </a:xfrm>
          <a:prstGeom prst="rect">
            <a:avLst/>
          </a:prstGeom>
          <a:noFill/>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Empower data scientists and analysts to quickly build, deploy, and operationalize sophisticated AI directly within Fabric</a:t>
            </a:r>
          </a:p>
        </p:txBody>
      </p:sp>
      <p:pic>
        <p:nvPicPr>
          <p:cNvPr id="91" name="Graphic 90">
            <a:extLst>
              <a:ext uri="{FF2B5EF4-FFF2-40B4-BE49-F238E27FC236}">
                <a16:creationId xmlns:a16="http://schemas.microsoft.com/office/drawing/2014/main" id="{49162E31-6595-DE4B-A2A9-E09E4AF35492}"/>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2487" y="5233767"/>
            <a:ext cx="312308" cy="312306"/>
          </a:xfrm>
          <a:prstGeom prst="rect">
            <a:avLst/>
          </a:prstGeom>
        </p:spPr>
      </p:pic>
      <p:sp>
        <p:nvSpPr>
          <p:cNvPr id="92" name="Text Placeholder 2">
            <a:extLst>
              <a:ext uri="{FF2B5EF4-FFF2-40B4-BE49-F238E27FC236}">
                <a16:creationId xmlns:a16="http://schemas.microsoft.com/office/drawing/2014/main" id="{90225E68-8F61-2BA7-A17C-C545D245580B}"/>
              </a:ext>
            </a:extLst>
          </p:cNvPr>
          <p:cNvSpPr txBox="1">
            <a:spLocks/>
          </p:cNvSpPr>
          <p:nvPr/>
        </p:nvSpPr>
        <p:spPr>
          <a:xfrm>
            <a:off x="1381148" y="5297587"/>
            <a:ext cx="660296" cy="184666"/>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Power BI</a:t>
            </a:r>
          </a:p>
        </p:txBody>
      </p:sp>
      <p:sp>
        <p:nvSpPr>
          <p:cNvPr id="93" name="TextBox 92">
            <a:extLst>
              <a:ext uri="{FF2B5EF4-FFF2-40B4-BE49-F238E27FC236}">
                <a16:creationId xmlns:a16="http://schemas.microsoft.com/office/drawing/2014/main" id="{3D8DEEBA-46C5-F661-1AEE-94096D0283B2}"/>
              </a:ext>
            </a:extLst>
          </p:cNvPr>
          <p:cNvSpPr txBox="1"/>
          <p:nvPr/>
        </p:nvSpPr>
        <p:spPr>
          <a:xfrm>
            <a:off x="2621306" y="5249156"/>
            <a:ext cx="8534623" cy="338554"/>
          </a:xfrm>
          <a:prstGeom prst="rect">
            <a:avLst/>
          </a:prstGeom>
          <a:noFill/>
        </p:spPr>
        <p:txBody>
          <a:bodyPr wrap="square" lIns="0" tIns="0" rIns="0" bIns="0" anchor="ctr">
            <a:spAutoFit/>
          </a:bodyPr>
          <a:lstStyle/>
          <a:p>
            <a:pPr marL="0" marR="0" lvl="0" indent="0"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Make better, data-driven decisions with the world’s leading business intelligence platform that turns unrelated sources of data into coherent, interactive insights</a:t>
            </a:r>
          </a:p>
        </p:txBody>
      </p:sp>
      <p:sp>
        <p:nvSpPr>
          <p:cNvPr id="3" name="Slide Number Placeholder 2">
            <a:extLst>
              <a:ext uri="{FF2B5EF4-FFF2-40B4-BE49-F238E27FC236}">
                <a16:creationId xmlns:a16="http://schemas.microsoft.com/office/drawing/2014/main" id="{823D0F8A-7D67-64E9-0762-3DD9A2991A28}"/>
              </a:ext>
            </a:extLst>
          </p:cNvPr>
          <p:cNvSpPr>
            <a:spLocks noGrp="1"/>
          </p:cNvSpPr>
          <p:nvPr>
            <p:ph type="sldNum" sz="quarter" idx="11"/>
          </p:nvPr>
        </p:nvSpPr>
        <p:spPr>
          <a:xfrm>
            <a:off x="612571" y="6535662"/>
            <a:ext cx="399288" cy="365125"/>
          </a:xfrm>
        </p:spPr>
        <p:txBody>
          <a:bodyPr/>
          <a:lstStyle/>
          <a:p>
            <a:fld id="{B1356FBF-028C-F74E-A7B4-9B8ED246DD1B}" type="slidenum">
              <a:rPr lang="en-US" smtClean="0"/>
              <a:pPr/>
              <a:t>4</a:t>
            </a:fld>
            <a:endParaRPr lang="en-US"/>
          </a:p>
        </p:txBody>
      </p:sp>
      <p:sp>
        <p:nvSpPr>
          <p:cNvPr id="2" name="Footer Placeholder 1">
            <a:extLst>
              <a:ext uri="{FF2B5EF4-FFF2-40B4-BE49-F238E27FC236}">
                <a16:creationId xmlns:a16="http://schemas.microsoft.com/office/drawing/2014/main" id="{BC0155DC-14FD-8AEF-45AC-B56E20C630FC}"/>
              </a:ext>
            </a:extLst>
          </p:cNvPr>
          <p:cNvSpPr>
            <a:spLocks noGrp="1"/>
          </p:cNvSpPr>
          <p:nvPr>
            <p:ph type="ftr" sz="quarter" idx="10"/>
          </p:nvPr>
        </p:nvSpPr>
        <p:spPr>
          <a:xfrm>
            <a:off x="1011859" y="6535662"/>
            <a:ext cx="2078736" cy="365125"/>
          </a:xfrm>
        </p:spPr>
        <p:txBody>
          <a:bodyPr/>
          <a:lstStyle/>
          <a:p>
            <a:r>
              <a:rPr lang="en-US"/>
              <a:t>Microsoft Fabric</a:t>
            </a:r>
          </a:p>
        </p:txBody>
      </p:sp>
      <p:sp>
        <p:nvSpPr>
          <p:cNvPr id="90" name="TextBox 89">
            <a:extLst>
              <a:ext uri="{FF2B5EF4-FFF2-40B4-BE49-F238E27FC236}">
                <a16:creationId xmlns:a16="http://schemas.microsoft.com/office/drawing/2014/main" id="{C4AAADDD-2488-1217-3130-9683054B1FAB}"/>
              </a:ext>
            </a:extLst>
          </p:cNvPr>
          <p:cNvSpPr txBox="1"/>
          <p:nvPr/>
        </p:nvSpPr>
        <p:spPr>
          <a:xfrm>
            <a:off x="2613919" y="1872885"/>
            <a:ext cx="9021625" cy="169277"/>
          </a:xfrm>
          <a:prstGeom prst="rect">
            <a:avLst/>
          </a:prstGeom>
          <a:noFill/>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Ingest streaming data with high granularity, dynamically transform streaming data, query data in real-time for instant insights, and trigger actions </a:t>
            </a:r>
          </a:p>
        </p:txBody>
      </p:sp>
      <p:sp>
        <p:nvSpPr>
          <p:cNvPr id="89" name="Text Placeholder 2">
            <a:extLst>
              <a:ext uri="{FF2B5EF4-FFF2-40B4-BE49-F238E27FC236}">
                <a16:creationId xmlns:a16="http://schemas.microsoft.com/office/drawing/2014/main" id="{52020A50-A044-86F9-3390-45073A06C628}"/>
              </a:ext>
            </a:extLst>
          </p:cNvPr>
          <p:cNvSpPr txBox="1">
            <a:spLocks/>
          </p:cNvSpPr>
          <p:nvPr/>
        </p:nvSpPr>
        <p:spPr>
          <a:xfrm>
            <a:off x="1375996" y="1769321"/>
            <a:ext cx="853414" cy="369332"/>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Real-Time Intelligence</a:t>
            </a:r>
          </a:p>
        </p:txBody>
      </p:sp>
      <p:pic>
        <p:nvPicPr>
          <p:cNvPr id="4" name="Picture 3">
            <a:extLst>
              <a:ext uri="{FF2B5EF4-FFF2-40B4-BE49-F238E27FC236}">
                <a16:creationId xmlns:a16="http://schemas.microsoft.com/office/drawing/2014/main" id="{A74CFBAF-58BE-373B-0C35-9439929CB784}"/>
              </a:ext>
              <a:ext uri="{C183D7F6-B498-43B3-948B-1728B52AA6E4}">
                <adec:decorative xmlns:adec="http://schemas.microsoft.com/office/drawing/2017/decorative" val="1"/>
              </a:ext>
            </a:extLst>
          </p:cNvPr>
          <p:cNvPicPr>
            <a:picLocks noChangeAspect="1"/>
          </p:cNvPicPr>
          <p:nvPr/>
        </p:nvPicPr>
        <p:blipFill>
          <a:blip r:embed="rId13" cstate="screen">
            <a:extLst>
              <a:ext uri="{28A0092B-C50C-407E-A947-70E740481C1C}">
                <a14:useLocalDpi xmlns:a14="http://schemas.microsoft.com/office/drawing/2010/main" val="0"/>
              </a:ext>
            </a:extLst>
          </a:blip>
          <a:srcRect/>
          <a:stretch/>
        </p:blipFill>
        <p:spPr>
          <a:xfrm>
            <a:off x="836160" y="1820649"/>
            <a:ext cx="277812" cy="278073"/>
          </a:xfrm>
          <a:prstGeom prst="rect">
            <a:avLst/>
          </a:prstGeom>
        </p:spPr>
      </p:pic>
      <p:sp>
        <p:nvSpPr>
          <p:cNvPr id="7" name="TextBox 6">
            <a:extLst>
              <a:ext uri="{FF2B5EF4-FFF2-40B4-BE49-F238E27FC236}">
                <a16:creationId xmlns:a16="http://schemas.microsoft.com/office/drawing/2014/main" id="{183ECBBF-B498-5C91-43FD-7D275CA3EECC}"/>
              </a:ext>
            </a:extLst>
          </p:cNvPr>
          <p:cNvSpPr txBox="1"/>
          <p:nvPr/>
        </p:nvSpPr>
        <p:spPr>
          <a:xfrm>
            <a:off x="2568661" y="2362238"/>
            <a:ext cx="8543221" cy="338554"/>
          </a:xfrm>
          <a:prstGeom prst="rect">
            <a:avLst/>
          </a:prstGeom>
          <a:noFill/>
        </p:spPr>
        <p:txBody>
          <a:bodyPr wrap="square" lIns="0" tIns="0" rIns="0" bIns="0" anchor="ctr">
            <a:spAutoFit/>
          </a:bodyPr>
          <a:lstStyle/>
          <a:p>
            <a:pPr marL="0" marR="0" lvl="0" indent="0" algn="just"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Streamline AI application development with simple, intuitive, and autonomous databases that provision in seconds, and unlock innovative, new scenarios for AI transformation</a:t>
            </a:r>
          </a:p>
        </p:txBody>
      </p:sp>
      <p:sp>
        <p:nvSpPr>
          <p:cNvPr id="6" name="Text Placeholder 2">
            <a:extLst>
              <a:ext uri="{FF2B5EF4-FFF2-40B4-BE49-F238E27FC236}">
                <a16:creationId xmlns:a16="http://schemas.microsoft.com/office/drawing/2014/main" id="{955700AB-FDAC-2DBA-D275-16AA75A5AE5F}"/>
              </a:ext>
            </a:extLst>
          </p:cNvPr>
          <p:cNvSpPr txBox="1">
            <a:spLocks/>
          </p:cNvSpPr>
          <p:nvPr/>
        </p:nvSpPr>
        <p:spPr>
          <a:xfrm>
            <a:off x="1334892" y="2443869"/>
            <a:ext cx="853414" cy="184666"/>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Databases</a:t>
            </a:r>
          </a:p>
        </p:txBody>
      </p:sp>
      <p:pic>
        <p:nvPicPr>
          <p:cNvPr id="12" name="Picture 11" descr="Purple Databases Icon">
            <a:extLst>
              <a:ext uri="{FF2B5EF4-FFF2-40B4-BE49-F238E27FC236}">
                <a16:creationId xmlns:a16="http://schemas.microsoft.com/office/drawing/2014/main" id="{3FFF367D-453A-2DD7-6B6E-ABA98FA7D5ED}"/>
              </a:ext>
            </a:extLst>
          </p:cNvPr>
          <p:cNvPicPr>
            <a:picLocks noChangeAspect="1"/>
          </p:cNvPicPr>
          <p:nvPr/>
        </p:nvPicPr>
        <p:blipFill>
          <a:blip r:embed="rId14" cstate="screen">
            <a:extLst>
              <a:ext uri="{28A0092B-C50C-407E-A947-70E740481C1C}">
                <a14:useLocalDpi xmlns:a14="http://schemas.microsoft.com/office/drawing/2010/main" val="0"/>
              </a:ext>
            </a:extLst>
          </a:blip>
          <a:stretch>
            <a:fillRect/>
          </a:stretch>
        </p:blipFill>
        <p:spPr>
          <a:xfrm>
            <a:off x="792113" y="2417127"/>
            <a:ext cx="278073" cy="278073"/>
          </a:xfrm>
          <a:prstGeom prst="rect">
            <a:avLst/>
          </a:prstGeom>
        </p:spPr>
      </p:pic>
      <p:sp>
        <p:nvSpPr>
          <p:cNvPr id="9" name="Text Placeholder 2">
            <a:extLst>
              <a:ext uri="{FF2B5EF4-FFF2-40B4-BE49-F238E27FC236}">
                <a16:creationId xmlns:a16="http://schemas.microsoft.com/office/drawing/2014/main" id="{38639C82-D9F7-D118-1C03-283D346D530A}"/>
              </a:ext>
            </a:extLst>
          </p:cNvPr>
          <p:cNvSpPr txBox="1">
            <a:spLocks/>
          </p:cNvSpPr>
          <p:nvPr/>
        </p:nvSpPr>
        <p:spPr>
          <a:xfrm>
            <a:off x="1378939" y="5852550"/>
            <a:ext cx="1154695" cy="369332"/>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Partner Solutions</a:t>
            </a:r>
          </a:p>
        </p:txBody>
      </p:sp>
      <p:pic>
        <p:nvPicPr>
          <p:cNvPr id="13" name="Graphic 12" descr="Overlapping square, triangle and plus sign icon for Partner Solutions">
            <a:extLst>
              <a:ext uri="{FF2B5EF4-FFF2-40B4-BE49-F238E27FC236}">
                <a16:creationId xmlns:a16="http://schemas.microsoft.com/office/drawing/2014/main" id="{2E5EF1CA-32E8-1B24-7793-3DCE280DDFC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07105" y="5854218"/>
            <a:ext cx="365995" cy="365995"/>
          </a:xfrm>
          <a:prstGeom prst="rect">
            <a:avLst/>
          </a:prstGeom>
        </p:spPr>
      </p:pic>
      <p:cxnSp>
        <p:nvCxnSpPr>
          <p:cNvPr id="35" name="Straight Connector 34">
            <a:extLst>
              <a:ext uri="{FF2B5EF4-FFF2-40B4-BE49-F238E27FC236}">
                <a16:creationId xmlns:a16="http://schemas.microsoft.com/office/drawing/2014/main" id="{E8D625E0-DFE5-41CE-BDE2-5C67A52CD3EA}"/>
              </a:ext>
              <a:ext uri="{C183D7F6-B498-43B3-948B-1728B52AA6E4}">
                <adec:decorative xmlns:adec="http://schemas.microsoft.com/office/drawing/2017/decorative" val="1"/>
              </a:ext>
            </a:extLst>
          </p:cNvPr>
          <p:cNvCxnSpPr>
            <a:cxnSpLocks/>
          </p:cNvCxnSpPr>
          <p:nvPr/>
        </p:nvCxnSpPr>
        <p:spPr>
          <a:xfrm>
            <a:off x="525969" y="1687192"/>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123E926-C780-AD8E-0D0D-7EE651777A2B}"/>
              </a:ext>
              <a:ext uri="{C183D7F6-B498-43B3-948B-1728B52AA6E4}">
                <adec:decorative xmlns:adec="http://schemas.microsoft.com/office/drawing/2017/decorative" val="1"/>
              </a:ext>
            </a:extLst>
          </p:cNvPr>
          <p:cNvCxnSpPr>
            <a:cxnSpLocks/>
          </p:cNvCxnSpPr>
          <p:nvPr/>
        </p:nvCxnSpPr>
        <p:spPr>
          <a:xfrm>
            <a:off x="525969" y="2251316"/>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E083F00-F9ED-E2F0-70C6-BF49BAA22EB8}"/>
              </a:ext>
              <a:ext uri="{C183D7F6-B498-43B3-948B-1728B52AA6E4}">
                <adec:decorative xmlns:adec="http://schemas.microsoft.com/office/drawing/2017/decorative" val="1"/>
              </a:ext>
            </a:extLst>
          </p:cNvPr>
          <p:cNvCxnSpPr>
            <a:cxnSpLocks/>
          </p:cNvCxnSpPr>
          <p:nvPr/>
        </p:nvCxnSpPr>
        <p:spPr>
          <a:xfrm>
            <a:off x="525969" y="2815440"/>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EEF4841-E9AE-A618-5983-B41C50DCFE1C}"/>
              </a:ext>
              <a:ext uri="{C183D7F6-B498-43B3-948B-1728B52AA6E4}">
                <adec:decorative xmlns:adec="http://schemas.microsoft.com/office/drawing/2017/decorative" val="1"/>
              </a:ext>
            </a:extLst>
          </p:cNvPr>
          <p:cNvCxnSpPr>
            <a:cxnSpLocks/>
          </p:cNvCxnSpPr>
          <p:nvPr/>
        </p:nvCxnSpPr>
        <p:spPr>
          <a:xfrm flipV="1">
            <a:off x="525969" y="3379564"/>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E451729-2A2A-9441-8A62-EA3DE4418494}"/>
              </a:ext>
              <a:ext uri="{C183D7F6-B498-43B3-948B-1728B52AA6E4}">
                <adec:decorative xmlns:adec="http://schemas.microsoft.com/office/drawing/2017/decorative" val="1"/>
              </a:ext>
            </a:extLst>
          </p:cNvPr>
          <p:cNvCxnSpPr>
            <a:cxnSpLocks/>
          </p:cNvCxnSpPr>
          <p:nvPr/>
        </p:nvCxnSpPr>
        <p:spPr>
          <a:xfrm>
            <a:off x="525969" y="3943688"/>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0D90BB2-9C3A-5737-EE69-ADFDF80B839E}"/>
              </a:ext>
              <a:ext uri="{C183D7F6-B498-43B3-948B-1728B52AA6E4}">
                <adec:decorative xmlns:adec="http://schemas.microsoft.com/office/drawing/2017/decorative" val="1"/>
              </a:ext>
            </a:extLst>
          </p:cNvPr>
          <p:cNvCxnSpPr>
            <a:cxnSpLocks/>
          </p:cNvCxnSpPr>
          <p:nvPr/>
        </p:nvCxnSpPr>
        <p:spPr>
          <a:xfrm>
            <a:off x="525969" y="4492423"/>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5F532D3-2C99-9D2F-8643-5F722ABB366F}"/>
              </a:ext>
              <a:ext uri="{C183D7F6-B498-43B3-948B-1728B52AA6E4}">
                <adec:decorative xmlns:adec="http://schemas.microsoft.com/office/drawing/2017/decorative" val="1"/>
              </a:ext>
            </a:extLst>
          </p:cNvPr>
          <p:cNvCxnSpPr>
            <a:cxnSpLocks/>
          </p:cNvCxnSpPr>
          <p:nvPr/>
        </p:nvCxnSpPr>
        <p:spPr>
          <a:xfrm>
            <a:off x="525969" y="5738885"/>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A97C037-3C78-7509-A36A-EBF2042E6E18}"/>
              </a:ext>
              <a:ext uri="{C183D7F6-B498-43B3-948B-1728B52AA6E4}">
                <adec:decorative xmlns:adec="http://schemas.microsoft.com/office/drawing/2017/decorative" val="1"/>
              </a:ext>
            </a:extLst>
          </p:cNvPr>
          <p:cNvCxnSpPr>
            <a:cxnSpLocks/>
          </p:cNvCxnSpPr>
          <p:nvPr/>
        </p:nvCxnSpPr>
        <p:spPr>
          <a:xfrm>
            <a:off x="525969" y="5100189"/>
            <a:ext cx="11140062" cy="0"/>
          </a:xfrm>
          <a:prstGeom prst="line">
            <a:avLst/>
          </a:prstGeom>
          <a:ln>
            <a:solidFill>
              <a:srgbClr val="E7E6E5"/>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45B84DA-D373-550F-6DBB-FFD64C81D464}"/>
              </a:ext>
            </a:extLst>
          </p:cNvPr>
          <p:cNvSpPr txBox="1"/>
          <p:nvPr/>
        </p:nvSpPr>
        <p:spPr>
          <a:xfrm>
            <a:off x="2627221" y="4725950"/>
            <a:ext cx="8543221" cy="169277"/>
          </a:xfrm>
          <a:prstGeom prst="rect">
            <a:avLst/>
          </a:prstGeom>
          <a:noFill/>
        </p:spPr>
        <p:txBody>
          <a:bodyPr wrap="square" lIns="0" tIns="0" rIns="0" bIns="0" anchor="ctr">
            <a:spAutoFit/>
          </a:bodyPr>
          <a:lstStyle/>
          <a:p>
            <a:pPr marL="0" marR="0" lvl="0" indent="0"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cs typeface="Segoe UI"/>
              </a:rPr>
              <a:t>Accelerate the transformation of your data into business value with Industry Solutions in Microsoft Fabric</a:t>
            </a:r>
          </a:p>
        </p:txBody>
      </p:sp>
      <p:pic>
        <p:nvPicPr>
          <p:cNvPr id="149" name="Picture 148">
            <a:extLst>
              <a:ext uri="{FF2B5EF4-FFF2-40B4-BE49-F238E27FC236}">
                <a16:creationId xmlns:a16="http://schemas.microsoft.com/office/drawing/2014/main" id="{ACAA3DA4-4BF5-B322-5A41-0663608016E4}"/>
              </a:ext>
              <a:ext uri="{C183D7F6-B498-43B3-948B-1728B52AA6E4}">
                <adec:decorative xmlns:adec="http://schemas.microsoft.com/office/drawing/2017/decorative" val="1"/>
              </a:ext>
            </a:extLst>
          </p:cNvPr>
          <p:cNvPicPr>
            <a:picLocks noChangeAspect="1"/>
          </p:cNvPicPr>
          <p:nvPr/>
        </p:nvPicPr>
        <p:blipFill>
          <a:blip r:embed="rId17" cstate="screen">
            <a:extLst>
              <a:ext uri="{28A0092B-C50C-407E-A947-70E740481C1C}">
                <a14:useLocalDpi xmlns:a14="http://schemas.microsoft.com/office/drawing/2010/main" val="0"/>
              </a:ext>
            </a:extLst>
          </a:blip>
          <a:stretch>
            <a:fillRect/>
          </a:stretch>
        </p:blipFill>
        <p:spPr>
          <a:xfrm>
            <a:off x="826299" y="4647699"/>
            <a:ext cx="275029" cy="274320"/>
          </a:xfrm>
          <a:prstGeom prst="rect">
            <a:avLst/>
          </a:prstGeom>
        </p:spPr>
      </p:pic>
      <p:sp>
        <p:nvSpPr>
          <p:cNvPr id="52" name="Text Placeholder 2">
            <a:extLst>
              <a:ext uri="{FF2B5EF4-FFF2-40B4-BE49-F238E27FC236}">
                <a16:creationId xmlns:a16="http://schemas.microsoft.com/office/drawing/2014/main" id="{15F451C7-0BFF-F843-A51E-4466A2236D00}"/>
              </a:ext>
            </a:extLst>
          </p:cNvPr>
          <p:cNvSpPr txBox="1">
            <a:spLocks/>
          </p:cNvSpPr>
          <p:nvPr/>
        </p:nvSpPr>
        <p:spPr>
          <a:xfrm>
            <a:off x="1395348" y="4631803"/>
            <a:ext cx="853414" cy="369332"/>
          </a:xfrm>
          <a:prstGeom prst="rect">
            <a:avLst/>
          </a:prstGeom>
        </p:spPr>
        <p:txBody>
          <a:bodyPr wrap="square" lIns="0" tIns="0" rIns="0" bIns="0" anchor="ctr">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100" i="0" u="none" strike="noStrike" cap="none" spc="0" normalizeH="0" baseline="0">
                <a:ln>
                  <a:noFill/>
                </a:ln>
                <a:solidFill>
                  <a:srgbClr val="008575"/>
                </a:solidFill>
                <a:effectLst/>
                <a:uLnTx/>
                <a:uFillTx/>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lgn="l">
              <a:defRPr/>
            </a:pPr>
            <a:r>
              <a:rPr lang="en-US" sz="1200">
                <a:solidFill>
                  <a:schemeClr val="tx1"/>
                </a:solidFill>
                <a:latin typeface="Segoe Sans Display Semibold" pitchFamily="2" charset="0"/>
                <a:cs typeface="Segoe Sans Display Semibold" pitchFamily="2" charset="0"/>
              </a:rPr>
              <a:t>Industry Solutions</a:t>
            </a:r>
          </a:p>
        </p:txBody>
      </p:sp>
      <p:sp>
        <p:nvSpPr>
          <p:cNvPr id="23" name="TextBox 22">
            <a:extLst>
              <a:ext uri="{FF2B5EF4-FFF2-40B4-BE49-F238E27FC236}">
                <a16:creationId xmlns:a16="http://schemas.microsoft.com/office/drawing/2014/main" id="{9D32F8CD-091C-AC35-77ED-5D6249BC97FD}"/>
              </a:ext>
            </a:extLst>
          </p:cNvPr>
          <p:cNvSpPr txBox="1"/>
          <p:nvPr/>
        </p:nvSpPr>
        <p:spPr>
          <a:xfrm>
            <a:off x="2611445" y="5966297"/>
            <a:ext cx="8534623" cy="169277"/>
          </a:xfrm>
          <a:prstGeom prst="rect">
            <a:avLst/>
          </a:prstGeom>
          <a:noFill/>
        </p:spPr>
        <p:txBody>
          <a:bodyPr wrap="square" lIns="0" tIns="0" rIns="0" bIns="0" anchor="ctr">
            <a:spAutoFit/>
          </a:bodyPr>
          <a:lstStyle/>
          <a:p>
            <a:pPr marL="0" marR="0" lvl="0" indent="0"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lang="en-US" sz="1100">
                <a:solidFill>
                  <a:srgbClr val="000000"/>
                </a:solidFill>
                <a:cs typeface="Segoe UI"/>
              </a:rPr>
              <a:t>Leverage Microsoft’s extensive partner ecosystem to drive business growth and profitability</a:t>
            </a:r>
            <a:endParaRPr kumimoji="0" lang="en-US" sz="1100" b="0" i="0" u="none" strike="noStrike" kern="1200" cap="none" spc="0" normalizeH="0" baseline="0" noProof="0">
              <a:ln>
                <a:noFill/>
              </a:ln>
              <a:solidFill>
                <a:srgbClr val="000000"/>
              </a:solidFill>
              <a:effectLst/>
              <a:uLnTx/>
              <a:uFillTx/>
              <a:cs typeface="Segoe UI"/>
            </a:endParaRPr>
          </a:p>
        </p:txBody>
      </p:sp>
    </p:spTree>
    <p:extLst>
      <p:ext uri="{BB962C8B-B14F-4D97-AF65-F5344CB8AC3E}">
        <p14:creationId xmlns:p14="http://schemas.microsoft.com/office/powerpoint/2010/main" val="372317008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94">
            <a:extLst>
              <a:ext uri="{FF2B5EF4-FFF2-40B4-BE49-F238E27FC236}">
                <a16:creationId xmlns:a16="http://schemas.microsoft.com/office/drawing/2014/main" id="{66D81C67-9575-CB48-A011-9A04E3227737}"/>
              </a:ext>
            </a:extLst>
          </p:cNvPr>
          <p:cNvSpPr>
            <a:spLocks noGrp="1"/>
          </p:cNvSpPr>
          <p:nvPr>
            <p:ph type="title"/>
          </p:nvPr>
        </p:nvSpPr>
        <p:spPr>
          <a:xfrm>
            <a:off x="581025" y="365125"/>
            <a:ext cx="11029949" cy="549275"/>
          </a:xfrm>
        </p:spPr>
        <p:txBody>
          <a:bodyPr/>
          <a:lstStyle/>
          <a:p>
            <a:r>
              <a:rPr lang="en-US" noProof="0"/>
              <a:t>Data Warehouse workload</a:t>
            </a:r>
            <a:endParaRPr lang="en-US"/>
          </a:p>
        </p:txBody>
      </p:sp>
      <p:sp>
        <p:nvSpPr>
          <p:cNvPr id="86" name="Text Placeholder 2">
            <a:extLst>
              <a:ext uri="{FF2B5EF4-FFF2-40B4-BE49-F238E27FC236}">
                <a16:creationId xmlns:a16="http://schemas.microsoft.com/office/drawing/2014/main" id="{F18554B4-33E8-4E88-4461-AE97C5384E55}"/>
              </a:ext>
            </a:extLst>
          </p:cNvPr>
          <p:cNvSpPr txBox="1">
            <a:spLocks/>
          </p:cNvSpPr>
          <p:nvPr/>
        </p:nvSpPr>
        <p:spPr>
          <a:xfrm>
            <a:off x="584199" y="1042980"/>
            <a:ext cx="11022583" cy="553998"/>
          </a:xfrm>
          <a:prstGeom prst="rect">
            <a:avLst/>
          </a:prstGeom>
        </p:spPr>
        <p:txBody>
          <a:bodyPr lIns="0" tIns="0" rIns="0" bIns="0">
            <a:spAutoFit/>
          </a:bodyPr>
          <a:lstStyle>
            <a:defPPr>
              <a:defRPr lang="en-US"/>
            </a:defPPr>
            <a:lvl1pPr marR="0" lvl="0" indent="0" defTabSz="932742" fontAlgn="auto">
              <a:lnSpc>
                <a:spcPct val="100000"/>
              </a:lnSpc>
              <a:spcBef>
                <a:spcPts val="0"/>
              </a:spcBef>
              <a:spcAft>
                <a:spcPts val="0"/>
              </a:spcAft>
              <a:buClrTx/>
              <a:buSzPct val="90000"/>
              <a:buFont typeface="Wingdings" panose="05000000000000000000" pitchFamily="2" charset="2"/>
              <a:buNone/>
              <a:tabLst/>
              <a:defRPr spc="0" baseline="0">
                <a:solidFill>
                  <a:schemeClr val="bg1"/>
                </a:solidFill>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Sans Text Semilight"/>
                <a:ea typeface="+mn-ea"/>
                <a:cs typeface="+mn-cs"/>
              </a:rPr>
              <a:t>Achieve data platform goals with ease and cost efficiency, while empowering your developers and engineers of any skill level with accelerated reporting and insights</a:t>
            </a:r>
          </a:p>
        </p:txBody>
      </p:sp>
      <p:sp>
        <p:nvSpPr>
          <p:cNvPr id="77" name="Rounded Rectangle 30">
            <a:extLst>
              <a:ext uri="{FF2B5EF4-FFF2-40B4-BE49-F238E27FC236}">
                <a16:creationId xmlns:a16="http://schemas.microsoft.com/office/drawing/2014/main" id="{6FA477F0-C228-14A3-A37E-4EECD28B55FF}"/>
              </a:ext>
              <a:ext uri="{C183D7F6-B498-43B3-948B-1728B52AA6E4}">
                <adec:decorative xmlns:adec="http://schemas.microsoft.com/office/drawing/2017/decorative" val="1"/>
              </a:ext>
            </a:extLst>
          </p:cNvPr>
          <p:cNvSpPr/>
          <p:nvPr/>
        </p:nvSpPr>
        <p:spPr bwMode="auto">
          <a:xfrm>
            <a:off x="656673" y="3534097"/>
            <a:ext cx="7462265" cy="548556"/>
          </a:xfrm>
          <a:prstGeom prst="roundRect">
            <a:avLst>
              <a:gd name="adj" fmla="val 11187"/>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FF0000"/>
              </a:solidFill>
              <a:effectLst/>
              <a:uLnTx/>
              <a:uFillTx/>
              <a:latin typeface="Segoe Sans Text"/>
              <a:ea typeface="+mn-ea"/>
              <a:cs typeface="Segoe UI" panose="020B0502040204020203" pitchFamily="34" charset="0"/>
            </a:endParaRPr>
          </a:p>
        </p:txBody>
      </p:sp>
      <p:sp>
        <p:nvSpPr>
          <p:cNvPr id="80" name="Text Placeholder 2">
            <a:extLst>
              <a:ext uri="{FF2B5EF4-FFF2-40B4-BE49-F238E27FC236}">
                <a16:creationId xmlns:a16="http://schemas.microsoft.com/office/drawing/2014/main" id="{DF1D8319-8D0B-907D-E24E-E2ED3A454DE2}"/>
              </a:ext>
            </a:extLst>
          </p:cNvPr>
          <p:cNvSpPr txBox="1">
            <a:spLocks/>
          </p:cNvSpPr>
          <p:nvPr/>
        </p:nvSpPr>
        <p:spPr>
          <a:xfrm>
            <a:off x="1270050" y="3723737"/>
            <a:ext cx="1715213" cy="169277"/>
          </a:xfrm>
          <a:prstGeom prst="rect">
            <a:avLst/>
          </a:prstGeom>
        </p:spPr>
        <p:txBody>
          <a:bodyPr wrap="non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Copilot in Microsoft Fabric</a:t>
            </a:r>
          </a:p>
        </p:txBody>
      </p:sp>
      <p:sp>
        <p:nvSpPr>
          <p:cNvPr id="74" name="Rounded Rectangle 30">
            <a:extLst>
              <a:ext uri="{FF2B5EF4-FFF2-40B4-BE49-F238E27FC236}">
                <a16:creationId xmlns:a16="http://schemas.microsoft.com/office/drawing/2014/main" id="{1535AC38-FE3B-8CC8-A68B-3BA9D638238D}"/>
              </a:ext>
              <a:ext uri="{C183D7F6-B498-43B3-948B-1728B52AA6E4}">
                <adec:decorative xmlns:adec="http://schemas.microsoft.com/office/drawing/2017/decorative" val="1"/>
              </a:ext>
            </a:extLst>
          </p:cNvPr>
          <p:cNvSpPr/>
          <p:nvPr/>
        </p:nvSpPr>
        <p:spPr bwMode="auto">
          <a:xfrm>
            <a:off x="656673" y="4162847"/>
            <a:ext cx="7462265" cy="548556"/>
          </a:xfrm>
          <a:prstGeom prst="roundRect">
            <a:avLst>
              <a:gd name="adj" fmla="val 11187"/>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FF0000"/>
              </a:solidFill>
              <a:effectLst/>
              <a:uLnTx/>
              <a:uFillTx/>
              <a:latin typeface="Segoe Sans Text"/>
              <a:ea typeface="+mn-ea"/>
              <a:cs typeface="Segoe UI" panose="020B0502040204020203" pitchFamily="34" charset="0"/>
            </a:endParaRPr>
          </a:p>
        </p:txBody>
      </p:sp>
      <p:pic>
        <p:nvPicPr>
          <p:cNvPr id="75" name="Picture 74" descr="OneLake logo">
            <a:extLst>
              <a:ext uri="{FF2B5EF4-FFF2-40B4-BE49-F238E27FC236}">
                <a16:creationId xmlns:a16="http://schemas.microsoft.com/office/drawing/2014/main" id="{FFC5DDFC-DA50-4B49-1303-8ECEA6BD7771}"/>
              </a:ext>
            </a:extLst>
          </p:cNvPr>
          <p:cNvPicPr>
            <a:picLocks noChangeAspect="1"/>
          </p:cNvPicPr>
          <p:nvPr/>
        </p:nvPicPr>
        <p:blipFill>
          <a:blip r:embed="rId3" cstate="screen">
            <a:extLst>
              <a:ext uri="{28A0092B-C50C-407E-A947-70E740481C1C}">
                <a14:useLocalDpi xmlns:a14="http://schemas.microsoft.com/office/drawing/2010/main" val="0"/>
              </a:ext>
            </a:extLst>
          </a:blip>
          <a:srcRect/>
          <a:stretch/>
        </p:blipFill>
        <p:spPr>
          <a:xfrm>
            <a:off x="810893" y="4294799"/>
            <a:ext cx="281738" cy="284653"/>
          </a:xfrm>
          <a:prstGeom prst="rect">
            <a:avLst/>
          </a:prstGeom>
        </p:spPr>
      </p:pic>
      <p:sp>
        <p:nvSpPr>
          <p:cNvPr id="76" name="Text Placeholder 2">
            <a:extLst>
              <a:ext uri="{FF2B5EF4-FFF2-40B4-BE49-F238E27FC236}">
                <a16:creationId xmlns:a16="http://schemas.microsoft.com/office/drawing/2014/main" id="{EE1C1A9F-6E78-DBBD-8E15-EEAB72C51F24}"/>
              </a:ext>
            </a:extLst>
          </p:cNvPr>
          <p:cNvSpPr txBox="1">
            <a:spLocks/>
          </p:cNvSpPr>
          <p:nvPr/>
        </p:nvSpPr>
        <p:spPr>
          <a:xfrm>
            <a:off x="1270050" y="4352487"/>
            <a:ext cx="553037" cy="169277"/>
          </a:xfrm>
          <a:prstGeom prst="rect">
            <a:avLst/>
          </a:prstGeom>
        </p:spPr>
        <p:txBody>
          <a:bodyPr wrap="non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OneLake</a:t>
            </a:r>
          </a:p>
        </p:txBody>
      </p:sp>
      <p:sp>
        <p:nvSpPr>
          <p:cNvPr id="72" name="Rounded Rectangle 30">
            <a:extLst>
              <a:ext uri="{FF2B5EF4-FFF2-40B4-BE49-F238E27FC236}">
                <a16:creationId xmlns:a16="http://schemas.microsoft.com/office/drawing/2014/main" id="{EF27D220-7E27-C4E2-A749-DB80C9CAC474}"/>
              </a:ext>
              <a:ext uri="{C183D7F6-B498-43B3-948B-1728B52AA6E4}">
                <adec:decorative xmlns:adec="http://schemas.microsoft.com/office/drawing/2017/decorative" val="1"/>
              </a:ext>
            </a:extLst>
          </p:cNvPr>
          <p:cNvSpPr/>
          <p:nvPr/>
        </p:nvSpPr>
        <p:spPr bwMode="auto">
          <a:xfrm>
            <a:off x="656673" y="4791596"/>
            <a:ext cx="7462265" cy="548556"/>
          </a:xfrm>
          <a:prstGeom prst="roundRect">
            <a:avLst>
              <a:gd name="adj" fmla="val 11187"/>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FF0000"/>
              </a:solidFill>
              <a:effectLst/>
              <a:uLnTx/>
              <a:uFillTx/>
              <a:latin typeface="Segoe Sans Text"/>
              <a:ea typeface="+mn-ea"/>
              <a:cs typeface="Segoe UI" panose="020B0502040204020203" pitchFamily="34" charset="0"/>
            </a:endParaRPr>
          </a:p>
        </p:txBody>
      </p:sp>
      <p:pic>
        <p:nvPicPr>
          <p:cNvPr id="81" name="Picture 80">
            <a:extLst>
              <a:ext uri="{FF2B5EF4-FFF2-40B4-BE49-F238E27FC236}">
                <a16:creationId xmlns:a16="http://schemas.microsoft.com/office/drawing/2014/main" id="{8D3EFDA0-0CB5-1E78-A3C4-F9DA28BAF77D}"/>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810893" y="4923548"/>
            <a:ext cx="281738" cy="284653"/>
          </a:xfrm>
          <a:prstGeom prst="rect">
            <a:avLst/>
          </a:prstGeom>
        </p:spPr>
      </p:pic>
      <p:sp>
        <p:nvSpPr>
          <p:cNvPr id="73" name="Text Placeholder 2">
            <a:extLst>
              <a:ext uri="{FF2B5EF4-FFF2-40B4-BE49-F238E27FC236}">
                <a16:creationId xmlns:a16="http://schemas.microsoft.com/office/drawing/2014/main" id="{460CA0BA-83A4-3F15-D582-A84327E5F28E}"/>
              </a:ext>
            </a:extLst>
          </p:cNvPr>
          <p:cNvSpPr txBox="1">
            <a:spLocks/>
          </p:cNvSpPr>
          <p:nvPr/>
        </p:nvSpPr>
        <p:spPr>
          <a:xfrm>
            <a:off x="1270050" y="4981236"/>
            <a:ext cx="3491340" cy="169277"/>
          </a:xfrm>
          <a:prstGeom prst="rect">
            <a:avLst/>
          </a:prstGeom>
        </p:spPr>
        <p:txBody>
          <a:bodyPr wrap="non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Security, Governance and Administration with Purview</a:t>
            </a:r>
          </a:p>
        </p:txBody>
      </p:sp>
      <p:grpSp>
        <p:nvGrpSpPr>
          <p:cNvPr id="4" name="Group 3">
            <a:extLst>
              <a:ext uri="{FF2B5EF4-FFF2-40B4-BE49-F238E27FC236}">
                <a16:creationId xmlns:a16="http://schemas.microsoft.com/office/drawing/2014/main" id="{6815BECE-DC33-F1E5-496A-3D6F6DE4586B}"/>
              </a:ext>
              <a:ext uri="{C183D7F6-B498-43B3-948B-1728B52AA6E4}">
                <adec:decorative xmlns:adec="http://schemas.microsoft.com/office/drawing/2017/decorative" val="1"/>
              </a:ext>
            </a:extLst>
          </p:cNvPr>
          <p:cNvGrpSpPr/>
          <p:nvPr/>
        </p:nvGrpSpPr>
        <p:grpSpPr>
          <a:xfrm>
            <a:off x="8366223" y="2477427"/>
            <a:ext cx="3235721" cy="369332"/>
            <a:chOff x="8366223" y="2477427"/>
            <a:chExt cx="3235721" cy="369332"/>
          </a:xfrm>
        </p:grpSpPr>
        <p:sp>
          <p:nvSpPr>
            <p:cNvPr id="47" name="PageRight_E761">
              <a:extLst>
                <a:ext uri="{FF2B5EF4-FFF2-40B4-BE49-F238E27FC236}">
                  <a16:creationId xmlns:a16="http://schemas.microsoft.com/office/drawing/2014/main" id="{AEC30DBA-69BE-DE0A-FEA5-0FDBF319FB9F}"/>
                </a:ext>
                <a:ext uri="{C183D7F6-B498-43B3-948B-1728B52AA6E4}">
                  <adec:decorative xmlns:adec="http://schemas.microsoft.com/office/drawing/2017/decorative" val="1"/>
                </a:ext>
              </a:extLst>
            </p:cNvPr>
            <p:cNvSpPr>
              <a:spLocks noChangeAspect="1" noEditPoints="1"/>
            </p:cNvSpPr>
            <p:nvPr/>
          </p:nvSpPr>
          <p:spPr bwMode="auto">
            <a:xfrm>
              <a:off x="8366223" y="2477427"/>
              <a:ext cx="251826" cy="252011"/>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rgbClr val="1B7864"/>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Sans Text"/>
                <a:ea typeface="+mn-ea"/>
                <a:cs typeface="+mn-cs"/>
              </a:endParaRPr>
            </a:p>
          </p:txBody>
        </p:sp>
        <p:sp>
          <p:nvSpPr>
            <p:cNvPr id="48" name="TextBox 47">
              <a:extLst>
                <a:ext uri="{FF2B5EF4-FFF2-40B4-BE49-F238E27FC236}">
                  <a16:creationId xmlns:a16="http://schemas.microsoft.com/office/drawing/2014/main" id="{974C1446-ACC5-C8ED-C1B5-D0131B175740}"/>
                </a:ext>
              </a:extLst>
            </p:cNvPr>
            <p:cNvSpPr txBox="1"/>
            <p:nvPr/>
          </p:nvSpPr>
          <p:spPr>
            <a:xfrm>
              <a:off x="8772002" y="2477427"/>
              <a:ext cx="2829942" cy="369332"/>
            </a:xfrm>
            <a:prstGeom prst="rect">
              <a:avLst/>
            </a:prstGeom>
            <a:noFill/>
          </p:spPr>
          <p:txBody>
            <a:bodyPr wrap="square" lIns="0" tIns="0" rIns="0" bIns="0" rtlCol="0">
              <a:spAutoFit/>
            </a:bodyPr>
            <a:lstStyle>
              <a:defPPr>
                <a:defRPr lang="en-US"/>
              </a:defPPr>
              <a:lvl1pPr marL="342900" indent="-342900">
                <a:buFont typeface="Arial" panose="020B0604020202020204" pitchFamily="34" charset="0"/>
                <a:buChar char="•"/>
                <a:defRPr sz="16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Industry-leading SQL performance and scale</a:t>
              </a:r>
            </a:p>
          </p:txBody>
        </p:sp>
      </p:grpSp>
      <p:grpSp>
        <p:nvGrpSpPr>
          <p:cNvPr id="15" name="Group 14">
            <a:extLst>
              <a:ext uri="{FF2B5EF4-FFF2-40B4-BE49-F238E27FC236}">
                <a16:creationId xmlns:a16="http://schemas.microsoft.com/office/drawing/2014/main" id="{79FF4A78-9A57-402F-18ED-46F558F1DF65}"/>
              </a:ext>
              <a:ext uri="{C183D7F6-B498-43B3-948B-1728B52AA6E4}">
                <adec:decorative xmlns:adec="http://schemas.microsoft.com/office/drawing/2017/decorative" val="1"/>
              </a:ext>
            </a:extLst>
          </p:cNvPr>
          <p:cNvGrpSpPr/>
          <p:nvPr/>
        </p:nvGrpSpPr>
        <p:grpSpPr>
          <a:xfrm>
            <a:off x="8366223" y="3087510"/>
            <a:ext cx="3235721" cy="369332"/>
            <a:chOff x="8366223" y="3075682"/>
            <a:chExt cx="3235721" cy="369332"/>
          </a:xfrm>
        </p:grpSpPr>
        <p:sp>
          <p:nvSpPr>
            <p:cNvPr id="12" name="PageRight_E761">
              <a:extLst>
                <a:ext uri="{FF2B5EF4-FFF2-40B4-BE49-F238E27FC236}">
                  <a16:creationId xmlns:a16="http://schemas.microsoft.com/office/drawing/2014/main" id="{8C716F58-F423-7C10-B90F-0DAFE8C42461}"/>
                </a:ext>
                <a:ext uri="{C183D7F6-B498-43B3-948B-1728B52AA6E4}">
                  <adec:decorative xmlns:adec="http://schemas.microsoft.com/office/drawing/2017/decorative" val="1"/>
                </a:ext>
              </a:extLst>
            </p:cNvPr>
            <p:cNvSpPr>
              <a:spLocks noChangeAspect="1" noEditPoints="1"/>
            </p:cNvSpPr>
            <p:nvPr/>
          </p:nvSpPr>
          <p:spPr bwMode="auto">
            <a:xfrm>
              <a:off x="8366223" y="3075682"/>
              <a:ext cx="251826" cy="252011"/>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rgbClr val="1B7864"/>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Sans Text"/>
                <a:ea typeface="+mn-ea"/>
                <a:cs typeface="+mn-cs"/>
              </a:endParaRPr>
            </a:p>
          </p:txBody>
        </p:sp>
        <p:sp>
          <p:nvSpPr>
            <p:cNvPr id="13" name="TextBox 12">
              <a:extLst>
                <a:ext uri="{FF2B5EF4-FFF2-40B4-BE49-F238E27FC236}">
                  <a16:creationId xmlns:a16="http://schemas.microsoft.com/office/drawing/2014/main" id="{B5B1FC64-41CA-BEA8-7273-8032748F8BF5}"/>
                </a:ext>
              </a:extLst>
            </p:cNvPr>
            <p:cNvSpPr txBox="1"/>
            <p:nvPr/>
          </p:nvSpPr>
          <p:spPr>
            <a:xfrm>
              <a:off x="8772002" y="3075682"/>
              <a:ext cx="2829942" cy="36933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Fully separate compute storage that can independently scale</a:t>
              </a:r>
            </a:p>
          </p:txBody>
        </p:sp>
      </p:grpSp>
      <p:grpSp>
        <p:nvGrpSpPr>
          <p:cNvPr id="16" name="Group 15">
            <a:extLst>
              <a:ext uri="{FF2B5EF4-FFF2-40B4-BE49-F238E27FC236}">
                <a16:creationId xmlns:a16="http://schemas.microsoft.com/office/drawing/2014/main" id="{73A73F71-2039-02A0-4C96-C250A7CFE917}"/>
              </a:ext>
              <a:ext uri="{C183D7F6-B498-43B3-948B-1728B52AA6E4}">
                <adec:decorative xmlns:adec="http://schemas.microsoft.com/office/drawing/2017/decorative" val="1"/>
              </a:ext>
            </a:extLst>
          </p:cNvPr>
          <p:cNvGrpSpPr/>
          <p:nvPr/>
        </p:nvGrpSpPr>
        <p:grpSpPr>
          <a:xfrm>
            <a:off x="8366223" y="3697593"/>
            <a:ext cx="3014884" cy="369332"/>
            <a:chOff x="8366223" y="3689707"/>
            <a:chExt cx="3014884" cy="369332"/>
          </a:xfrm>
        </p:grpSpPr>
        <p:sp>
          <p:nvSpPr>
            <p:cNvPr id="10" name="PageRight_E761">
              <a:extLst>
                <a:ext uri="{FF2B5EF4-FFF2-40B4-BE49-F238E27FC236}">
                  <a16:creationId xmlns:a16="http://schemas.microsoft.com/office/drawing/2014/main" id="{F719E5D0-6BAB-DB22-4EE1-C55E5D5CE906}"/>
                </a:ext>
                <a:ext uri="{C183D7F6-B498-43B3-948B-1728B52AA6E4}">
                  <adec:decorative xmlns:adec="http://schemas.microsoft.com/office/drawing/2017/decorative" val="1"/>
                </a:ext>
              </a:extLst>
            </p:cNvPr>
            <p:cNvSpPr>
              <a:spLocks noChangeAspect="1" noEditPoints="1"/>
            </p:cNvSpPr>
            <p:nvPr/>
          </p:nvSpPr>
          <p:spPr bwMode="auto">
            <a:xfrm>
              <a:off x="8366223" y="3689707"/>
              <a:ext cx="251826" cy="252011"/>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rgbClr val="1B7864"/>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Sans Text"/>
                <a:ea typeface="+mn-ea"/>
                <a:cs typeface="+mn-cs"/>
              </a:endParaRPr>
            </a:p>
          </p:txBody>
        </p:sp>
        <p:sp>
          <p:nvSpPr>
            <p:cNvPr id="11" name="TextBox 10">
              <a:extLst>
                <a:ext uri="{FF2B5EF4-FFF2-40B4-BE49-F238E27FC236}">
                  <a16:creationId xmlns:a16="http://schemas.microsoft.com/office/drawing/2014/main" id="{B2792874-B9B2-308B-44C6-54D459E5DABF}"/>
                </a:ext>
              </a:extLst>
            </p:cNvPr>
            <p:cNvSpPr txBox="1"/>
            <p:nvPr/>
          </p:nvSpPr>
          <p:spPr>
            <a:xfrm>
              <a:off x="8772002" y="3689707"/>
              <a:ext cx="2609105" cy="36933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Natively store data in open Parquet/Delta Lake </a:t>
              </a:r>
            </a:p>
          </p:txBody>
        </p:sp>
      </p:grpSp>
      <p:grpSp>
        <p:nvGrpSpPr>
          <p:cNvPr id="17" name="Group 16">
            <a:extLst>
              <a:ext uri="{FF2B5EF4-FFF2-40B4-BE49-F238E27FC236}">
                <a16:creationId xmlns:a16="http://schemas.microsoft.com/office/drawing/2014/main" id="{EE2E23BF-3A5F-F580-724D-41AF0BFECD72}"/>
              </a:ext>
              <a:ext uri="{C183D7F6-B498-43B3-948B-1728B52AA6E4}">
                <adec:decorative xmlns:adec="http://schemas.microsoft.com/office/drawing/2017/decorative" val="1"/>
              </a:ext>
            </a:extLst>
          </p:cNvPr>
          <p:cNvGrpSpPr/>
          <p:nvPr/>
        </p:nvGrpSpPr>
        <p:grpSpPr>
          <a:xfrm>
            <a:off x="8366223" y="4307676"/>
            <a:ext cx="3235721" cy="369332"/>
            <a:chOff x="8366223" y="4303732"/>
            <a:chExt cx="3235721" cy="369332"/>
          </a:xfrm>
        </p:grpSpPr>
        <p:sp>
          <p:nvSpPr>
            <p:cNvPr id="8" name="PageRight_E761">
              <a:extLst>
                <a:ext uri="{FF2B5EF4-FFF2-40B4-BE49-F238E27FC236}">
                  <a16:creationId xmlns:a16="http://schemas.microsoft.com/office/drawing/2014/main" id="{FD87AF3D-3842-CACE-607E-8F81C5CF38B7}"/>
                </a:ext>
                <a:ext uri="{C183D7F6-B498-43B3-948B-1728B52AA6E4}">
                  <adec:decorative xmlns:adec="http://schemas.microsoft.com/office/drawing/2017/decorative" val="1"/>
                </a:ext>
              </a:extLst>
            </p:cNvPr>
            <p:cNvSpPr>
              <a:spLocks noChangeAspect="1" noEditPoints="1"/>
            </p:cNvSpPr>
            <p:nvPr/>
          </p:nvSpPr>
          <p:spPr bwMode="auto">
            <a:xfrm>
              <a:off x="8366223" y="4303732"/>
              <a:ext cx="251826" cy="252011"/>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rgbClr val="1B7864"/>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Sans Text"/>
                <a:ea typeface="+mn-ea"/>
                <a:cs typeface="+mn-cs"/>
              </a:endParaRPr>
            </a:p>
          </p:txBody>
        </p:sp>
        <p:sp>
          <p:nvSpPr>
            <p:cNvPr id="9" name="TextBox 8">
              <a:extLst>
                <a:ext uri="{FF2B5EF4-FFF2-40B4-BE49-F238E27FC236}">
                  <a16:creationId xmlns:a16="http://schemas.microsoft.com/office/drawing/2014/main" id="{9DCF5BA3-087A-543B-E83F-BDAD35244D48}"/>
                </a:ext>
              </a:extLst>
            </p:cNvPr>
            <p:cNvSpPr txBox="1"/>
            <p:nvPr/>
          </p:nvSpPr>
          <p:spPr>
            <a:xfrm>
              <a:off x="8772002" y="4303732"/>
              <a:ext cx="2829942" cy="36933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TLS 1.2 encryption protects connections for granular security across data platform</a:t>
              </a:r>
            </a:p>
          </p:txBody>
        </p:sp>
      </p:grpSp>
      <p:grpSp>
        <p:nvGrpSpPr>
          <p:cNvPr id="18" name="Group 17">
            <a:extLst>
              <a:ext uri="{FF2B5EF4-FFF2-40B4-BE49-F238E27FC236}">
                <a16:creationId xmlns:a16="http://schemas.microsoft.com/office/drawing/2014/main" id="{08987FB2-B1A1-6A04-9C8E-AF658953E59B}"/>
              </a:ext>
              <a:ext uri="{C183D7F6-B498-43B3-948B-1728B52AA6E4}">
                <adec:decorative xmlns:adec="http://schemas.microsoft.com/office/drawing/2017/decorative" val="1"/>
              </a:ext>
            </a:extLst>
          </p:cNvPr>
          <p:cNvGrpSpPr/>
          <p:nvPr/>
        </p:nvGrpSpPr>
        <p:grpSpPr>
          <a:xfrm>
            <a:off x="8366223" y="4917757"/>
            <a:ext cx="3235721" cy="369332"/>
            <a:chOff x="8366223" y="4917757"/>
            <a:chExt cx="3235721" cy="369332"/>
          </a:xfrm>
        </p:grpSpPr>
        <p:sp>
          <p:nvSpPr>
            <p:cNvPr id="5" name="PageRight_E761">
              <a:extLst>
                <a:ext uri="{FF2B5EF4-FFF2-40B4-BE49-F238E27FC236}">
                  <a16:creationId xmlns:a16="http://schemas.microsoft.com/office/drawing/2014/main" id="{001B55E9-D6E8-6FD5-2104-B5CF9659AE5E}"/>
                </a:ext>
                <a:ext uri="{C183D7F6-B498-43B3-948B-1728B52AA6E4}">
                  <adec:decorative xmlns:adec="http://schemas.microsoft.com/office/drawing/2017/decorative" val="1"/>
                </a:ext>
              </a:extLst>
            </p:cNvPr>
            <p:cNvSpPr>
              <a:spLocks noChangeAspect="1" noEditPoints="1"/>
            </p:cNvSpPr>
            <p:nvPr/>
          </p:nvSpPr>
          <p:spPr bwMode="auto">
            <a:xfrm>
              <a:off x="8366223" y="4917757"/>
              <a:ext cx="251826" cy="252011"/>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rgbClr val="1B7864"/>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Sans Text"/>
                <a:ea typeface="+mn-ea"/>
                <a:cs typeface="+mn-cs"/>
              </a:endParaRPr>
            </a:p>
          </p:txBody>
        </p:sp>
        <p:sp>
          <p:nvSpPr>
            <p:cNvPr id="7" name="TextBox 6">
              <a:extLst>
                <a:ext uri="{FF2B5EF4-FFF2-40B4-BE49-F238E27FC236}">
                  <a16:creationId xmlns:a16="http://schemas.microsoft.com/office/drawing/2014/main" id="{D7A40D34-1FBA-40CC-15F6-BE5D45D5C645}"/>
                </a:ext>
              </a:extLst>
            </p:cNvPr>
            <p:cNvSpPr txBox="1"/>
            <p:nvPr/>
          </p:nvSpPr>
          <p:spPr>
            <a:xfrm>
              <a:off x="8772002" y="4917757"/>
              <a:ext cx="2829942" cy="369332"/>
            </a:xfrm>
            <a:prstGeom prst="rect">
              <a:avLst/>
            </a:prstGeom>
            <a:noFill/>
          </p:spPr>
          <p:txBody>
            <a:bodyPr wrap="square" lIns="0" tIns="0" rIns="0" bIns="0" rtlCol="0">
              <a:spAutoFit/>
            </a:bodyPr>
            <a:lstStyle>
              <a:defPPr>
                <a:defRPr lang="en-US"/>
              </a:defPPr>
              <a:lvl1pPr marL="342900" indent="-342900">
                <a:buFont typeface="Arial" panose="020B0604020202020204" pitchFamily="34" charset="0"/>
                <a:buChar char="•"/>
                <a:defRPr sz="16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24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Cross-database querying for fast insights and zero data duplication</a:t>
              </a:r>
            </a:p>
          </p:txBody>
        </p:sp>
      </p:grpSp>
      <p:sp>
        <p:nvSpPr>
          <p:cNvPr id="3" name="Slide Number Placeholder 2">
            <a:extLst>
              <a:ext uri="{FF2B5EF4-FFF2-40B4-BE49-F238E27FC236}">
                <a16:creationId xmlns:a16="http://schemas.microsoft.com/office/drawing/2014/main" id="{3CB589AC-9FBA-0A24-95D2-0A5AD3ABD968}"/>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225B61">
                    <a:tint val="75000"/>
                  </a:srgbClr>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225B61">
                  <a:tint val="75000"/>
                </a:srgbClr>
              </a:solidFill>
              <a:effectLst/>
              <a:uLnTx/>
              <a:uFillTx/>
              <a:latin typeface="Segoe Sans Small Semilight" pitchFamily="2" charset="0"/>
              <a:ea typeface="+mn-ea"/>
              <a:cs typeface="Segoe Sans Small Semilight" pitchFamily="2" charset="0"/>
            </a:endParaRPr>
          </a:p>
        </p:txBody>
      </p:sp>
      <p:sp>
        <p:nvSpPr>
          <p:cNvPr id="2" name="Footer Placeholder 1">
            <a:extLst>
              <a:ext uri="{FF2B5EF4-FFF2-40B4-BE49-F238E27FC236}">
                <a16:creationId xmlns:a16="http://schemas.microsoft.com/office/drawing/2014/main" id="{7CD32864-991A-3A94-ABD0-31AE1900881F}"/>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225B61">
                    <a:tint val="75000"/>
                  </a:srgbClr>
                </a:solidFill>
                <a:effectLst/>
                <a:uLnTx/>
                <a:uFillTx/>
                <a:latin typeface="Segoe Sans Small Semilight" pitchFamily="2" charset="0"/>
                <a:ea typeface="+mn-ea"/>
                <a:cs typeface="Segoe Sans Small Semilight" pitchFamily="2" charset="0"/>
              </a:rPr>
              <a:t>Microsoft Fabric</a:t>
            </a:r>
          </a:p>
        </p:txBody>
      </p:sp>
      <p:pic>
        <p:nvPicPr>
          <p:cNvPr id="14" name="Picture 13">
            <a:extLst>
              <a:ext uri="{FF2B5EF4-FFF2-40B4-BE49-F238E27FC236}">
                <a16:creationId xmlns:a16="http://schemas.microsoft.com/office/drawing/2014/main" id="{A3B3D02B-381A-CF27-A6FE-67BFFB12091B}"/>
              </a:ext>
              <a:ext uri="{C183D7F6-B498-43B3-948B-1728B52AA6E4}">
                <adec:decorative xmlns:adec="http://schemas.microsoft.com/office/drawing/2017/decorative" val="1"/>
              </a:ext>
            </a:extLst>
          </p:cNvPr>
          <p:cNvPicPr>
            <a:picLocks noChangeAspect="1"/>
          </p:cNvPicPr>
          <p:nvPr/>
        </p:nvPicPr>
        <p:blipFill rotWithShape="1">
          <a:blip r:embed="rId5" cstate="screen">
            <a:extLst>
              <a:ext uri="{28A0092B-C50C-407E-A947-70E740481C1C}">
                <a14:useLocalDpi xmlns:a14="http://schemas.microsoft.com/office/drawing/2010/main" val="0"/>
              </a:ext>
            </a:extLst>
          </a:blip>
          <a:srcRect/>
          <a:stretch/>
        </p:blipFill>
        <p:spPr>
          <a:xfrm>
            <a:off x="805257" y="3699077"/>
            <a:ext cx="287374" cy="251625"/>
          </a:xfrm>
          <a:prstGeom prst="rect">
            <a:avLst/>
          </a:prstGeom>
        </p:spPr>
      </p:pic>
      <p:sp>
        <p:nvSpPr>
          <p:cNvPr id="99" name="Rounded Rectangle 6" descr="Highlighting">
            <a:extLst>
              <a:ext uri="{FF2B5EF4-FFF2-40B4-BE49-F238E27FC236}">
                <a16:creationId xmlns:a16="http://schemas.microsoft.com/office/drawing/2014/main" id="{C38C7A41-2ABF-B6C1-6776-1F2DD2C295F5}"/>
              </a:ext>
              <a:ext uri="{C183D7F6-B498-43B3-948B-1728B52AA6E4}">
                <adec:decorative xmlns:adec="http://schemas.microsoft.com/office/drawing/2017/decorative" val="0"/>
              </a:ext>
            </a:extLst>
          </p:cNvPr>
          <p:cNvSpPr/>
          <p:nvPr/>
        </p:nvSpPr>
        <p:spPr bwMode="auto">
          <a:xfrm>
            <a:off x="656673" y="2506828"/>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algn="ctr" defTabSz="914367"/>
            <a:endParaRPr lang="en-US" sz="1000" kern="0" err="1">
              <a:solidFill>
                <a:srgbClr val="000000">
                  <a:lumMod val="75000"/>
                  <a:lumOff val="25000"/>
                </a:srgbClr>
              </a:solidFill>
              <a:latin typeface="Segoe Sans Text"/>
              <a:cs typeface="Segoe UI" panose="020B0502040204020203" pitchFamily="34" charset="0"/>
            </a:endParaRPr>
          </a:p>
        </p:txBody>
      </p:sp>
      <p:pic>
        <p:nvPicPr>
          <p:cNvPr id="100" name="Picture 99">
            <a:extLst>
              <a:ext uri="{FF2B5EF4-FFF2-40B4-BE49-F238E27FC236}">
                <a16:creationId xmlns:a16="http://schemas.microsoft.com/office/drawing/2014/main" id="{705B1D99-66D8-F2C4-8EFD-CED93171E59C}"/>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val="0"/>
              </a:ext>
            </a:extLst>
          </a:blip>
          <a:srcRect/>
          <a:stretch/>
        </p:blipFill>
        <p:spPr>
          <a:xfrm>
            <a:off x="871230" y="2641040"/>
            <a:ext cx="275421" cy="262945"/>
          </a:xfrm>
          <a:prstGeom prst="rect">
            <a:avLst/>
          </a:prstGeom>
        </p:spPr>
      </p:pic>
      <p:sp>
        <p:nvSpPr>
          <p:cNvPr id="101" name="Text Placeholder 2">
            <a:extLst>
              <a:ext uri="{FF2B5EF4-FFF2-40B4-BE49-F238E27FC236}">
                <a16:creationId xmlns:a16="http://schemas.microsoft.com/office/drawing/2014/main" id="{7A7DFCED-073C-C2AD-24EF-0151CF5022F0}"/>
              </a:ext>
            </a:extLst>
          </p:cNvPr>
          <p:cNvSpPr txBox="1">
            <a:spLocks/>
          </p:cNvSpPr>
          <p:nvPr/>
        </p:nvSpPr>
        <p:spPr>
          <a:xfrm>
            <a:off x="682289" y="3009339"/>
            <a:ext cx="653302"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 Factory</a:t>
            </a:r>
          </a:p>
        </p:txBody>
      </p:sp>
      <p:sp>
        <p:nvSpPr>
          <p:cNvPr id="102" name="Rounded Rectangle 14">
            <a:extLst>
              <a:ext uri="{FF2B5EF4-FFF2-40B4-BE49-F238E27FC236}">
                <a16:creationId xmlns:a16="http://schemas.microsoft.com/office/drawing/2014/main" id="{566F4D4E-AB47-0659-FEFB-A0220E0A8030}"/>
              </a:ext>
              <a:ext uri="{C183D7F6-B498-43B3-948B-1728B52AA6E4}">
                <adec:decorative xmlns:adec="http://schemas.microsoft.com/office/drawing/2017/decorative" val="1"/>
              </a:ext>
            </a:extLst>
          </p:cNvPr>
          <p:cNvSpPr/>
          <p:nvPr/>
        </p:nvSpPr>
        <p:spPr bwMode="auto">
          <a:xfrm>
            <a:off x="3253537" y="2518066"/>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algn="ctr" defTabSz="914367"/>
            <a:endParaRPr lang="en-US" sz="1000" kern="0" err="1">
              <a:solidFill>
                <a:srgbClr val="000000">
                  <a:lumMod val="75000"/>
                  <a:lumOff val="25000"/>
                </a:srgbClr>
              </a:solidFill>
              <a:latin typeface="Segoe Sans Text"/>
              <a:cs typeface="Segoe UI" panose="020B0502040204020203" pitchFamily="34" charset="0"/>
            </a:endParaRPr>
          </a:p>
        </p:txBody>
      </p:sp>
      <p:pic>
        <p:nvPicPr>
          <p:cNvPr id="103" name="Picture 102">
            <a:extLst>
              <a:ext uri="{FF2B5EF4-FFF2-40B4-BE49-F238E27FC236}">
                <a16:creationId xmlns:a16="http://schemas.microsoft.com/office/drawing/2014/main" id="{9AA750A9-E9AD-8CF1-EF0A-6ACFF501826B}"/>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val="0"/>
              </a:ext>
            </a:extLst>
          </a:blip>
          <a:srcRect/>
          <a:stretch/>
        </p:blipFill>
        <p:spPr>
          <a:xfrm>
            <a:off x="3469900" y="2649926"/>
            <a:ext cx="287940" cy="274897"/>
          </a:xfrm>
          <a:prstGeom prst="rect">
            <a:avLst/>
          </a:prstGeom>
        </p:spPr>
      </p:pic>
      <p:sp>
        <p:nvSpPr>
          <p:cNvPr id="104" name="Text Placeholder 2">
            <a:extLst>
              <a:ext uri="{FF2B5EF4-FFF2-40B4-BE49-F238E27FC236}">
                <a16:creationId xmlns:a16="http://schemas.microsoft.com/office/drawing/2014/main" id="{AA8A9465-1238-99B6-69F3-1885B72337A9}"/>
              </a:ext>
            </a:extLst>
          </p:cNvPr>
          <p:cNvSpPr txBox="1">
            <a:spLocks/>
          </p:cNvSpPr>
          <p:nvPr/>
        </p:nvSpPr>
        <p:spPr>
          <a:xfrm>
            <a:off x="3271831" y="3024201"/>
            <a:ext cx="684078"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 </a:t>
            </a:r>
            <a:b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Engineering</a:t>
            </a:r>
          </a:p>
        </p:txBody>
      </p:sp>
      <p:sp>
        <p:nvSpPr>
          <p:cNvPr id="105" name="Rounded Rectangle 18">
            <a:extLst>
              <a:ext uri="{FF2B5EF4-FFF2-40B4-BE49-F238E27FC236}">
                <a16:creationId xmlns:a16="http://schemas.microsoft.com/office/drawing/2014/main" id="{CA01A96A-5C43-21C1-8AB3-B9A9EF220935}"/>
              </a:ext>
              <a:ext uri="{C183D7F6-B498-43B3-948B-1728B52AA6E4}">
                <adec:decorative xmlns:adec="http://schemas.microsoft.com/office/drawing/2017/decorative" val="1"/>
              </a:ext>
            </a:extLst>
          </p:cNvPr>
          <p:cNvSpPr/>
          <p:nvPr/>
        </p:nvSpPr>
        <p:spPr bwMode="auto">
          <a:xfrm>
            <a:off x="4095016" y="2518066"/>
            <a:ext cx="718913" cy="927145"/>
          </a:xfrm>
          <a:prstGeom prst="roundRect">
            <a:avLst>
              <a:gd name="adj" fmla="val 5399"/>
            </a:avLst>
          </a:prstGeom>
          <a:solidFill>
            <a:srgbClr val="FFFFFF">
              <a:alpha val="94098"/>
            </a:srgbClr>
          </a:solidFill>
          <a:ln w="19050" cap="flat" cmpd="sng" algn="ctr">
            <a:gradFill flip="none" rotWithShape="1">
              <a:gsLst>
                <a:gs pos="0">
                  <a:schemeClr val="accent3"/>
                </a:gs>
                <a:gs pos="100000">
                  <a:schemeClr val="bg2"/>
                </a:gs>
              </a:gsLst>
              <a:lin ang="13500000" scaled="1"/>
              <a:tileRect/>
            </a:grad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algn="ctr" defTabSz="914367"/>
            <a:endParaRPr lang="en-US" sz="1000" kern="0" err="1">
              <a:solidFill>
                <a:srgbClr val="225B61"/>
              </a:solidFill>
              <a:latin typeface="Segoe Sans Text"/>
              <a:cs typeface="Segoe UI" panose="020B0502040204020203" pitchFamily="34" charset="0"/>
            </a:endParaRPr>
          </a:p>
        </p:txBody>
      </p:sp>
      <p:pic>
        <p:nvPicPr>
          <p:cNvPr id="106" name="Picture 105">
            <a:extLst>
              <a:ext uri="{FF2B5EF4-FFF2-40B4-BE49-F238E27FC236}">
                <a16:creationId xmlns:a16="http://schemas.microsoft.com/office/drawing/2014/main" id="{EBEF2C04-E65A-F392-876C-E03C87FD8604}"/>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val="0"/>
              </a:ext>
            </a:extLst>
          </a:blip>
          <a:srcRect/>
          <a:stretch/>
        </p:blipFill>
        <p:spPr>
          <a:xfrm>
            <a:off x="4322063" y="2661255"/>
            <a:ext cx="265923" cy="253878"/>
          </a:xfrm>
          <a:prstGeom prst="rect">
            <a:avLst/>
          </a:prstGeom>
        </p:spPr>
      </p:pic>
      <p:sp>
        <p:nvSpPr>
          <p:cNvPr id="107" name="Text Placeholder 2">
            <a:extLst>
              <a:ext uri="{FF2B5EF4-FFF2-40B4-BE49-F238E27FC236}">
                <a16:creationId xmlns:a16="http://schemas.microsoft.com/office/drawing/2014/main" id="{DC64E1BC-4CF9-4229-E0F7-36138F74F6FD}"/>
              </a:ext>
            </a:extLst>
          </p:cNvPr>
          <p:cNvSpPr txBox="1">
            <a:spLocks/>
          </p:cNvSpPr>
          <p:nvPr/>
        </p:nvSpPr>
        <p:spPr>
          <a:xfrm>
            <a:off x="4117453" y="3025021"/>
            <a:ext cx="675144"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 </a:t>
            </a:r>
            <a:b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Warehouse</a:t>
            </a:r>
          </a:p>
        </p:txBody>
      </p:sp>
      <p:sp>
        <p:nvSpPr>
          <p:cNvPr id="108" name="Rounded Rectangle 22">
            <a:extLst>
              <a:ext uri="{FF2B5EF4-FFF2-40B4-BE49-F238E27FC236}">
                <a16:creationId xmlns:a16="http://schemas.microsoft.com/office/drawing/2014/main" id="{A96B6BCE-B238-193D-010C-0FFD3D157B3D}"/>
              </a:ext>
              <a:ext uri="{C183D7F6-B498-43B3-948B-1728B52AA6E4}">
                <adec:decorative xmlns:adec="http://schemas.microsoft.com/office/drawing/2017/decorative" val="1"/>
              </a:ext>
            </a:extLst>
          </p:cNvPr>
          <p:cNvSpPr/>
          <p:nvPr/>
        </p:nvSpPr>
        <p:spPr bwMode="auto">
          <a:xfrm>
            <a:off x="4936495" y="2518066"/>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lumMod val="75000"/>
                  <a:lumOff val="25000"/>
                </a:srgbClr>
              </a:solidFill>
              <a:effectLst/>
              <a:uLnTx/>
              <a:uFillTx/>
              <a:latin typeface="Segoe Sans Text"/>
              <a:ea typeface="+mn-ea"/>
              <a:cs typeface="Segoe UI" panose="020B0502040204020203" pitchFamily="34" charset="0"/>
            </a:endParaRPr>
          </a:p>
        </p:txBody>
      </p:sp>
      <p:pic>
        <p:nvPicPr>
          <p:cNvPr id="109" name="Picture 108">
            <a:extLst>
              <a:ext uri="{FF2B5EF4-FFF2-40B4-BE49-F238E27FC236}">
                <a16:creationId xmlns:a16="http://schemas.microsoft.com/office/drawing/2014/main" id="{CEE3832C-2C8B-CE1F-F081-9443320845AB}"/>
              </a:ext>
              <a:ext uri="{C183D7F6-B498-43B3-948B-1728B52AA6E4}">
                <adec:decorative xmlns:adec="http://schemas.microsoft.com/office/drawing/2017/decorative" val="1"/>
              </a:ext>
            </a:extLst>
          </p:cNvPr>
          <p:cNvPicPr>
            <a:picLocks noChangeAspect="1"/>
          </p:cNvPicPr>
          <p:nvPr/>
        </p:nvPicPr>
        <p:blipFill>
          <a:blip r:embed="rId9" cstate="screen">
            <a:extLst>
              <a:ext uri="{28A0092B-C50C-407E-A947-70E740481C1C}">
                <a14:useLocalDpi xmlns:a14="http://schemas.microsoft.com/office/drawing/2010/main" val="0"/>
              </a:ext>
            </a:extLst>
          </a:blip>
          <a:srcRect/>
          <a:stretch/>
        </p:blipFill>
        <p:spPr>
          <a:xfrm>
            <a:off x="5161459" y="2647574"/>
            <a:ext cx="280976" cy="268248"/>
          </a:xfrm>
          <a:prstGeom prst="rect">
            <a:avLst/>
          </a:prstGeom>
        </p:spPr>
      </p:pic>
      <p:sp>
        <p:nvSpPr>
          <p:cNvPr id="110" name="Text Placeholder 2">
            <a:extLst>
              <a:ext uri="{FF2B5EF4-FFF2-40B4-BE49-F238E27FC236}">
                <a16:creationId xmlns:a16="http://schemas.microsoft.com/office/drawing/2014/main" id="{1B977585-B91F-23B0-9375-12BEE3B70C9C}"/>
              </a:ext>
            </a:extLst>
          </p:cNvPr>
          <p:cNvSpPr txBox="1">
            <a:spLocks/>
          </p:cNvSpPr>
          <p:nvPr/>
        </p:nvSpPr>
        <p:spPr>
          <a:xfrm>
            <a:off x="5054876" y="3018525"/>
            <a:ext cx="494145"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 </a:t>
            </a:r>
            <a:b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Science</a:t>
            </a:r>
          </a:p>
        </p:txBody>
      </p:sp>
      <p:sp>
        <p:nvSpPr>
          <p:cNvPr id="111" name="Rounded Rectangle 39">
            <a:extLst>
              <a:ext uri="{FF2B5EF4-FFF2-40B4-BE49-F238E27FC236}">
                <a16:creationId xmlns:a16="http://schemas.microsoft.com/office/drawing/2014/main" id="{D5E623DB-3C9E-834D-C11D-F5E347ECE460}"/>
              </a:ext>
              <a:ext uri="{C183D7F6-B498-43B3-948B-1728B52AA6E4}">
                <adec:decorative xmlns:adec="http://schemas.microsoft.com/office/drawing/2017/decorative" val="1"/>
              </a:ext>
            </a:extLst>
          </p:cNvPr>
          <p:cNvSpPr/>
          <p:nvPr/>
        </p:nvSpPr>
        <p:spPr bwMode="auto">
          <a:xfrm>
            <a:off x="6558547" y="2504030"/>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000000">
                  <a:lumMod val="75000"/>
                  <a:lumOff val="25000"/>
                </a:srgbClr>
              </a:solidFill>
              <a:effectLst/>
              <a:uLnTx/>
              <a:uFillTx/>
              <a:latin typeface="Segoe Sans Text"/>
              <a:ea typeface="+mn-ea"/>
              <a:cs typeface="Segoe UI" panose="020B0502040204020203" pitchFamily="34" charset="0"/>
            </a:endParaRPr>
          </a:p>
        </p:txBody>
      </p:sp>
      <p:pic>
        <p:nvPicPr>
          <p:cNvPr id="112" name="Graphic 111">
            <a:extLst>
              <a:ext uri="{FF2B5EF4-FFF2-40B4-BE49-F238E27FC236}">
                <a16:creationId xmlns:a16="http://schemas.microsoft.com/office/drawing/2014/main" id="{39CF2BDA-F3E4-2B9A-B0AC-31CC36503C35}"/>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49545" y="2599741"/>
            <a:ext cx="352464" cy="335843"/>
          </a:xfrm>
          <a:prstGeom prst="rect">
            <a:avLst/>
          </a:prstGeom>
        </p:spPr>
      </p:pic>
      <p:sp>
        <p:nvSpPr>
          <p:cNvPr id="113" name="Text Placeholder 2">
            <a:extLst>
              <a:ext uri="{FF2B5EF4-FFF2-40B4-BE49-F238E27FC236}">
                <a16:creationId xmlns:a16="http://schemas.microsoft.com/office/drawing/2014/main" id="{981C1CF8-BBDC-CD3D-0FC1-1E943E1DFDB9}"/>
              </a:ext>
            </a:extLst>
          </p:cNvPr>
          <p:cNvSpPr txBox="1">
            <a:spLocks/>
          </p:cNvSpPr>
          <p:nvPr/>
        </p:nvSpPr>
        <p:spPr>
          <a:xfrm>
            <a:off x="6575131" y="3004489"/>
            <a:ext cx="701291"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Power</a:t>
            </a:r>
            <a:b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BI</a:t>
            </a:r>
          </a:p>
        </p:txBody>
      </p:sp>
      <p:sp>
        <p:nvSpPr>
          <p:cNvPr id="114" name="Rounded Rectangle 26">
            <a:extLst>
              <a:ext uri="{FF2B5EF4-FFF2-40B4-BE49-F238E27FC236}">
                <a16:creationId xmlns:a16="http://schemas.microsoft.com/office/drawing/2014/main" id="{C6162422-936B-DA81-7750-DC6873AFF5ED}"/>
              </a:ext>
              <a:ext uri="{C183D7F6-B498-43B3-948B-1728B52AA6E4}">
                <adec:decorative xmlns:adec="http://schemas.microsoft.com/office/drawing/2017/decorative" val="1"/>
              </a:ext>
            </a:extLst>
          </p:cNvPr>
          <p:cNvSpPr/>
          <p:nvPr/>
        </p:nvSpPr>
        <p:spPr bwMode="auto">
          <a:xfrm>
            <a:off x="1503777" y="2506828"/>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algn="ctr" defTabSz="914367"/>
            <a:endParaRPr lang="en-US" sz="1000" kern="0">
              <a:solidFill>
                <a:srgbClr val="000000">
                  <a:lumMod val="75000"/>
                  <a:lumOff val="25000"/>
                </a:srgbClr>
              </a:solidFill>
              <a:latin typeface="Segoe Sans Text"/>
              <a:cs typeface="Segoe UI" panose="020B0502040204020203" pitchFamily="34" charset="0"/>
            </a:endParaRPr>
          </a:p>
        </p:txBody>
      </p:sp>
      <p:sp>
        <p:nvSpPr>
          <p:cNvPr id="115" name="Text Placeholder 2">
            <a:extLst>
              <a:ext uri="{FF2B5EF4-FFF2-40B4-BE49-F238E27FC236}">
                <a16:creationId xmlns:a16="http://schemas.microsoft.com/office/drawing/2014/main" id="{689DD531-0AE0-4EF2-8A04-503243C8A51B}"/>
              </a:ext>
            </a:extLst>
          </p:cNvPr>
          <p:cNvSpPr txBox="1">
            <a:spLocks/>
          </p:cNvSpPr>
          <p:nvPr/>
        </p:nvSpPr>
        <p:spPr>
          <a:xfrm>
            <a:off x="1498152" y="3013783"/>
            <a:ext cx="723771"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Real-Time Intelligence</a:t>
            </a:r>
          </a:p>
        </p:txBody>
      </p:sp>
      <p:pic>
        <p:nvPicPr>
          <p:cNvPr id="116" name="Picture 115">
            <a:extLst>
              <a:ext uri="{FF2B5EF4-FFF2-40B4-BE49-F238E27FC236}">
                <a16:creationId xmlns:a16="http://schemas.microsoft.com/office/drawing/2014/main" id="{694B9348-493E-565F-C545-DAC6AA90DFAA}"/>
              </a:ext>
              <a:ext uri="{C183D7F6-B498-43B3-948B-1728B52AA6E4}">
                <adec:decorative xmlns:adec="http://schemas.microsoft.com/office/drawing/2017/decorative" val="1"/>
              </a:ext>
            </a:extLst>
          </p:cNvPr>
          <p:cNvPicPr>
            <a:picLocks noChangeAspect="1"/>
          </p:cNvPicPr>
          <p:nvPr/>
        </p:nvPicPr>
        <p:blipFill>
          <a:blip r:embed="rId12" cstate="screen">
            <a:extLst>
              <a:ext uri="{28A0092B-C50C-407E-A947-70E740481C1C}">
                <a14:useLocalDpi xmlns:a14="http://schemas.microsoft.com/office/drawing/2010/main" val="0"/>
              </a:ext>
            </a:extLst>
          </a:blip>
          <a:srcRect/>
          <a:stretch/>
        </p:blipFill>
        <p:spPr>
          <a:xfrm>
            <a:off x="1721078" y="2665787"/>
            <a:ext cx="277812" cy="278073"/>
          </a:xfrm>
          <a:prstGeom prst="rect">
            <a:avLst/>
          </a:prstGeom>
        </p:spPr>
      </p:pic>
      <p:sp>
        <p:nvSpPr>
          <p:cNvPr id="117" name="Rounded Rectangle 39">
            <a:extLst>
              <a:ext uri="{FF2B5EF4-FFF2-40B4-BE49-F238E27FC236}">
                <a16:creationId xmlns:a16="http://schemas.microsoft.com/office/drawing/2014/main" id="{493DB783-EDC8-0C42-AB92-592E4AF2A595}"/>
              </a:ext>
              <a:ext uri="{C183D7F6-B498-43B3-948B-1728B52AA6E4}">
                <adec:decorative xmlns:adec="http://schemas.microsoft.com/office/drawing/2017/decorative" val="1"/>
              </a:ext>
            </a:extLst>
          </p:cNvPr>
          <p:cNvSpPr/>
          <p:nvPr/>
        </p:nvSpPr>
        <p:spPr bwMode="auto">
          <a:xfrm>
            <a:off x="7400028" y="2506828"/>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000000">
                  <a:lumMod val="75000"/>
                  <a:lumOff val="25000"/>
                </a:srgbClr>
              </a:solidFill>
              <a:effectLst/>
              <a:uLnTx/>
              <a:uFillTx/>
              <a:latin typeface="Segoe Sans Text"/>
              <a:ea typeface="+mn-ea"/>
              <a:cs typeface="Segoe UI" panose="020B0502040204020203" pitchFamily="34" charset="0"/>
            </a:endParaRPr>
          </a:p>
        </p:txBody>
      </p:sp>
      <p:sp>
        <p:nvSpPr>
          <p:cNvPr id="118" name="Text Placeholder 2">
            <a:extLst>
              <a:ext uri="{FF2B5EF4-FFF2-40B4-BE49-F238E27FC236}">
                <a16:creationId xmlns:a16="http://schemas.microsoft.com/office/drawing/2014/main" id="{8653CC3F-2546-EB2F-557D-4B6A2B52E128}"/>
              </a:ext>
            </a:extLst>
          </p:cNvPr>
          <p:cNvSpPr txBox="1">
            <a:spLocks/>
          </p:cNvSpPr>
          <p:nvPr/>
        </p:nvSpPr>
        <p:spPr>
          <a:xfrm>
            <a:off x="7400029" y="3007287"/>
            <a:ext cx="718912"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Partner Solutions</a:t>
            </a:r>
          </a:p>
        </p:txBody>
      </p:sp>
      <p:pic>
        <p:nvPicPr>
          <p:cNvPr id="119" name="Graphic 118">
            <a:extLst>
              <a:ext uri="{FF2B5EF4-FFF2-40B4-BE49-F238E27FC236}">
                <a16:creationId xmlns:a16="http://schemas.microsoft.com/office/drawing/2014/main" id="{EF308B92-1F80-D667-EE42-E4DA3F62FAAB}"/>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76485" y="2612976"/>
            <a:ext cx="365995" cy="365995"/>
          </a:xfrm>
          <a:prstGeom prst="rect">
            <a:avLst/>
          </a:prstGeom>
        </p:spPr>
      </p:pic>
      <p:sp>
        <p:nvSpPr>
          <p:cNvPr id="120" name="Rounded Rectangle 10">
            <a:extLst>
              <a:ext uri="{FF2B5EF4-FFF2-40B4-BE49-F238E27FC236}">
                <a16:creationId xmlns:a16="http://schemas.microsoft.com/office/drawing/2014/main" id="{7F26C52F-0991-B378-440F-CDB0FD7429EE}"/>
              </a:ext>
              <a:ext uri="{C183D7F6-B498-43B3-948B-1728B52AA6E4}">
                <adec:decorative xmlns:adec="http://schemas.microsoft.com/office/drawing/2017/decorative" val="1"/>
              </a:ext>
            </a:extLst>
          </p:cNvPr>
          <p:cNvSpPr/>
          <p:nvPr/>
        </p:nvSpPr>
        <p:spPr bwMode="auto">
          <a:xfrm>
            <a:off x="2344797" y="2504029"/>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algn="ctr" defTabSz="914367"/>
            <a:endParaRPr lang="en-US" sz="1000" kern="0" err="1">
              <a:solidFill>
                <a:srgbClr val="000000">
                  <a:lumMod val="75000"/>
                  <a:lumOff val="25000"/>
                </a:srgbClr>
              </a:solidFill>
              <a:latin typeface="Segoe Sans Text"/>
              <a:cs typeface="Segoe UI" panose="020B0502040204020203" pitchFamily="34" charset="0"/>
            </a:endParaRPr>
          </a:p>
        </p:txBody>
      </p:sp>
      <p:sp>
        <p:nvSpPr>
          <p:cNvPr id="121" name="Text Placeholder 2">
            <a:extLst>
              <a:ext uri="{FF2B5EF4-FFF2-40B4-BE49-F238E27FC236}">
                <a16:creationId xmlns:a16="http://schemas.microsoft.com/office/drawing/2014/main" id="{6A6E3DFF-7A7A-1319-939E-73A371A99588}"/>
              </a:ext>
            </a:extLst>
          </p:cNvPr>
          <p:cNvSpPr txBox="1">
            <a:spLocks/>
          </p:cNvSpPr>
          <p:nvPr/>
        </p:nvSpPr>
        <p:spPr>
          <a:xfrm>
            <a:off x="2340304" y="3149484"/>
            <a:ext cx="723771" cy="1384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Databases</a:t>
            </a:r>
          </a:p>
        </p:txBody>
      </p:sp>
      <p:pic>
        <p:nvPicPr>
          <p:cNvPr id="122" name="Picture 121">
            <a:extLst>
              <a:ext uri="{FF2B5EF4-FFF2-40B4-BE49-F238E27FC236}">
                <a16:creationId xmlns:a16="http://schemas.microsoft.com/office/drawing/2014/main" id="{66CE4EFF-A72A-76CF-27A8-7378F8D8BF44}"/>
              </a:ext>
              <a:ext uri="{C183D7F6-B498-43B3-948B-1728B52AA6E4}">
                <adec:decorative xmlns:adec="http://schemas.microsoft.com/office/drawing/2017/decorative" val="1"/>
              </a:ext>
            </a:extLst>
          </p:cNvPr>
          <p:cNvPicPr>
            <a:picLocks noChangeAspect="1"/>
          </p:cNvPicPr>
          <p:nvPr/>
        </p:nvPicPr>
        <p:blipFill>
          <a:blip r:embed="rId15" cstate="screen">
            <a:extLst>
              <a:ext uri="{28A0092B-C50C-407E-A947-70E740481C1C}">
                <a14:useLocalDpi xmlns:a14="http://schemas.microsoft.com/office/drawing/2010/main" val="0"/>
              </a:ext>
            </a:extLst>
          </a:blip>
          <a:stretch>
            <a:fillRect/>
          </a:stretch>
        </p:blipFill>
        <p:spPr>
          <a:xfrm>
            <a:off x="2563152" y="2662987"/>
            <a:ext cx="278073" cy="278073"/>
          </a:xfrm>
          <a:prstGeom prst="rect">
            <a:avLst/>
          </a:prstGeom>
        </p:spPr>
      </p:pic>
      <p:sp>
        <p:nvSpPr>
          <p:cNvPr id="123" name="Rounded Rectangle 39">
            <a:extLst>
              <a:ext uri="{FF2B5EF4-FFF2-40B4-BE49-F238E27FC236}">
                <a16:creationId xmlns:a16="http://schemas.microsoft.com/office/drawing/2014/main" id="{A027D1AE-79D1-D6CF-FCC3-A914E385C08E}"/>
              </a:ext>
              <a:ext uri="{C183D7F6-B498-43B3-948B-1728B52AA6E4}">
                <adec:decorative xmlns:adec="http://schemas.microsoft.com/office/drawing/2017/decorative" val="1"/>
              </a:ext>
            </a:extLst>
          </p:cNvPr>
          <p:cNvSpPr/>
          <p:nvPr/>
        </p:nvSpPr>
        <p:spPr bwMode="auto">
          <a:xfrm>
            <a:off x="5752130" y="2517869"/>
            <a:ext cx="718913" cy="927145"/>
          </a:xfrm>
          <a:prstGeom prst="roundRect">
            <a:avLst>
              <a:gd name="adj" fmla="val 5399"/>
            </a:avLst>
          </a:prstGeom>
          <a:solidFill>
            <a:srgbClr val="F2F2F2">
              <a:alpha val="93725"/>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err="1">
              <a:ln>
                <a:noFill/>
              </a:ln>
              <a:solidFill>
                <a:srgbClr val="000000">
                  <a:lumMod val="75000"/>
                  <a:lumOff val="25000"/>
                </a:srgbClr>
              </a:solidFill>
              <a:effectLst/>
              <a:uLnTx/>
              <a:uFillTx/>
              <a:latin typeface="Segoe Sans Text"/>
              <a:ea typeface="+mn-ea"/>
              <a:cs typeface="Segoe UI" panose="020B0502040204020203" pitchFamily="34" charset="0"/>
            </a:endParaRPr>
          </a:p>
        </p:txBody>
      </p:sp>
      <p:sp>
        <p:nvSpPr>
          <p:cNvPr id="124" name="Text Placeholder 2">
            <a:extLst>
              <a:ext uri="{FF2B5EF4-FFF2-40B4-BE49-F238E27FC236}">
                <a16:creationId xmlns:a16="http://schemas.microsoft.com/office/drawing/2014/main" id="{AE1A58BD-0359-FF44-7F41-88C056F1B77A}"/>
              </a:ext>
            </a:extLst>
          </p:cNvPr>
          <p:cNvSpPr txBox="1">
            <a:spLocks/>
          </p:cNvSpPr>
          <p:nvPr/>
        </p:nvSpPr>
        <p:spPr>
          <a:xfrm>
            <a:off x="5751092" y="3030858"/>
            <a:ext cx="718912" cy="276999"/>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Industry Solutions</a:t>
            </a:r>
          </a:p>
        </p:txBody>
      </p:sp>
      <p:pic>
        <p:nvPicPr>
          <p:cNvPr id="125" name="Picture 124">
            <a:extLst>
              <a:ext uri="{FF2B5EF4-FFF2-40B4-BE49-F238E27FC236}">
                <a16:creationId xmlns:a16="http://schemas.microsoft.com/office/drawing/2014/main" id="{B14E0092-0E9F-FBCB-73F2-6F334948FE06}"/>
              </a:ext>
              <a:ext uri="{C183D7F6-B498-43B3-948B-1728B52AA6E4}">
                <adec:decorative xmlns:adec="http://schemas.microsoft.com/office/drawing/2017/decorative" val="1"/>
              </a:ext>
            </a:extLst>
          </p:cNvPr>
          <p:cNvPicPr>
            <a:picLocks noChangeAspect="1"/>
          </p:cNvPicPr>
          <p:nvPr/>
        </p:nvPicPr>
        <p:blipFill>
          <a:blip r:embed="rId16" cstate="screen">
            <a:extLst>
              <a:ext uri="{28A0092B-C50C-407E-A947-70E740481C1C}">
                <a14:useLocalDpi xmlns:a14="http://schemas.microsoft.com/office/drawing/2010/main" val="0"/>
              </a:ext>
            </a:extLst>
          </a:blip>
          <a:stretch>
            <a:fillRect/>
          </a:stretch>
        </p:blipFill>
        <p:spPr>
          <a:xfrm>
            <a:off x="5937752" y="2636199"/>
            <a:ext cx="352464" cy="351556"/>
          </a:xfrm>
          <a:prstGeom prst="rect">
            <a:avLst/>
          </a:prstGeom>
        </p:spPr>
      </p:pic>
    </p:spTree>
    <p:extLst>
      <p:ext uri="{BB962C8B-B14F-4D97-AF65-F5344CB8AC3E}">
        <p14:creationId xmlns:p14="http://schemas.microsoft.com/office/powerpoint/2010/main" val="61789342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BB648386-010D-3D36-DA93-078AF27D64BE}"/>
              </a:ext>
            </a:extLst>
          </p:cNvPr>
          <p:cNvSpPr txBox="1">
            <a:spLocks noGrp="1"/>
          </p:cNvSpPr>
          <p:nvPr>
            <p:ph type="title" idx="4294967295"/>
          </p:nvPr>
        </p:nvSpPr>
        <p:spPr>
          <a:xfrm>
            <a:off x="596900" y="2729707"/>
            <a:ext cx="3613150" cy="1398587"/>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3200" b="0" i="0" kern="1200">
                <a:solidFill>
                  <a:schemeClr val="tx1"/>
                </a:solidFill>
                <a:latin typeface="+mj-lt"/>
                <a:ea typeface="+mj-ea"/>
                <a:cs typeface="Segoe Sans Display"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a:ln>
                  <a:noFill/>
                </a:ln>
                <a:solidFill>
                  <a:srgbClr val="B238BA"/>
                </a:solidFill>
                <a:effectLst/>
                <a:uLnTx/>
                <a:uFillTx/>
                <a:latin typeface="Segoe Sans Display" pitchFamily="2" charset="0"/>
                <a:ea typeface="+mn-ea"/>
                <a:cs typeface="Segoe Sans Display" pitchFamily="2" charset="0"/>
              </a:rPr>
              <a:t>Data Warehouse</a:t>
            </a:r>
          </a:p>
        </p:txBody>
      </p:sp>
      <p:sp>
        <p:nvSpPr>
          <p:cNvPr id="7" name="Slide Number Placeholder 4">
            <a:extLst>
              <a:ext uri="{FF2B5EF4-FFF2-40B4-BE49-F238E27FC236}">
                <a16:creationId xmlns:a16="http://schemas.microsoft.com/office/drawing/2014/main" id="{5094BCEC-4674-91AB-4953-598ABE02320D}"/>
              </a:ext>
            </a:extLst>
          </p:cNvPr>
          <p:cNvSpPr>
            <a:spLocks noGrp="1"/>
          </p:cNvSpPr>
          <p:nvPr>
            <p:ph type="sldNum" sz="quarter" idx="10"/>
          </p:nvPr>
        </p:nvSpPr>
        <p:spPr>
          <a:xfrm>
            <a:off x="612571" y="6309519"/>
            <a:ext cx="399288" cy="365125"/>
          </a:xfrm>
        </p:spPr>
        <p:txBody>
          <a:bodyPr/>
          <a:lstStyle/>
          <a:p>
            <a:fld id="{B1356FBF-028C-F74E-A7B4-9B8ED246DD1B}" type="slidenum">
              <a:rPr lang="en-US" smtClean="0"/>
              <a:pPr/>
              <a:t>6</a:t>
            </a:fld>
            <a:endParaRPr lang="en-US"/>
          </a:p>
        </p:txBody>
      </p:sp>
      <p:sp>
        <p:nvSpPr>
          <p:cNvPr id="2" name="Footer Placeholder 3">
            <a:extLst>
              <a:ext uri="{FF2B5EF4-FFF2-40B4-BE49-F238E27FC236}">
                <a16:creationId xmlns:a16="http://schemas.microsoft.com/office/drawing/2014/main" id="{D7050489-B4EB-6704-3E6F-DA028FAD906B}"/>
              </a:ext>
            </a:extLst>
          </p:cNvPr>
          <p:cNvSpPr>
            <a:spLocks noGrp="1"/>
          </p:cNvSpPr>
          <p:nvPr>
            <p:ph type="ftr" sz="quarter" idx="11"/>
          </p:nvPr>
        </p:nvSpPr>
        <p:spPr>
          <a:xfrm>
            <a:off x="1011859" y="6309519"/>
            <a:ext cx="2078736" cy="365125"/>
          </a:xfrm>
        </p:spPr>
        <p:txBody>
          <a:bodyPr/>
          <a:lstStyle/>
          <a:p>
            <a:r>
              <a:rPr lang="en-US"/>
              <a:t>Microsoft Fabric</a:t>
            </a:r>
          </a:p>
        </p:txBody>
      </p:sp>
      <p:pic>
        <p:nvPicPr>
          <p:cNvPr id="6" name="Picture 5" descr="Data warehouse logo">
            <a:extLst>
              <a:ext uri="{FF2B5EF4-FFF2-40B4-BE49-F238E27FC236}">
                <a16:creationId xmlns:a16="http://schemas.microsoft.com/office/drawing/2014/main" id="{45999B5A-C949-D043-9702-F9282DF29508}"/>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5833117" y="243349"/>
            <a:ext cx="6358883" cy="6371303"/>
          </a:xfrm>
          <a:prstGeom prst="rect">
            <a:avLst/>
          </a:prstGeom>
          <a:noFill/>
        </p:spPr>
      </p:pic>
    </p:spTree>
    <p:extLst>
      <p:ext uri="{BB962C8B-B14F-4D97-AF65-F5344CB8AC3E}">
        <p14:creationId xmlns:p14="http://schemas.microsoft.com/office/powerpoint/2010/main" val="3074690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8A6CA740-99B7-26A8-7675-7DDD2D5E0EF3}"/>
              </a:ext>
            </a:extLst>
          </p:cNvPr>
          <p:cNvSpPr>
            <a:spLocks noGrp="1"/>
          </p:cNvSpPr>
          <p:nvPr>
            <p:ph type="title"/>
          </p:nvPr>
        </p:nvSpPr>
        <p:spPr>
          <a:xfrm>
            <a:off x="581025" y="365125"/>
            <a:ext cx="11029949" cy="549275"/>
          </a:xfrm>
        </p:spPr>
        <p:txBody>
          <a:bodyPr/>
          <a:lstStyle/>
          <a:p>
            <a:r>
              <a:rPr lang="en-US" noProof="0"/>
              <a:t>Data warehouse scenario</a:t>
            </a:r>
            <a:endParaRPr lang="en-US"/>
          </a:p>
        </p:txBody>
      </p:sp>
      <p:sp>
        <p:nvSpPr>
          <p:cNvPr id="35" name="Subtitle 1">
            <a:extLst>
              <a:ext uri="{FF2B5EF4-FFF2-40B4-BE49-F238E27FC236}">
                <a16:creationId xmlns:a16="http://schemas.microsoft.com/office/drawing/2014/main" id="{2054C164-38A1-F544-18F9-ACAA4FD70357}"/>
              </a:ext>
            </a:extLst>
          </p:cNvPr>
          <p:cNvSpPr txBox="1">
            <a:spLocks/>
          </p:cNvSpPr>
          <p:nvPr/>
        </p:nvSpPr>
        <p:spPr>
          <a:xfrm>
            <a:off x="581025" y="1079500"/>
            <a:ext cx="4506914" cy="249299"/>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600" b="0" i="0" kern="1200">
                <a:solidFill>
                  <a:schemeClr val="accent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a:solidFill>
                  <a:schemeClr val="bg1"/>
                </a:solidFill>
                <a:latin typeface="+mn-lt"/>
                <a:cs typeface="Segoe Sans Display Semibold" pitchFamily="2" charset="0"/>
              </a:rPr>
              <a:t>End-to-end analytics scenario</a:t>
            </a:r>
          </a:p>
        </p:txBody>
      </p:sp>
      <p:pic>
        <p:nvPicPr>
          <p:cNvPr id="3" name="Picture 2">
            <a:extLst>
              <a:ext uri="{FF2B5EF4-FFF2-40B4-BE49-F238E27FC236}">
                <a16:creationId xmlns:a16="http://schemas.microsoft.com/office/drawing/2014/main" id="{451FA952-FE00-F6D5-6826-4E906BB01A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3" cstate="screen">
            <a:alphaModFix amt="62000"/>
            <a:extLst>
              <a:ext uri="{28A0092B-C50C-407E-A947-70E740481C1C}">
                <a14:useLocalDpi xmlns:a14="http://schemas.microsoft.com/office/drawing/2010/main" val="0"/>
              </a:ext>
            </a:extLst>
          </a:blip>
          <a:srcRect/>
          <a:stretch/>
        </p:blipFill>
        <p:spPr>
          <a:xfrm flipV="1">
            <a:off x="8334651" y="0"/>
            <a:ext cx="3857349" cy="6050762"/>
          </a:xfrm>
          <a:prstGeom prst="rect">
            <a:avLst/>
          </a:prstGeom>
        </p:spPr>
      </p:pic>
      <p:pic>
        <p:nvPicPr>
          <p:cNvPr id="38" name="Picture 37" descr="Data Warehouse logo">
            <a:extLst>
              <a:ext uri="{FF2B5EF4-FFF2-40B4-BE49-F238E27FC236}">
                <a16:creationId xmlns:a16="http://schemas.microsoft.com/office/drawing/2014/main" id="{5D495B66-CDA3-044E-8F7F-F9AB4934BCD8}"/>
              </a:ext>
            </a:extLst>
          </p:cNvPr>
          <p:cNvPicPr>
            <a:picLocks noChangeAspect="1"/>
          </p:cNvPicPr>
          <p:nvPr/>
        </p:nvPicPr>
        <p:blipFill>
          <a:blip r:embed="rId4" cstate="screen">
            <a:extLst>
              <a:ext uri="{28A0092B-C50C-407E-A947-70E740481C1C}">
                <a14:useLocalDpi xmlns:a14="http://schemas.microsoft.com/office/drawing/2010/main" val="0"/>
              </a:ext>
            </a:extLst>
          </a:blip>
          <a:stretch/>
        </p:blipFill>
        <p:spPr>
          <a:xfrm>
            <a:off x="11617785" y="131716"/>
            <a:ext cx="410912" cy="411714"/>
          </a:xfrm>
          <a:prstGeom prst="rect">
            <a:avLst/>
          </a:prstGeom>
          <a:noFill/>
        </p:spPr>
      </p:pic>
      <p:grpSp>
        <p:nvGrpSpPr>
          <p:cNvPr id="11" name="Group 10" descr="This is a visual of the end-to-end analytics scenario. There are four columns with respective icons that are connected with lines and arrows pointing to the right: Data source, Ingestion, Store, Transform and Expose">
            <a:extLst>
              <a:ext uri="{FF2B5EF4-FFF2-40B4-BE49-F238E27FC236}">
                <a16:creationId xmlns:a16="http://schemas.microsoft.com/office/drawing/2014/main" id="{CBFC8D19-D230-97BC-B582-28A9FA0CE7F8}"/>
              </a:ext>
            </a:extLst>
          </p:cNvPr>
          <p:cNvGrpSpPr/>
          <p:nvPr/>
        </p:nvGrpSpPr>
        <p:grpSpPr>
          <a:xfrm>
            <a:off x="744333" y="1784697"/>
            <a:ext cx="10747938" cy="4502560"/>
            <a:chOff x="935381" y="1740093"/>
            <a:chExt cx="10747938" cy="4502560"/>
          </a:xfrm>
          <a:effectLst>
            <a:outerShdw blurRad="50800" dist="38100" dir="2700000" algn="tl" rotWithShape="0">
              <a:prstClr val="black">
                <a:alpha val="20000"/>
              </a:prstClr>
            </a:outerShdw>
          </a:effectLst>
        </p:grpSpPr>
        <p:sp>
          <p:nvSpPr>
            <p:cNvPr id="10" name="Rounded Rectangle 13">
              <a:extLst>
                <a:ext uri="{FF2B5EF4-FFF2-40B4-BE49-F238E27FC236}">
                  <a16:creationId xmlns:a16="http://schemas.microsoft.com/office/drawing/2014/main" id="{D2BA83A7-ACBB-0FBE-B8FC-24E4A62272BB}"/>
                </a:ext>
                <a:ext uri="{C183D7F6-B498-43B3-948B-1728B52AA6E4}">
                  <adec:decorative xmlns:adec="http://schemas.microsoft.com/office/drawing/2017/decorative" val="0"/>
                </a:ext>
              </a:extLst>
            </p:cNvPr>
            <p:cNvSpPr/>
            <p:nvPr/>
          </p:nvSpPr>
          <p:spPr>
            <a:xfrm>
              <a:off x="935381" y="1740093"/>
              <a:ext cx="10747938" cy="4502560"/>
            </a:xfrm>
            <a:prstGeom prst="roundRect">
              <a:avLst>
                <a:gd name="adj" fmla="val 6586"/>
              </a:avLst>
            </a:prstGeom>
            <a:solidFill>
              <a:srgbClr val="FFFDF9"/>
            </a:solidFill>
            <a:ln w="19050" cap="flat">
              <a:gradFill>
                <a:gsLst>
                  <a:gs pos="0">
                    <a:srgbClr val="49C5B1"/>
                  </a:gs>
                  <a:gs pos="100000">
                    <a:srgbClr val="C03BC3"/>
                  </a:gs>
                </a:gsLst>
                <a:lin ang="5400000" scaled="1"/>
              </a:gradFill>
              <a:prstDash val="solid"/>
              <a:miter/>
            </a:ln>
            <a:effectLst>
              <a:outerShdw blurRad="50800" dist="38100" dir="2700000" algn="tl" rotWithShape="0">
                <a:prstClr val="black">
                  <a:alpha val="20000"/>
                </a:prstClr>
              </a:outerShdw>
            </a:effectLst>
          </p:spPr>
          <p:txBody>
            <a:bodyPr lIns="73152" r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1919"/>
                </a:solidFill>
                <a:effectLst/>
                <a:uLnTx/>
                <a:uFillTx/>
                <a:latin typeface="Segoe Sans Display" pitchFamily="2" charset="0"/>
                <a:cs typeface="Segoe Sans Display" pitchFamily="2" charset="0"/>
              </a:endParaRPr>
            </a:p>
          </p:txBody>
        </p:sp>
        <p:sp>
          <p:nvSpPr>
            <p:cNvPr id="48" name="TextBox 47">
              <a:extLst>
                <a:ext uri="{FF2B5EF4-FFF2-40B4-BE49-F238E27FC236}">
                  <a16:creationId xmlns:a16="http://schemas.microsoft.com/office/drawing/2014/main" id="{B19C51FE-D74A-DB47-BB17-78F9992A1FAC}"/>
                </a:ext>
                <a:ext uri="{C183D7F6-B498-43B3-948B-1728B52AA6E4}">
                  <adec:decorative xmlns:adec="http://schemas.microsoft.com/office/drawing/2017/decorative" val="1"/>
                </a:ext>
              </a:extLst>
            </p:cNvPr>
            <p:cNvSpPr txBox="1"/>
            <p:nvPr/>
          </p:nvSpPr>
          <p:spPr>
            <a:xfrm>
              <a:off x="1415615" y="2101101"/>
              <a:ext cx="1281376" cy="276999"/>
            </a:xfrm>
            <a:prstGeom prst="rect">
              <a:avLst/>
            </a:prstGeom>
            <a:noFill/>
          </p:spPr>
          <p:txBody>
            <a:bodyPr wrap="non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i="0" u="none" strike="noStrike" cap="none" spc="0" normalizeH="0" baseline="0">
                  <a:ln>
                    <a:noFill/>
                  </a:ln>
                  <a:effectLst/>
                  <a:uLnTx/>
                  <a:uFillTx/>
                  <a:latin typeface="Segoe Sans Display Semibold" pitchFamily="2" charset="0"/>
                  <a:cs typeface="Segoe Sans Display Semibold" pitchFamily="2" charset="0"/>
                </a:defRPr>
              </a:lvl1pPr>
            </a:lstStyle>
            <a:p>
              <a:r>
                <a:rPr lang="en-US"/>
                <a:t>Data Source</a:t>
              </a:r>
            </a:p>
          </p:txBody>
        </p:sp>
        <p:grpSp>
          <p:nvGrpSpPr>
            <p:cNvPr id="49" name="Group 48">
              <a:extLst>
                <a:ext uri="{FF2B5EF4-FFF2-40B4-BE49-F238E27FC236}">
                  <a16:creationId xmlns:a16="http://schemas.microsoft.com/office/drawing/2014/main" id="{71E8BD83-0AE8-224A-B0E7-6E893E3B2E51}"/>
                </a:ext>
              </a:extLst>
            </p:cNvPr>
            <p:cNvGrpSpPr/>
            <p:nvPr/>
          </p:nvGrpSpPr>
          <p:grpSpPr>
            <a:xfrm>
              <a:off x="1598902" y="2867311"/>
              <a:ext cx="914802" cy="791901"/>
              <a:chOff x="1454432" y="2671368"/>
              <a:chExt cx="914802" cy="791901"/>
            </a:xfrm>
          </p:grpSpPr>
          <p:pic>
            <p:nvPicPr>
              <p:cNvPr id="50" name="Picture 49" descr="Icon of files">
                <a:extLst>
                  <a:ext uri="{FF2B5EF4-FFF2-40B4-BE49-F238E27FC236}">
                    <a16:creationId xmlns:a16="http://schemas.microsoft.com/office/drawing/2014/main" id="{8B78B965-4662-6446-BD8B-55985CE3179B}"/>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1714983" y="2671368"/>
                <a:ext cx="393700" cy="317500"/>
              </a:xfrm>
              <a:prstGeom prst="rect">
                <a:avLst/>
              </a:prstGeom>
            </p:spPr>
          </p:pic>
          <p:sp>
            <p:nvSpPr>
              <p:cNvPr id="51" name="TextBox 50">
                <a:extLst>
                  <a:ext uri="{FF2B5EF4-FFF2-40B4-BE49-F238E27FC236}">
                    <a16:creationId xmlns:a16="http://schemas.microsoft.com/office/drawing/2014/main" id="{0C34CB9E-3A0F-6B41-8216-CE0ABC3AC8CF}"/>
                  </a:ext>
                  <a:ext uri="{C183D7F6-B498-43B3-948B-1728B52AA6E4}">
                    <adec:decorative xmlns:adec="http://schemas.microsoft.com/office/drawing/2017/decorative" val="1"/>
                  </a:ext>
                </a:extLst>
              </p:cNvPr>
              <p:cNvSpPr txBox="1"/>
              <p:nvPr/>
            </p:nvSpPr>
            <p:spPr>
              <a:xfrm>
                <a:off x="1454432" y="3217048"/>
                <a:ext cx="914802" cy="246221"/>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cs typeface="Segoe Sans Display" pitchFamily="2" charset="0"/>
                  </a:rPr>
                  <a:t>Structured</a:t>
                </a:r>
              </a:p>
            </p:txBody>
          </p:sp>
        </p:grpSp>
        <p:grpSp>
          <p:nvGrpSpPr>
            <p:cNvPr id="53" name="Group 52">
              <a:extLst>
                <a:ext uri="{FF2B5EF4-FFF2-40B4-BE49-F238E27FC236}">
                  <a16:creationId xmlns:a16="http://schemas.microsoft.com/office/drawing/2014/main" id="{B0EC0BCC-F870-3949-BDE7-BB5607011BDF}"/>
                </a:ext>
              </a:extLst>
            </p:cNvPr>
            <p:cNvGrpSpPr/>
            <p:nvPr/>
          </p:nvGrpSpPr>
          <p:grpSpPr>
            <a:xfrm>
              <a:off x="3969358" y="2810161"/>
              <a:ext cx="1552054" cy="849051"/>
              <a:chOff x="3951984" y="3364715"/>
              <a:chExt cx="1552054" cy="849051"/>
            </a:xfrm>
          </p:grpSpPr>
          <p:pic>
            <p:nvPicPr>
              <p:cNvPr id="55" name="Picture 54" descr="Icon of two desktops connected by an arrow">
                <a:extLst>
                  <a:ext uri="{FF2B5EF4-FFF2-40B4-BE49-F238E27FC236}">
                    <a16:creationId xmlns:a16="http://schemas.microsoft.com/office/drawing/2014/main" id="{5DD4CCA7-7C26-A040-9C36-95C9E753C48D}"/>
                  </a:ext>
                  <a:ext uri="{C183D7F6-B498-43B3-948B-1728B52AA6E4}">
                    <adec:decorative xmlns:adec="http://schemas.microsoft.com/office/drawing/2017/decorative" val="0"/>
                  </a:ext>
                </a:extLst>
              </p:cNvPr>
              <p:cNvPicPr>
                <a:picLocks noChangeAspect="1"/>
              </p:cNvPicPr>
              <p:nvPr/>
            </p:nvPicPr>
            <p:blipFill>
              <a:blip r:embed="rId6"/>
              <a:stretch>
                <a:fillRect/>
              </a:stretch>
            </p:blipFill>
            <p:spPr>
              <a:xfrm>
                <a:off x="4524811" y="3364715"/>
                <a:ext cx="406400" cy="431800"/>
              </a:xfrm>
              <a:prstGeom prst="rect">
                <a:avLst/>
              </a:prstGeom>
            </p:spPr>
          </p:pic>
          <p:sp>
            <p:nvSpPr>
              <p:cNvPr id="56" name="TextBox 55">
                <a:extLst>
                  <a:ext uri="{FF2B5EF4-FFF2-40B4-BE49-F238E27FC236}">
                    <a16:creationId xmlns:a16="http://schemas.microsoft.com/office/drawing/2014/main" id="{817DE6E5-FD79-5C4A-BDE6-8C6A7BA67C65}"/>
                  </a:ext>
                  <a:ext uri="{C183D7F6-B498-43B3-948B-1728B52AA6E4}">
                    <adec:decorative xmlns:adec="http://schemas.microsoft.com/office/drawing/2017/decorative" val="1"/>
                  </a:ext>
                </a:extLst>
              </p:cNvPr>
              <p:cNvSpPr txBox="1"/>
              <p:nvPr/>
            </p:nvSpPr>
            <p:spPr>
              <a:xfrm>
                <a:off x="3951984" y="3967545"/>
                <a:ext cx="1552054" cy="246221"/>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cs typeface="Segoe Sans Display" pitchFamily="2" charset="0"/>
                  </a:rPr>
                  <a:t>Pipelines</a:t>
                </a:r>
                <a:endParaRPr kumimoji="0" lang="en-US" sz="1600" b="0" i="0" u="none" strike="sngStrike" kern="1200" cap="none" spc="0" normalizeH="0" baseline="0" noProof="0">
                  <a:ln>
                    <a:noFill/>
                  </a:ln>
                  <a:solidFill>
                    <a:schemeClr val="bg1"/>
                  </a:solidFill>
                  <a:effectLst/>
                  <a:highlight>
                    <a:srgbClr val="00FF00"/>
                  </a:highlight>
                  <a:uLnTx/>
                  <a:uFillTx/>
                  <a:cs typeface="Segoe Sans Display" pitchFamily="2" charset="0"/>
                </a:endParaRPr>
              </a:p>
            </p:txBody>
          </p:sp>
        </p:grpSp>
        <p:sp>
          <p:nvSpPr>
            <p:cNvPr id="54" name="TextBox 53">
              <a:extLst>
                <a:ext uri="{FF2B5EF4-FFF2-40B4-BE49-F238E27FC236}">
                  <a16:creationId xmlns:a16="http://schemas.microsoft.com/office/drawing/2014/main" id="{373DAF2C-F004-804B-9591-D67B7A6A61C5}"/>
                </a:ext>
                <a:ext uri="{C183D7F6-B498-43B3-948B-1728B52AA6E4}">
                  <adec:decorative xmlns:adec="http://schemas.microsoft.com/office/drawing/2017/decorative" val="1"/>
                </a:ext>
              </a:extLst>
            </p:cNvPr>
            <p:cNvSpPr txBox="1"/>
            <p:nvPr/>
          </p:nvSpPr>
          <p:spPr>
            <a:xfrm>
              <a:off x="4116866" y="2084234"/>
              <a:ext cx="1131720" cy="307777"/>
            </a:xfrm>
            <a:prstGeom prst="rect">
              <a:avLst/>
            </a:prstGeom>
            <a:noFill/>
          </p:spPr>
          <p:txBody>
            <a:bodyPr wrap="non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i="0" u="none" strike="noStrike" cap="none" spc="0" normalizeH="0" baseline="0">
                  <a:ln>
                    <a:noFill/>
                  </a:ln>
                  <a:effectLst/>
                  <a:uLnTx/>
                  <a:uFillTx/>
                  <a:latin typeface="Segoe Sans Display Semibold" pitchFamily="2" charset="0"/>
                  <a:cs typeface="Segoe Sans Display Semibold" pitchFamily="2" charset="0"/>
                </a:defRPr>
              </a:lvl1pPr>
            </a:lstStyle>
            <a:p>
              <a:r>
                <a:rPr lang="en-US"/>
                <a:t>Ingestion</a:t>
              </a:r>
            </a:p>
          </p:txBody>
        </p:sp>
        <p:grpSp>
          <p:nvGrpSpPr>
            <p:cNvPr id="58" name="Group 57">
              <a:extLst>
                <a:ext uri="{FF2B5EF4-FFF2-40B4-BE49-F238E27FC236}">
                  <a16:creationId xmlns:a16="http://schemas.microsoft.com/office/drawing/2014/main" id="{5A067B1B-8F47-4845-855F-5D49D9410440}"/>
                </a:ext>
              </a:extLst>
            </p:cNvPr>
            <p:cNvGrpSpPr/>
            <p:nvPr/>
          </p:nvGrpSpPr>
          <p:grpSpPr>
            <a:xfrm>
              <a:off x="9862735" y="4190404"/>
              <a:ext cx="1005981" cy="715357"/>
              <a:chOff x="9885752" y="3994461"/>
              <a:chExt cx="1005981" cy="715357"/>
            </a:xfrm>
          </p:grpSpPr>
          <p:sp>
            <p:nvSpPr>
              <p:cNvPr id="61" name="TextBox 60">
                <a:extLst>
                  <a:ext uri="{FF2B5EF4-FFF2-40B4-BE49-F238E27FC236}">
                    <a16:creationId xmlns:a16="http://schemas.microsoft.com/office/drawing/2014/main" id="{5A91DA97-62DE-AF4F-89AF-582539A80802}"/>
                  </a:ext>
                  <a:ext uri="{C183D7F6-B498-43B3-948B-1728B52AA6E4}">
                    <adec:decorative xmlns:adec="http://schemas.microsoft.com/office/drawing/2017/decorative" val="1"/>
                  </a:ext>
                </a:extLst>
              </p:cNvPr>
              <p:cNvSpPr txBox="1"/>
              <p:nvPr/>
            </p:nvSpPr>
            <p:spPr>
              <a:xfrm>
                <a:off x="9885752" y="4463597"/>
                <a:ext cx="1005981" cy="246221"/>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cs typeface="Segoe Sans Display" pitchFamily="2" charset="0"/>
                  </a:rPr>
                  <a:t>Warehouse</a:t>
                </a:r>
              </a:p>
            </p:txBody>
          </p:sp>
          <p:sp>
            <p:nvSpPr>
              <p:cNvPr id="62" name="server" descr="Ivon of a">
                <a:extLst>
                  <a:ext uri="{FF2B5EF4-FFF2-40B4-BE49-F238E27FC236}">
                    <a16:creationId xmlns:a16="http://schemas.microsoft.com/office/drawing/2014/main" id="{7522B074-CDC4-C845-ADAA-B4853EAF640F}"/>
                  </a:ext>
                  <a:ext uri="{C183D7F6-B498-43B3-948B-1728B52AA6E4}">
                    <adec:decorative xmlns:adec="http://schemas.microsoft.com/office/drawing/2017/decorative" val="0"/>
                  </a:ext>
                </a:extLst>
              </p:cNvPr>
              <p:cNvSpPr>
                <a:spLocks noChangeAspect="1" noEditPoints="1"/>
              </p:cNvSpPr>
              <p:nvPr/>
            </p:nvSpPr>
            <p:spPr bwMode="auto">
              <a:xfrm>
                <a:off x="10292459" y="3994461"/>
                <a:ext cx="192569" cy="365760"/>
              </a:xfrm>
              <a:custGeom>
                <a:avLst/>
                <a:gdLst>
                  <a:gd name="T0" fmla="*/ 318 w 318"/>
                  <a:gd name="T1" fmla="*/ 283 h 604"/>
                  <a:gd name="T2" fmla="*/ 318 w 318"/>
                  <a:gd name="T3" fmla="*/ 604 h 604"/>
                  <a:gd name="T4" fmla="*/ 0 w 318"/>
                  <a:gd name="T5" fmla="*/ 604 h 604"/>
                  <a:gd name="T6" fmla="*/ 0 w 318"/>
                  <a:gd name="T7" fmla="*/ 0 h 604"/>
                  <a:gd name="T8" fmla="*/ 318 w 318"/>
                  <a:gd name="T9" fmla="*/ 0 h 604"/>
                  <a:gd name="T10" fmla="*/ 318 w 318"/>
                  <a:gd name="T11" fmla="*/ 283 h 604"/>
                  <a:gd name="T12" fmla="*/ 67 w 318"/>
                  <a:gd name="T13" fmla="*/ 97 h 604"/>
                  <a:gd name="T14" fmla="*/ 249 w 318"/>
                  <a:gd name="T15" fmla="*/ 97 h 604"/>
                  <a:gd name="T16" fmla="*/ 67 w 318"/>
                  <a:gd name="T17" fmla="*/ 414 h 604"/>
                  <a:gd name="T18" fmla="*/ 249 w 318"/>
                  <a:gd name="T19" fmla="*/ 414 h 604"/>
                  <a:gd name="T20" fmla="*/ 67 w 318"/>
                  <a:gd name="T21" fmla="*/ 504 h 604"/>
                  <a:gd name="T22" fmla="*/ 249 w 318"/>
                  <a:gd name="T23" fmla="*/ 5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8" h="604">
                    <a:moveTo>
                      <a:pt x="318" y="283"/>
                    </a:moveTo>
                    <a:lnTo>
                      <a:pt x="318" y="604"/>
                    </a:lnTo>
                    <a:lnTo>
                      <a:pt x="0" y="604"/>
                    </a:lnTo>
                    <a:lnTo>
                      <a:pt x="0" y="0"/>
                    </a:lnTo>
                    <a:lnTo>
                      <a:pt x="318" y="0"/>
                    </a:lnTo>
                    <a:lnTo>
                      <a:pt x="318" y="283"/>
                    </a:lnTo>
                    <a:moveTo>
                      <a:pt x="67" y="97"/>
                    </a:moveTo>
                    <a:lnTo>
                      <a:pt x="249" y="97"/>
                    </a:lnTo>
                    <a:moveTo>
                      <a:pt x="67" y="414"/>
                    </a:moveTo>
                    <a:lnTo>
                      <a:pt x="249" y="414"/>
                    </a:lnTo>
                    <a:moveTo>
                      <a:pt x="67" y="504"/>
                    </a:moveTo>
                    <a:lnTo>
                      <a:pt x="249" y="504"/>
                    </a:lnTo>
                  </a:path>
                </a:pathLst>
              </a:custGeom>
              <a:noFill/>
              <a:ln w="15875" cap="sq">
                <a:solidFill>
                  <a:srgbClr val="2F2F2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Sans Display" pitchFamily="2" charset="0"/>
                  <a:cs typeface="Segoe Sans Display" pitchFamily="2" charset="0"/>
                </a:endParaRPr>
              </a:p>
            </p:txBody>
          </p:sp>
        </p:grpSp>
        <p:sp>
          <p:nvSpPr>
            <p:cNvPr id="59" name="TextBox 58">
              <a:extLst>
                <a:ext uri="{FF2B5EF4-FFF2-40B4-BE49-F238E27FC236}">
                  <a16:creationId xmlns:a16="http://schemas.microsoft.com/office/drawing/2014/main" id="{080BFFDF-5460-694E-B0B8-6F341799FC87}"/>
                </a:ext>
                <a:ext uri="{C183D7F6-B498-43B3-948B-1728B52AA6E4}">
                  <adec:decorative xmlns:adec="http://schemas.microsoft.com/office/drawing/2017/decorative" val="1"/>
                </a:ext>
              </a:extLst>
            </p:cNvPr>
            <p:cNvSpPr txBox="1"/>
            <p:nvPr/>
          </p:nvSpPr>
          <p:spPr>
            <a:xfrm>
              <a:off x="9943334" y="2101101"/>
              <a:ext cx="844783" cy="307777"/>
            </a:xfrm>
            <a:prstGeom prst="rect">
              <a:avLst/>
            </a:prstGeom>
            <a:noFill/>
          </p:spPr>
          <p:txBody>
            <a:bodyPr wrap="non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i="0" u="none" strike="noStrike" cap="none" spc="0" normalizeH="0" baseline="0">
                  <a:ln>
                    <a:noFill/>
                  </a:ln>
                  <a:effectLst/>
                  <a:uLnTx/>
                  <a:uFillTx/>
                  <a:latin typeface="Segoe Sans Display Semibold" pitchFamily="2" charset="0"/>
                  <a:cs typeface="Segoe Sans Display Semibold" pitchFamily="2" charset="0"/>
                </a:defRPr>
              </a:lvl1pPr>
            </a:lstStyle>
            <a:p>
              <a:r>
                <a:rPr lang="en-US"/>
                <a:t>Expose</a:t>
              </a:r>
            </a:p>
          </p:txBody>
        </p:sp>
        <p:sp>
          <p:nvSpPr>
            <p:cNvPr id="60" name="TextBox 59">
              <a:extLst>
                <a:ext uri="{FF2B5EF4-FFF2-40B4-BE49-F238E27FC236}">
                  <a16:creationId xmlns:a16="http://schemas.microsoft.com/office/drawing/2014/main" id="{C7CD94DB-62BC-1A46-9DDE-2185FE81FE7C}"/>
                </a:ext>
                <a:ext uri="{C183D7F6-B498-43B3-948B-1728B52AA6E4}">
                  <adec:decorative xmlns:adec="http://schemas.microsoft.com/office/drawing/2017/decorative" val="1"/>
                </a:ext>
              </a:extLst>
            </p:cNvPr>
            <p:cNvSpPr txBox="1"/>
            <p:nvPr/>
          </p:nvSpPr>
          <p:spPr>
            <a:xfrm>
              <a:off x="9435984" y="3412991"/>
              <a:ext cx="1859483" cy="246221"/>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cs typeface="Segoe Sans Display" pitchFamily="2" charset="0"/>
                </a:rPr>
                <a:t>Business Intelligence</a:t>
              </a:r>
            </a:p>
          </p:txBody>
        </p:sp>
        <p:cxnSp>
          <p:nvCxnSpPr>
            <p:cNvPr id="63" name="Straight Arrow Connector 62">
              <a:extLst>
                <a:ext uri="{FF2B5EF4-FFF2-40B4-BE49-F238E27FC236}">
                  <a16:creationId xmlns:a16="http://schemas.microsoft.com/office/drawing/2014/main" id="{216AF6CA-31EA-264A-A664-BA9278D211C0}"/>
                </a:ext>
                <a:ext uri="{C183D7F6-B498-43B3-948B-1728B52AA6E4}">
                  <adec:decorative xmlns:adec="http://schemas.microsoft.com/office/drawing/2017/decorative" val="1"/>
                </a:ext>
              </a:extLst>
            </p:cNvPr>
            <p:cNvCxnSpPr>
              <a:cxnSpLocks/>
            </p:cNvCxnSpPr>
            <p:nvPr/>
          </p:nvCxnSpPr>
          <p:spPr>
            <a:xfrm>
              <a:off x="3015870" y="3140058"/>
              <a:ext cx="773877" cy="0"/>
            </a:xfrm>
            <a:prstGeom prst="straightConnector1">
              <a:avLst/>
            </a:prstGeom>
            <a:ln w="38100">
              <a:solidFill>
                <a:srgbClr val="117865"/>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7950ABF5-2883-4242-BC42-E44ACD03A6EB}"/>
                </a:ext>
              </a:extLst>
            </p:cNvPr>
            <p:cNvGrpSpPr/>
            <p:nvPr/>
          </p:nvGrpSpPr>
          <p:grpSpPr>
            <a:xfrm>
              <a:off x="8325879" y="2994008"/>
              <a:ext cx="996840" cy="1377309"/>
              <a:chOff x="8477507" y="3152213"/>
              <a:chExt cx="996840" cy="1377309"/>
            </a:xfrm>
          </p:grpSpPr>
          <p:cxnSp>
            <p:nvCxnSpPr>
              <p:cNvPr id="66" name="Elbow Connector 81">
                <a:extLst>
                  <a:ext uri="{FF2B5EF4-FFF2-40B4-BE49-F238E27FC236}">
                    <a16:creationId xmlns:a16="http://schemas.microsoft.com/office/drawing/2014/main" id="{F0F39077-3D04-9245-A3BC-EE6488A51192}"/>
                  </a:ext>
                  <a:ext uri="{C183D7F6-B498-43B3-948B-1728B52AA6E4}">
                    <adec:decorative xmlns:adec="http://schemas.microsoft.com/office/drawing/2017/decorative" val="1"/>
                  </a:ext>
                </a:extLst>
              </p:cNvPr>
              <p:cNvCxnSpPr>
                <a:cxnSpLocks/>
              </p:cNvCxnSpPr>
              <p:nvPr/>
            </p:nvCxnSpPr>
            <p:spPr>
              <a:xfrm rot="16200000" flipH="1">
                <a:off x="8598037" y="3653213"/>
                <a:ext cx="1254199" cy="498420"/>
              </a:xfrm>
              <a:prstGeom prst="bentConnector3">
                <a:avLst>
                  <a:gd name="adj1" fmla="val 99790"/>
                </a:avLst>
              </a:prstGeom>
              <a:ln w="38100">
                <a:solidFill>
                  <a:srgbClr val="117865"/>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7" name="Elbow Connector 82">
                <a:extLst>
                  <a:ext uri="{FF2B5EF4-FFF2-40B4-BE49-F238E27FC236}">
                    <a16:creationId xmlns:a16="http://schemas.microsoft.com/office/drawing/2014/main" id="{01E679AB-6E0E-384F-90BB-3FC25F9580A7}"/>
                  </a:ext>
                  <a:ext uri="{C183D7F6-B498-43B3-948B-1728B52AA6E4}">
                    <adec:decorative xmlns:adec="http://schemas.microsoft.com/office/drawing/2017/decorative" val="1"/>
                  </a:ext>
                </a:extLst>
              </p:cNvPr>
              <p:cNvCxnSpPr>
                <a:cxnSpLocks/>
              </p:cNvCxnSpPr>
              <p:nvPr/>
            </p:nvCxnSpPr>
            <p:spPr>
              <a:xfrm flipV="1">
                <a:off x="8477507" y="3152213"/>
                <a:ext cx="996837" cy="123393"/>
              </a:xfrm>
              <a:prstGeom prst="bentConnector3">
                <a:avLst>
                  <a:gd name="adj1" fmla="val 50000"/>
                </a:avLst>
              </a:prstGeom>
              <a:ln w="38100">
                <a:solidFill>
                  <a:srgbClr val="117865"/>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cxnSp>
          <p:nvCxnSpPr>
            <p:cNvPr id="68" name="Straight Arrow Connector 67">
              <a:extLst>
                <a:ext uri="{FF2B5EF4-FFF2-40B4-BE49-F238E27FC236}">
                  <a16:creationId xmlns:a16="http://schemas.microsoft.com/office/drawing/2014/main" id="{D08ED61E-0BFE-1E4E-A124-8F3D16058F7F}"/>
                </a:ext>
                <a:ext uri="{C183D7F6-B498-43B3-948B-1728B52AA6E4}">
                  <adec:decorative xmlns:adec="http://schemas.microsoft.com/office/drawing/2017/decorative" val="1"/>
                </a:ext>
              </a:extLst>
            </p:cNvPr>
            <p:cNvCxnSpPr>
              <a:cxnSpLocks/>
            </p:cNvCxnSpPr>
            <p:nvPr/>
          </p:nvCxnSpPr>
          <p:spPr>
            <a:xfrm>
              <a:off x="7343973" y="3844914"/>
              <a:ext cx="0" cy="703965"/>
            </a:xfrm>
            <a:prstGeom prst="straightConnector1">
              <a:avLst/>
            </a:prstGeom>
            <a:ln w="38100">
              <a:solidFill>
                <a:srgbClr val="117865"/>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10906738-77B1-0847-9285-62A84FDBBC86}"/>
                </a:ext>
              </a:extLst>
            </p:cNvPr>
            <p:cNvGrpSpPr/>
            <p:nvPr/>
          </p:nvGrpSpPr>
          <p:grpSpPr>
            <a:xfrm>
              <a:off x="6629639" y="2854611"/>
              <a:ext cx="1483676" cy="804601"/>
              <a:chOff x="6820048" y="2658668"/>
              <a:chExt cx="1483676" cy="804601"/>
            </a:xfrm>
          </p:grpSpPr>
          <p:sp>
            <p:nvSpPr>
              <p:cNvPr id="76" name="TextBox 75">
                <a:extLst>
                  <a:ext uri="{FF2B5EF4-FFF2-40B4-BE49-F238E27FC236}">
                    <a16:creationId xmlns:a16="http://schemas.microsoft.com/office/drawing/2014/main" id="{C54F6299-7194-1C4C-975B-24B8DDDB7A47}"/>
                  </a:ext>
                  <a:ext uri="{C183D7F6-B498-43B3-948B-1728B52AA6E4}">
                    <adec:decorative xmlns:adec="http://schemas.microsoft.com/office/drawing/2017/decorative" val="1"/>
                  </a:ext>
                </a:extLst>
              </p:cNvPr>
              <p:cNvSpPr txBox="1"/>
              <p:nvPr/>
            </p:nvSpPr>
            <p:spPr>
              <a:xfrm>
                <a:off x="6820048" y="3217048"/>
                <a:ext cx="1483676" cy="246221"/>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cs typeface="Segoe Sans Display" pitchFamily="2" charset="0"/>
                  </a:rPr>
                  <a:t>Data Warehouse</a:t>
                </a:r>
              </a:p>
            </p:txBody>
          </p:sp>
          <p:pic>
            <p:nvPicPr>
              <p:cNvPr id="116" name="Picture 115" descr="Icon of a house">
                <a:extLst>
                  <a:ext uri="{FF2B5EF4-FFF2-40B4-BE49-F238E27FC236}">
                    <a16:creationId xmlns:a16="http://schemas.microsoft.com/office/drawing/2014/main" id="{BD62E2CE-8B5A-6749-BDC1-03A539E14E56}"/>
                  </a:ext>
                  <a:ext uri="{C183D7F6-B498-43B3-948B-1728B52AA6E4}">
                    <adec:decorative xmlns:adec="http://schemas.microsoft.com/office/drawing/2017/decorative" val="0"/>
                  </a:ext>
                </a:extLst>
              </p:cNvPr>
              <p:cNvPicPr>
                <a:picLocks noChangeAspect="1"/>
              </p:cNvPicPr>
              <p:nvPr/>
            </p:nvPicPr>
            <p:blipFill>
              <a:blip r:embed="rId7"/>
              <a:stretch>
                <a:fillRect/>
              </a:stretch>
            </p:blipFill>
            <p:spPr>
              <a:xfrm>
                <a:off x="7287876" y="2658668"/>
                <a:ext cx="533400" cy="342900"/>
              </a:xfrm>
              <a:prstGeom prst="rect">
                <a:avLst/>
              </a:prstGeom>
            </p:spPr>
          </p:pic>
        </p:grpSp>
        <p:sp>
          <p:nvSpPr>
            <p:cNvPr id="71" name="TextBox 70">
              <a:extLst>
                <a:ext uri="{FF2B5EF4-FFF2-40B4-BE49-F238E27FC236}">
                  <a16:creationId xmlns:a16="http://schemas.microsoft.com/office/drawing/2014/main" id="{F4572956-FE3B-3642-ABE5-FE3A230941CE}"/>
                </a:ext>
                <a:ext uri="{C183D7F6-B498-43B3-948B-1728B52AA6E4}">
                  <adec:decorative xmlns:adec="http://schemas.microsoft.com/office/drawing/2017/decorative" val="1"/>
                </a:ext>
              </a:extLst>
            </p:cNvPr>
            <p:cNvSpPr txBox="1"/>
            <p:nvPr/>
          </p:nvSpPr>
          <p:spPr>
            <a:xfrm>
              <a:off x="7046516" y="2101101"/>
              <a:ext cx="649922" cy="307777"/>
            </a:xfrm>
            <a:prstGeom prst="rect">
              <a:avLst/>
            </a:prstGeom>
            <a:noFill/>
          </p:spPr>
          <p:txBody>
            <a:bodyPr wrap="non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i="0" u="none" strike="noStrike" cap="none" spc="0" normalizeH="0" baseline="0">
                  <a:ln>
                    <a:noFill/>
                  </a:ln>
                  <a:effectLst/>
                  <a:uLnTx/>
                  <a:uFillTx/>
                  <a:latin typeface="Segoe Sans Display Semibold" pitchFamily="2" charset="0"/>
                  <a:cs typeface="Segoe Sans Display Semibold" pitchFamily="2" charset="0"/>
                </a:defRPr>
              </a:lvl1pPr>
            </a:lstStyle>
            <a:p>
              <a:r>
                <a:rPr lang="en-US"/>
                <a:t>Store</a:t>
              </a:r>
            </a:p>
          </p:txBody>
        </p:sp>
        <p:grpSp>
          <p:nvGrpSpPr>
            <p:cNvPr id="72" name="Group 71">
              <a:extLst>
                <a:ext uri="{FF2B5EF4-FFF2-40B4-BE49-F238E27FC236}">
                  <a16:creationId xmlns:a16="http://schemas.microsoft.com/office/drawing/2014/main" id="{C00359F2-00A1-A649-9052-5831AEBFA68D}"/>
                </a:ext>
              </a:extLst>
            </p:cNvPr>
            <p:cNvGrpSpPr/>
            <p:nvPr/>
          </p:nvGrpSpPr>
          <p:grpSpPr>
            <a:xfrm>
              <a:off x="6727266" y="4802455"/>
              <a:ext cx="1233415" cy="1107210"/>
              <a:chOff x="6917675" y="4741136"/>
              <a:chExt cx="1233415" cy="1107210"/>
            </a:xfrm>
          </p:grpSpPr>
          <p:sp>
            <p:nvSpPr>
              <p:cNvPr id="73" name="TextBox 72">
                <a:extLst>
                  <a:ext uri="{FF2B5EF4-FFF2-40B4-BE49-F238E27FC236}">
                    <a16:creationId xmlns:a16="http://schemas.microsoft.com/office/drawing/2014/main" id="{BEFA66A8-D054-5144-8701-533C3CB703FF}"/>
                  </a:ext>
                  <a:ext uri="{C183D7F6-B498-43B3-948B-1728B52AA6E4}">
                    <adec:decorative xmlns:adec="http://schemas.microsoft.com/office/drawing/2017/decorative" val="1"/>
                  </a:ext>
                </a:extLst>
              </p:cNvPr>
              <p:cNvSpPr txBox="1"/>
              <p:nvPr/>
            </p:nvSpPr>
            <p:spPr>
              <a:xfrm>
                <a:off x="7033732" y="5602125"/>
                <a:ext cx="985078" cy="246221"/>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cs typeface="Segoe Sans Display" pitchFamily="2" charset="0"/>
                  </a:rPr>
                  <a:t>Procedures</a:t>
                </a:r>
              </a:p>
            </p:txBody>
          </p:sp>
          <p:sp>
            <p:nvSpPr>
              <p:cNvPr id="74" name="Website" descr="Icon of two smaller rectangles within a larger rectangle">
                <a:extLst>
                  <a:ext uri="{FF2B5EF4-FFF2-40B4-BE49-F238E27FC236}">
                    <a16:creationId xmlns:a16="http://schemas.microsoft.com/office/drawing/2014/main" id="{B054AE18-1E1D-CD48-9496-C656A7186D1A}"/>
                  </a:ext>
                  <a:ext uri="{C183D7F6-B498-43B3-948B-1728B52AA6E4}">
                    <adec:decorative xmlns:adec="http://schemas.microsoft.com/office/drawing/2017/decorative" val="0"/>
                  </a:ext>
                </a:extLst>
              </p:cNvPr>
              <p:cNvSpPr>
                <a:spLocks noChangeAspect="1" noEditPoints="1"/>
              </p:cNvSpPr>
              <p:nvPr/>
            </p:nvSpPr>
            <p:spPr bwMode="auto">
              <a:xfrm>
                <a:off x="7325668" y="4741136"/>
                <a:ext cx="417429" cy="365760"/>
              </a:xfrm>
              <a:custGeom>
                <a:avLst/>
                <a:gdLst>
                  <a:gd name="T0" fmla="*/ 0 w 614"/>
                  <a:gd name="T1" fmla="*/ 0 h 538"/>
                  <a:gd name="T2" fmla="*/ 614 w 614"/>
                  <a:gd name="T3" fmla="*/ 0 h 538"/>
                  <a:gd name="T4" fmla="*/ 614 w 614"/>
                  <a:gd name="T5" fmla="*/ 538 h 538"/>
                  <a:gd name="T6" fmla="*/ 0 w 614"/>
                  <a:gd name="T7" fmla="*/ 538 h 538"/>
                  <a:gd name="T8" fmla="*/ 0 w 614"/>
                  <a:gd name="T9" fmla="*/ 0 h 538"/>
                  <a:gd name="T10" fmla="*/ 0 w 614"/>
                  <a:gd name="T11" fmla="*/ 0 h 538"/>
                  <a:gd name="T12" fmla="*/ 327 w 614"/>
                  <a:gd name="T13" fmla="*/ 250 h 538"/>
                  <a:gd name="T14" fmla="*/ 327 w 614"/>
                  <a:gd name="T15" fmla="*/ 250 h 538"/>
                  <a:gd name="T16" fmla="*/ 327 w 614"/>
                  <a:gd name="T17" fmla="*/ 87 h 538"/>
                  <a:gd name="T18" fmla="*/ 77 w 614"/>
                  <a:gd name="T19" fmla="*/ 87 h 538"/>
                  <a:gd name="T20" fmla="*/ 77 w 614"/>
                  <a:gd name="T21" fmla="*/ 250 h 538"/>
                  <a:gd name="T22" fmla="*/ 128 w 614"/>
                  <a:gd name="T23" fmla="*/ 250 h 538"/>
                  <a:gd name="T24" fmla="*/ 327 w 614"/>
                  <a:gd name="T25" fmla="*/ 250 h 538"/>
                  <a:gd name="T26" fmla="*/ 327 w 614"/>
                  <a:gd name="T27" fmla="*/ 250 h 538"/>
                  <a:gd name="T28" fmla="*/ 139 w 614"/>
                  <a:gd name="T29" fmla="*/ 254 h 538"/>
                  <a:gd name="T30" fmla="*/ 139 w 614"/>
                  <a:gd name="T31" fmla="*/ 362 h 538"/>
                  <a:gd name="T32" fmla="*/ 513 w 614"/>
                  <a:gd name="T33" fmla="*/ 362 h 538"/>
                  <a:gd name="T34" fmla="*/ 513 w 614"/>
                  <a:gd name="T35" fmla="*/ 163 h 538"/>
                  <a:gd name="T36" fmla="*/ 325 w 614"/>
                  <a:gd name="T37" fmla="*/ 163 h 538"/>
                  <a:gd name="T38" fmla="*/ 0 w 614"/>
                  <a:gd name="T39" fmla="*/ 451 h 538"/>
                  <a:gd name="T40" fmla="*/ 614 w 614"/>
                  <a:gd name="T41" fmla="*/ 451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14" h="538">
                    <a:moveTo>
                      <a:pt x="0" y="0"/>
                    </a:moveTo>
                    <a:lnTo>
                      <a:pt x="614" y="0"/>
                    </a:lnTo>
                    <a:lnTo>
                      <a:pt x="614" y="538"/>
                    </a:lnTo>
                    <a:lnTo>
                      <a:pt x="0" y="538"/>
                    </a:lnTo>
                    <a:lnTo>
                      <a:pt x="0" y="0"/>
                    </a:lnTo>
                    <a:lnTo>
                      <a:pt x="0" y="0"/>
                    </a:lnTo>
                    <a:moveTo>
                      <a:pt x="327" y="250"/>
                    </a:moveTo>
                    <a:lnTo>
                      <a:pt x="327" y="250"/>
                    </a:lnTo>
                    <a:lnTo>
                      <a:pt x="327" y="87"/>
                    </a:lnTo>
                    <a:lnTo>
                      <a:pt x="77" y="87"/>
                    </a:lnTo>
                    <a:lnTo>
                      <a:pt x="77" y="250"/>
                    </a:lnTo>
                    <a:lnTo>
                      <a:pt x="128" y="250"/>
                    </a:lnTo>
                    <a:lnTo>
                      <a:pt x="327" y="250"/>
                    </a:lnTo>
                    <a:lnTo>
                      <a:pt x="327" y="250"/>
                    </a:lnTo>
                    <a:moveTo>
                      <a:pt x="139" y="254"/>
                    </a:moveTo>
                    <a:lnTo>
                      <a:pt x="139" y="362"/>
                    </a:lnTo>
                    <a:lnTo>
                      <a:pt x="513" y="362"/>
                    </a:lnTo>
                    <a:lnTo>
                      <a:pt x="513" y="163"/>
                    </a:lnTo>
                    <a:lnTo>
                      <a:pt x="325" y="163"/>
                    </a:lnTo>
                    <a:moveTo>
                      <a:pt x="0" y="451"/>
                    </a:moveTo>
                    <a:lnTo>
                      <a:pt x="614" y="451"/>
                    </a:lnTo>
                  </a:path>
                </a:pathLst>
              </a:custGeom>
              <a:noFill/>
              <a:ln w="15875" cap="sq">
                <a:solidFill>
                  <a:srgbClr val="2F2F2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Display" pitchFamily="2" charset="0"/>
                  <a:cs typeface="Segoe Sans Display" pitchFamily="2" charset="0"/>
                </a:endParaRPr>
              </a:p>
            </p:txBody>
          </p:sp>
          <p:sp>
            <p:nvSpPr>
              <p:cNvPr id="75" name="TextBox 74">
                <a:extLst>
                  <a:ext uri="{FF2B5EF4-FFF2-40B4-BE49-F238E27FC236}">
                    <a16:creationId xmlns:a16="http://schemas.microsoft.com/office/drawing/2014/main" id="{47DAEB26-6B93-FA42-BE4D-C43CA5F20C41}"/>
                  </a:ext>
                  <a:ext uri="{C183D7F6-B498-43B3-948B-1728B52AA6E4}">
                    <adec:decorative xmlns:adec="http://schemas.microsoft.com/office/drawing/2017/decorative" val="1"/>
                  </a:ext>
                </a:extLst>
              </p:cNvPr>
              <p:cNvSpPr txBox="1"/>
              <p:nvPr/>
            </p:nvSpPr>
            <p:spPr>
              <a:xfrm>
                <a:off x="6917675" y="5278963"/>
                <a:ext cx="1233415" cy="307777"/>
              </a:xfrm>
              <a:prstGeom prst="rect">
                <a:avLst/>
              </a:prstGeom>
              <a:noFill/>
            </p:spPr>
            <p:txBody>
              <a:bodyPr wrap="non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i="0" u="none" strike="noStrike" cap="none" spc="0" normalizeH="0" baseline="0">
                    <a:ln>
                      <a:noFill/>
                    </a:ln>
                    <a:effectLst/>
                    <a:uLnTx/>
                    <a:uFillTx/>
                    <a:latin typeface="Segoe Sans Display Semibold" pitchFamily="2" charset="0"/>
                    <a:cs typeface="Segoe Sans Display Semibold" pitchFamily="2" charset="0"/>
                  </a:defRPr>
                </a:lvl1pPr>
              </a:lstStyle>
              <a:p>
                <a:r>
                  <a:rPr lang="en-US"/>
                  <a:t>Transform</a:t>
                </a:r>
              </a:p>
            </p:txBody>
          </p:sp>
        </p:grpSp>
        <p:pic>
          <p:nvPicPr>
            <p:cNvPr id="117" name="Graphic 116" descr="Icon of ascending signal bars">
              <a:extLst>
                <a:ext uri="{FF2B5EF4-FFF2-40B4-BE49-F238E27FC236}">
                  <a16:creationId xmlns:a16="http://schemas.microsoft.com/office/drawing/2014/main" id="{6DFAFB5E-AFE3-864B-A6FC-F3D4968A587C}"/>
                </a:ext>
                <a:ext uri="{C183D7F6-B498-43B3-948B-1728B52AA6E4}">
                  <adec:decorative xmlns:adec="http://schemas.microsoft.com/office/drawing/2017/decorative" val="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02351" y="2662687"/>
              <a:ext cx="726749" cy="726749"/>
            </a:xfrm>
            <a:prstGeom prst="rect">
              <a:avLst/>
            </a:prstGeom>
          </p:spPr>
        </p:pic>
        <p:cxnSp>
          <p:nvCxnSpPr>
            <p:cNvPr id="8" name="Straight Arrow Connector 7">
              <a:extLst>
                <a:ext uri="{FF2B5EF4-FFF2-40B4-BE49-F238E27FC236}">
                  <a16:creationId xmlns:a16="http://schemas.microsoft.com/office/drawing/2014/main" id="{E8A22315-781D-2645-E34C-4CBAF2096FF1}"/>
                </a:ext>
                <a:ext uri="{C183D7F6-B498-43B3-948B-1728B52AA6E4}">
                  <adec:decorative xmlns:adec="http://schemas.microsoft.com/office/drawing/2017/decorative" val="1"/>
                </a:ext>
              </a:extLst>
            </p:cNvPr>
            <p:cNvCxnSpPr>
              <a:cxnSpLocks/>
            </p:cNvCxnSpPr>
            <p:nvPr/>
          </p:nvCxnSpPr>
          <p:spPr>
            <a:xfrm>
              <a:off x="5547196" y="3140058"/>
              <a:ext cx="773877" cy="0"/>
            </a:xfrm>
            <a:prstGeom prst="straightConnector1">
              <a:avLst/>
            </a:prstGeom>
            <a:ln w="38100">
              <a:solidFill>
                <a:srgbClr val="117865"/>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sp>
        <p:nvSpPr>
          <p:cNvPr id="6" name="Slide Number Placeholder 5">
            <a:extLst>
              <a:ext uri="{FF2B5EF4-FFF2-40B4-BE49-F238E27FC236}">
                <a16:creationId xmlns:a16="http://schemas.microsoft.com/office/drawing/2014/main" id="{71FF4A0A-FA69-F045-AA5B-FCEF9451C0C1}"/>
              </a:ext>
            </a:extLst>
          </p:cNvPr>
          <p:cNvSpPr>
            <a:spLocks noGrp="1"/>
          </p:cNvSpPr>
          <p:nvPr>
            <p:ph type="sldNum" sz="quarter" idx="11"/>
          </p:nvPr>
        </p:nvSpPr>
        <p:spPr>
          <a:xfrm>
            <a:off x="612571" y="6309519"/>
            <a:ext cx="399288" cy="365125"/>
          </a:xfrm>
        </p:spPr>
        <p:txBody>
          <a:bodyPr/>
          <a:lstStyle/>
          <a:p>
            <a:pPr lvl="0"/>
            <a:fld id="{B1356FBF-028C-F74E-A7B4-9B8ED246DD1B}" type="slidenum">
              <a:rPr lang="en-US" noProof="0" smtClean="0"/>
              <a:pPr lvl="0"/>
              <a:t>7</a:t>
            </a:fld>
            <a:endParaRPr lang="en-US" noProof="0"/>
          </a:p>
        </p:txBody>
      </p:sp>
      <p:sp>
        <p:nvSpPr>
          <p:cNvPr id="5" name="Footer Placeholder 4">
            <a:extLst>
              <a:ext uri="{FF2B5EF4-FFF2-40B4-BE49-F238E27FC236}">
                <a16:creationId xmlns:a16="http://schemas.microsoft.com/office/drawing/2014/main" id="{151131EE-0515-804A-81E1-B8016E00426E}"/>
              </a:ext>
            </a:extLst>
          </p:cNvPr>
          <p:cNvSpPr>
            <a:spLocks noGrp="1"/>
          </p:cNvSpPr>
          <p:nvPr>
            <p:ph type="ftr" sz="quarter" idx="10"/>
          </p:nvPr>
        </p:nvSpPr>
        <p:spPr>
          <a:xfrm>
            <a:off x="1011859" y="6309519"/>
            <a:ext cx="2078736" cy="365125"/>
          </a:xfrm>
        </p:spPr>
        <p:txBody>
          <a:bodyPr/>
          <a:lstStyle/>
          <a:p>
            <a:pPr lvl="0"/>
            <a:r>
              <a:rPr lang="en-US" noProof="0"/>
              <a:t>Microsoft Fabric</a:t>
            </a:r>
          </a:p>
        </p:txBody>
      </p:sp>
    </p:spTree>
    <p:extLst>
      <p:ext uri="{BB962C8B-B14F-4D97-AF65-F5344CB8AC3E}">
        <p14:creationId xmlns:p14="http://schemas.microsoft.com/office/powerpoint/2010/main" val="129112544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0DD65C5-8B65-A095-8FE0-C3B19663362D}"/>
              </a:ext>
            </a:extLst>
          </p:cNvPr>
          <p:cNvSpPr>
            <a:spLocks noGrp="1"/>
          </p:cNvSpPr>
          <p:nvPr>
            <p:ph type="sldNum" sz="quarter" idx="11"/>
          </p:nvPr>
        </p:nvSpPr>
        <p:spPr/>
        <p:txBody>
          <a:bodyPr/>
          <a:lstStyle/>
          <a:p>
            <a:fld id="{B1356FBF-028C-F74E-A7B4-9B8ED246DD1B}" type="slidenum">
              <a:rPr lang="en-US" smtClean="0"/>
              <a:pPr/>
              <a:t>8</a:t>
            </a:fld>
            <a:endParaRPr lang="en-US"/>
          </a:p>
        </p:txBody>
      </p:sp>
      <p:sp>
        <p:nvSpPr>
          <p:cNvPr id="3" name="Titre 2">
            <a:extLst>
              <a:ext uri="{FF2B5EF4-FFF2-40B4-BE49-F238E27FC236}">
                <a16:creationId xmlns:a16="http://schemas.microsoft.com/office/drawing/2014/main" id="{DF937963-5BAF-9963-40EA-87CA542B6C36}"/>
              </a:ext>
            </a:extLst>
          </p:cNvPr>
          <p:cNvSpPr>
            <a:spLocks noGrp="1"/>
          </p:cNvSpPr>
          <p:nvPr>
            <p:ph type="title"/>
          </p:nvPr>
        </p:nvSpPr>
        <p:spPr/>
        <p:txBody>
          <a:bodyPr/>
          <a:lstStyle/>
          <a:p>
            <a:r>
              <a:rPr lang="fr-FR" dirty="0" err="1"/>
              <a:t>Lakehouse</a:t>
            </a:r>
            <a:r>
              <a:rPr lang="fr-FR" dirty="0"/>
              <a:t> VS Warehouse</a:t>
            </a:r>
          </a:p>
        </p:txBody>
      </p:sp>
      <p:pic>
        <p:nvPicPr>
          <p:cNvPr id="1026" name="Picture 2">
            <a:extLst>
              <a:ext uri="{FF2B5EF4-FFF2-40B4-BE49-F238E27FC236}">
                <a16:creationId xmlns:a16="http://schemas.microsoft.com/office/drawing/2014/main" id="{333FA0F4-C5B9-4689-ABD4-7C603D35BA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4592" y="1059582"/>
            <a:ext cx="9741031" cy="5479330"/>
          </a:xfrm>
          <a:prstGeom prst="roundRect">
            <a:avLst>
              <a:gd name="adj" fmla="val 8594"/>
            </a:avLst>
          </a:prstGeom>
          <a:solidFill>
            <a:srgbClr val="FFFFFF">
              <a:shade val="85000"/>
            </a:srgbClr>
          </a:solidFill>
          <a:ln>
            <a:noFill/>
          </a:ln>
          <a:effectLst>
            <a:outerShdw blurRad="63500" sx="102000" sy="102000" algn="ctr" rotWithShape="0">
              <a:prstClr val="black">
                <a:alpha val="40000"/>
              </a:prstClr>
            </a:outerShdw>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pic>
        <p:nvPicPr>
          <p:cNvPr id="4" name="Picture 18" descr="Data warehouse logo">
            <a:extLst>
              <a:ext uri="{FF2B5EF4-FFF2-40B4-BE49-F238E27FC236}">
                <a16:creationId xmlns:a16="http://schemas.microsoft.com/office/drawing/2014/main" id="{551253CE-2202-DB91-BD31-6AA6E679A951}"/>
              </a:ext>
            </a:extLst>
          </p:cNvPr>
          <p:cNvPicPr>
            <a:picLocks noChangeAspect="1"/>
          </p:cNvPicPr>
          <p:nvPr/>
        </p:nvPicPr>
        <p:blipFill>
          <a:blip r:embed="rId3" cstate="screen">
            <a:extLst>
              <a:ext uri="{28A0092B-C50C-407E-A947-70E740481C1C}">
                <a14:useLocalDpi xmlns:a14="http://schemas.microsoft.com/office/drawing/2010/main" val="0"/>
              </a:ext>
            </a:extLst>
          </a:blip>
          <a:stretch/>
        </p:blipFill>
        <p:spPr>
          <a:xfrm>
            <a:off x="11617785" y="131716"/>
            <a:ext cx="410912" cy="411714"/>
          </a:xfrm>
          <a:prstGeom prst="rect">
            <a:avLst/>
          </a:prstGeom>
          <a:noFill/>
        </p:spPr>
      </p:pic>
    </p:spTree>
    <p:extLst>
      <p:ext uri="{BB962C8B-B14F-4D97-AF65-F5344CB8AC3E}">
        <p14:creationId xmlns:p14="http://schemas.microsoft.com/office/powerpoint/2010/main" val="308675869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FB424-3C38-6986-E61D-BF825CBF1810}"/>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9EB6C624-D6B2-598D-2DD8-82E2B14BC2F9}"/>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itle 24">
            <a:extLst>
              <a:ext uri="{FF2B5EF4-FFF2-40B4-BE49-F238E27FC236}">
                <a16:creationId xmlns:a16="http://schemas.microsoft.com/office/drawing/2014/main" id="{B3CDFECA-D0DB-F4CB-6DA9-A745F002DFA6}"/>
              </a:ext>
            </a:extLst>
          </p:cNvPr>
          <p:cNvSpPr>
            <a:spLocks noGrp="1"/>
          </p:cNvSpPr>
          <p:nvPr>
            <p:ph type="title"/>
          </p:nvPr>
        </p:nvSpPr>
        <p:spPr>
          <a:xfrm>
            <a:off x="581025" y="365125"/>
            <a:ext cx="11029950" cy="549275"/>
          </a:xfrm>
        </p:spPr>
        <p:txBody>
          <a:bodyPr anchor="t"/>
          <a:lstStyle/>
          <a:p>
            <a:pPr lvl="0"/>
            <a:r>
              <a:rPr lang="en-US" noProof="0" dirty="0">
                <a:solidFill>
                  <a:srgbClr val="FFFDF9"/>
                </a:solidFill>
              </a:rPr>
              <a:t>Data Warehouse |</a:t>
            </a:r>
            <a:br>
              <a:rPr lang="en-US" noProof="0" dirty="0">
                <a:solidFill>
                  <a:srgbClr val="FFFDF9"/>
                </a:solidFill>
              </a:rPr>
            </a:br>
            <a:r>
              <a:rPr lang="en-US" noProof="0" dirty="0">
                <a:solidFill>
                  <a:srgbClr val="FFFDF9"/>
                </a:solidFill>
              </a:rPr>
              <a:t>Overview</a:t>
            </a:r>
          </a:p>
        </p:txBody>
      </p:sp>
      <p:sp>
        <p:nvSpPr>
          <p:cNvPr id="2" name="Rectangle: Rounded Corners 19">
            <a:extLst>
              <a:ext uri="{FF2B5EF4-FFF2-40B4-BE49-F238E27FC236}">
                <a16:creationId xmlns:a16="http://schemas.microsoft.com/office/drawing/2014/main" id="{2B254A05-D096-9C0C-E115-22D1E6A4C4E8}"/>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rgbClr val="8661C5">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Sans Text"/>
              <a:ea typeface="+mn-ea"/>
              <a:cs typeface="+mn-cs"/>
            </a:endParaRPr>
          </a:p>
        </p:txBody>
      </p:sp>
      <p:sp>
        <p:nvSpPr>
          <p:cNvPr id="7" name="Graphic 51">
            <a:extLst>
              <a:ext uri="{FF2B5EF4-FFF2-40B4-BE49-F238E27FC236}">
                <a16:creationId xmlns:a16="http://schemas.microsoft.com/office/drawing/2014/main" id="{8143214B-78D6-61BC-BEB2-1DE956C0F58C}"/>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rgbClr val="49C5B1">
              <a:lumMod val="60000"/>
              <a:lumOff val="40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25B61"/>
              </a:solidFill>
              <a:effectLst/>
              <a:uLnTx/>
              <a:uFillTx/>
              <a:latin typeface="Segoe Sans Text"/>
            </a:endParaRPr>
          </a:p>
        </p:txBody>
      </p:sp>
      <p:sp>
        <p:nvSpPr>
          <p:cNvPr id="12" name="Rectangle: Rounded Corners 8">
            <a:extLst>
              <a:ext uri="{FF2B5EF4-FFF2-40B4-BE49-F238E27FC236}">
                <a16:creationId xmlns:a16="http://schemas.microsoft.com/office/drawing/2014/main" id="{1D9FB396-FFA7-6A49-A25D-3EEB8E952924}"/>
              </a:ext>
              <a:ext uri="{C183D7F6-B498-43B3-948B-1728B52AA6E4}">
                <adec:decorative xmlns:adec="http://schemas.microsoft.com/office/drawing/2017/decorative" val="1"/>
              </a:ext>
            </a:extLst>
          </p:cNvPr>
          <p:cNvSpPr>
            <a:spLocks/>
          </p:cNvSpPr>
          <p:nvPr/>
        </p:nvSpPr>
        <p:spPr>
          <a:xfrm>
            <a:off x="4930635" y="1435713"/>
            <a:ext cx="6694130" cy="4023651"/>
          </a:xfrm>
          <a:prstGeom prst="roundRect">
            <a:avLst>
              <a:gd name="adj" fmla="val 5180"/>
            </a:avLst>
          </a:prstGeom>
          <a:solidFill>
            <a:srgbClr val="F9F9F9">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endPar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cxnSp>
        <p:nvCxnSpPr>
          <p:cNvPr id="13" name="Straight Connector 12">
            <a:extLst>
              <a:ext uri="{FF2B5EF4-FFF2-40B4-BE49-F238E27FC236}">
                <a16:creationId xmlns:a16="http://schemas.microsoft.com/office/drawing/2014/main" id="{6392E132-19AB-8C3D-809E-4C78F742E70B}"/>
              </a:ext>
              <a:ext uri="{C183D7F6-B498-43B3-948B-1728B52AA6E4}">
                <adec:decorative xmlns:adec="http://schemas.microsoft.com/office/drawing/2017/decorative" val="1"/>
              </a:ext>
            </a:extLst>
          </p:cNvPr>
          <p:cNvCxnSpPr>
            <a:cxnSpLocks/>
          </p:cNvCxnSpPr>
          <p:nvPr/>
        </p:nvCxnSpPr>
        <p:spPr>
          <a:xfrm>
            <a:off x="581025" y="2903986"/>
            <a:ext cx="3472915" cy="0"/>
          </a:xfrm>
          <a:prstGeom prst="line">
            <a:avLst/>
          </a:prstGeom>
          <a:noFill/>
          <a:ln w="12700" cap="flat" cmpd="sng" algn="ctr">
            <a:solidFill>
              <a:srgbClr val="FFFEF9"/>
            </a:solidFill>
            <a:prstDash val="solid"/>
            <a:miter lim="800000"/>
          </a:ln>
          <a:effectLst/>
        </p:spPr>
      </p:cxnSp>
      <p:pic>
        <p:nvPicPr>
          <p:cNvPr id="19" name="Picture 18" descr="Data warehouse logo">
            <a:extLst>
              <a:ext uri="{FF2B5EF4-FFF2-40B4-BE49-F238E27FC236}">
                <a16:creationId xmlns:a16="http://schemas.microsoft.com/office/drawing/2014/main" id="{51DE6334-8B73-8C62-C936-0E63FF389134}"/>
              </a:ext>
            </a:extLst>
          </p:cNvPr>
          <p:cNvPicPr>
            <a:picLocks noChangeAspect="1"/>
          </p:cNvPicPr>
          <p:nvPr/>
        </p:nvPicPr>
        <p:blipFill>
          <a:blip r:embed="rId3" cstate="screen">
            <a:extLst>
              <a:ext uri="{28A0092B-C50C-407E-A947-70E740481C1C}">
                <a14:useLocalDpi xmlns:a14="http://schemas.microsoft.com/office/drawing/2010/main" val="0"/>
              </a:ext>
            </a:extLst>
          </a:blip>
          <a:stretch/>
        </p:blipFill>
        <p:spPr>
          <a:xfrm>
            <a:off x="11617785" y="131716"/>
            <a:ext cx="410912" cy="411714"/>
          </a:xfrm>
          <a:prstGeom prst="rect">
            <a:avLst/>
          </a:prstGeom>
          <a:noFill/>
        </p:spPr>
      </p:pic>
      <p:sp>
        <p:nvSpPr>
          <p:cNvPr id="18" name="TextBox 17">
            <a:extLst>
              <a:ext uri="{FF2B5EF4-FFF2-40B4-BE49-F238E27FC236}">
                <a16:creationId xmlns:a16="http://schemas.microsoft.com/office/drawing/2014/main" id="{83C692DA-B884-1CAB-5957-264CB8337FCB}"/>
              </a:ext>
            </a:extLst>
          </p:cNvPr>
          <p:cNvSpPr txBox="1"/>
          <p:nvPr/>
        </p:nvSpPr>
        <p:spPr>
          <a:xfrm>
            <a:off x="581025" y="1487294"/>
            <a:ext cx="3472915" cy="1231106"/>
          </a:xfrm>
          <a:prstGeom prst="rect">
            <a:avLst/>
          </a:prstGeom>
          <a:noFill/>
        </p:spPr>
        <p:txBody>
          <a:bodyPr wrap="square" lIns="0" tIns="0" rIns="0" bIns="0">
            <a:spAutoFit/>
          </a:bodyPr>
          <a:lstStyle/>
          <a:p>
            <a:pPr defTabSz="914367">
              <a:spcAft>
                <a:spcPts val="1200"/>
              </a:spcAft>
              <a:defRPr/>
            </a:pPr>
            <a:r>
              <a:rPr lang="en-US" sz="1400" dirty="0">
                <a:solidFill>
                  <a:srgbClr val="FFFFFF"/>
                </a:solidFill>
                <a:cs typeface="Segoe Sans Text" pitchFamily="2" charset="0"/>
              </a:rPr>
              <a:t>Enterprise scale data warehouse with open standard format</a:t>
            </a:r>
          </a:p>
          <a:p>
            <a:pPr defTabSz="914367">
              <a:spcAft>
                <a:spcPts val="1200"/>
              </a:spcAft>
              <a:defRPr/>
            </a:pPr>
            <a:r>
              <a:rPr lang="en-US" sz="1400" dirty="0">
                <a:solidFill>
                  <a:srgbClr val="FFFFFF"/>
                </a:solidFill>
                <a:cs typeface="Segoe Sans Text" pitchFamily="2" charset="0"/>
              </a:rPr>
              <a:t>No knobs performance with minimal set-up and deployment, no configuration of compute or storage needed</a:t>
            </a:r>
          </a:p>
        </p:txBody>
      </p:sp>
      <p:sp>
        <p:nvSpPr>
          <p:cNvPr id="17" name="TextBox 16">
            <a:extLst>
              <a:ext uri="{FF2B5EF4-FFF2-40B4-BE49-F238E27FC236}">
                <a16:creationId xmlns:a16="http://schemas.microsoft.com/office/drawing/2014/main" id="{F1189D38-2569-B77E-B9FE-11BC0A5BA68D}"/>
              </a:ext>
            </a:extLst>
          </p:cNvPr>
          <p:cNvSpPr txBox="1"/>
          <p:nvPr/>
        </p:nvSpPr>
        <p:spPr>
          <a:xfrm>
            <a:off x="581025" y="3089572"/>
            <a:ext cx="3876675" cy="2973122"/>
          </a:xfrm>
          <a:prstGeom prst="rect">
            <a:avLst/>
          </a:prstGeom>
          <a:noFill/>
        </p:spPr>
        <p:txBody>
          <a:bodyPr wrap="square" lIns="0" tIns="0" rIns="0" bIns="0" rtlCol="0" anchor="t">
            <a:spAutoFit/>
          </a:bodyPr>
          <a:lstStyle/>
          <a:p>
            <a:pPr defTabSz="914367">
              <a:lnSpc>
                <a:spcPct val="105000"/>
              </a:lnSpc>
              <a:spcAft>
                <a:spcPts val="300"/>
              </a:spcAft>
              <a:defRPr/>
            </a:pPr>
            <a:r>
              <a:rPr lang="en-US" sz="1400" i="1" dirty="0">
                <a:solidFill>
                  <a:srgbClr val="FFFFFF"/>
                </a:solidFill>
                <a:latin typeface="Segoe Sans Display Semibold" pitchFamily="2" charset="0"/>
                <a:cs typeface="Segoe Sans Display Semibold" pitchFamily="2" charset="0"/>
              </a:rPr>
              <a:t>Key Capabilities:</a:t>
            </a:r>
          </a:p>
          <a:p>
            <a:pPr marL="285750" indent="-184150" defTabSz="914367">
              <a:spcAft>
                <a:spcPts val="600"/>
              </a:spcAft>
              <a:buFont typeface="Arial" panose="020B0604020202020204" pitchFamily="34" charset="0"/>
              <a:buChar char="•"/>
              <a:defRPr/>
            </a:pPr>
            <a:r>
              <a:rPr lang="en-US" sz="1200" dirty="0">
                <a:solidFill>
                  <a:srgbClr val="FFFFFF"/>
                </a:solidFill>
                <a:cs typeface="Segoe Sans Text" pitchFamily="2" charset="0"/>
              </a:rPr>
              <a:t>Lake-centric warehouse stores data in </a:t>
            </a:r>
            <a:r>
              <a:rPr lang="en-US" sz="1200" dirty="0" err="1">
                <a:solidFill>
                  <a:srgbClr val="FFFFFF"/>
                </a:solidFill>
                <a:cs typeface="Segoe Sans Text" pitchFamily="2" charset="0"/>
              </a:rPr>
              <a:t>OneLake</a:t>
            </a:r>
            <a:r>
              <a:rPr lang="en-US" sz="1200" dirty="0">
                <a:solidFill>
                  <a:srgbClr val="FFFFFF"/>
                </a:solidFill>
                <a:cs typeface="Segoe Sans Text" pitchFamily="2" charset="0"/>
              </a:rPr>
              <a:t> in open Delta format with easy data recovery and management</a:t>
            </a:r>
          </a:p>
          <a:p>
            <a:pPr marL="285750" indent="-184150" defTabSz="914367">
              <a:spcAft>
                <a:spcPts val="600"/>
              </a:spcAft>
              <a:buFont typeface="Arial" panose="020B0604020202020204" pitchFamily="34" charset="0"/>
              <a:buChar char="•"/>
              <a:defRPr/>
            </a:pPr>
            <a:r>
              <a:rPr lang="en-US" sz="1200" dirty="0">
                <a:solidFill>
                  <a:srgbClr val="FFFFFF"/>
                </a:solidFill>
                <a:cs typeface="Segoe Sans Text" pitchFamily="2" charset="0"/>
              </a:rPr>
              <a:t>Use Fabric Mirroring for Zero-ETL integration of data from Azure SQL, Snowflake, or Azure Cosmos DB </a:t>
            </a:r>
          </a:p>
          <a:p>
            <a:pPr marL="285750" indent="-184150" defTabSz="914367">
              <a:spcAft>
                <a:spcPts val="600"/>
              </a:spcAft>
              <a:buFont typeface="Arial" panose="020B0604020202020204" pitchFamily="34" charset="0"/>
              <a:buChar char="•"/>
              <a:defRPr/>
            </a:pPr>
            <a:r>
              <a:rPr lang="en-US" sz="1200" dirty="0">
                <a:solidFill>
                  <a:srgbClr val="FFFFFF"/>
                </a:solidFill>
                <a:cs typeface="Segoe Sans Text" pitchFamily="2" charset="0"/>
              </a:rPr>
              <a:t>Data loading and transforms at scale, with full multi-table transactional guarantees provided by the SQL engine</a:t>
            </a:r>
          </a:p>
          <a:p>
            <a:pPr marL="285750" indent="-184150" defTabSz="914367">
              <a:spcAft>
                <a:spcPts val="600"/>
              </a:spcAft>
              <a:buFont typeface="Arial" panose="020B0604020202020204" pitchFamily="34" charset="0"/>
              <a:buChar char="•"/>
              <a:defRPr/>
            </a:pPr>
            <a:r>
              <a:rPr lang="en-US" sz="1200" dirty="0">
                <a:solidFill>
                  <a:srgbClr val="FFFFFF"/>
                </a:solidFill>
                <a:cs typeface="Segoe Sans Text" pitchFamily="2" charset="0"/>
              </a:rPr>
              <a:t>Virtual warehouses with cross-database querying and a fully integrated semantic layer</a:t>
            </a:r>
          </a:p>
          <a:p>
            <a:pPr marL="285750" indent="-184150" defTabSz="914367">
              <a:spcAft>
                <a:spcPts val="600"/>
              </a:spcAft>
              <a:buFont typeface="Arial" panose="020B0604020202020204" pitchFamily="34" charset="0"/>
              <a:buChar char="•"/>
              <a:defRPr/>
            </a:pPr>
            <a:r>
              <a:rPr lang="en-US" sz="1200" dirty="0">
                <a:solidFill>
                  <a:srgbClr val="FFFFFF"/>
                </a:solidFill>
                <a:cs typeface="Segoe Sans Text" pitchFamily="2" charset="0"/>
              </a:rPr>
              <a:t>Flexibility to build data warehouse or data mesh based on organizational needs and choice of no-code, low-code, or T-SQL for transformations</a:t>
            </a:r>
          </a:p>
        </p:txBody>
      </p:sp>
      <p:pic>
        <p:nvPicPr>
          <p:cNvPr id="14" name="Picture 2" descr="A screen capture of data warehouse">
            <a:extLst>
              <a:ext uri="{FF2B5EF4-FFF2-40B4-BE49-F238E27FC236}">
                <a16:creationId xmlns:a16="http://schemas.microsoft.com/office/drawing/2014/main" id="{A970BE0F-9409-F398-10CE-D0198AE2403C}"/>
              </a:ext>
            </a:extLst>
          </p:cNvPr>
          <p:cNvPicPr>
            <a:picLocks noChangeAspect="1" noChangeArrowheads="1"/>
          </p:cNvPicPr>
          <p:nvPr/>
        </p:nvPicPr>
        <p:blipFill rotWithShape="1">
          <a:blip r:embed="rId4" cstate="screen">
            <a:extLst>
              <a:ext uri="{28A0092B-C50C-407E-A947-70E740481C1C}">
                <a14:useLocalDpi xmlns:a14="http://schemas.microsoft.com/office/drawing/2010/main" val="0"/>
              </a:ext>
            </a:extLst>
          </a:blip>
          <a:srcRect r="-6708"/>
          <a:stretch/>
        </p:blipFill>
        <p:spPr bwMode="auto">
          <a:xfrm>
            <a:off x="5158765" y="1663844"/>
            <a:ext cx="6237869" cy="3567390"/>
          </a:xfrm>
          <a:prstGeom prst="roundRect">
            <a:avLst>
              <a:gd name="adj" fmla="val 1914"/>
            </a:avLst>
          </a:prstGeom>
          <a:solidFill>
            <a:srgbClr val="FFFFFF"/>
          </a:solidFill>
        </p:spPr>
      </p:pic>
    </p:spTree>
    <p:extLst>
      <p:ext uri="{BB962C8B-B14F-4D97-AF65-F5344CB8AC3E}">
        <p14:creationId xmlns:p14="http://schemas.microsoft.com/office/powerpoint/2010/main" val="322268825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A1D37-F079-2B0B-DB9E-0B8AEF072ED4}"/>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0B48E314-CE27-DD37-8361-17994D5327C8}"/>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itle 35">
            <a:extLst>
              <a:ext uri="{FF2B5EF4-FFF2-40B4-BE49-F238E27FC236}">
                <a16:creationId xmlns:a16="http://schemas.microsoft.com/office/drawing/2014/main" id="{031BB20C-4F5E-0D14-6DE5-EF237FC3C38E}"/>
              </a:ext>
            </a:extLst>
          </p:cNvPr>
          <p:cNvSpPr>
            <a:spLocks noGrp="1"/>
          </p:cNvSpPr>
          <p:nvPr>
            <p:ph type="title"/>
          </p:nvPr>
        </p:nvSpPr>
        <p:spPr>
          <a:xfrm>
            <a:off x="581025" y="365125"/>
            <a:ext cx="11029950" cy="549275"/>
          </a:xfrm>
        </p:spPr>
        <p:txBody>
          <a:bodyPr anchor="t"/>
          <a:lstStyle/>
          <a:p>
            <a:pPr lvl="0"/>
            <a:r>
              <a:rPr lang="en-US" noProof="0">
                <a:solidFill>
                  <a:srgbClr val="FFFDF9"/>
                </a:solidFill>
              </a:rPr>
              <a:t>Data loading and</a:t>
            </a:r>
            <a:br>
              <a:rPr lang="en-US" noProof="0">
                <a:solidFill>
                  <a:srgbClr val="FFFDF9"/>
                </a:solidFill>
              </a:rPr>
            </a:br>
            <a:r>
              <a:rPr lang="en-US" noProof="0">
                <a:solidFill>
                  <a:srgbClr val="FFFDF9"/>
                </a:solidFill>
              </a:rPr>
              <a:t>transforms at scale</a:t>
            </a:r>
          </a:p>
        </p:txBody>
      </p:sp>
      <p:sp>
        <p:nvSpPr>
          <p:cNvPr id="7" name="Rectangle: Rounded Corners 19">
            <a:extLst>
              <a:ext uri="{FF2B5EF4-FFF2-40B4-BE49-F238E27FC236}">
                <a16:creationId xmlns:a16="http://schemas.microsoft.com/office/drawing/2014/main" id="{324BDA69-DD17-FE31-1CD7-2B68F6994C81}"/>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rgbClr val="8661C5">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Sans Text"/>
              <a:ea typeface="+mn-ea"/>
              <a:cs typeface="+mn-cs"/>
            </a:endParaRPr>
          </a:p>
        </p:txBody>
      </p:sp>
      <p:sp>
        <p:nvSpPr>
          <p:cNvPr id="12" name="Graphic 51">
            <a:extLst>
              <a:ext uri="{FF2B5EF4-FFF2-40B4-BE49-F238E27FC236}">
                <a16:creationId xmlns:a16="http://schemas.microsoft.com/office/drawing/2014/main" id="{BA4B64CD-99AE-330A-C681-C0F7BA74F36A}"/>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rgbClr val="49C5B1">
              <a:lumMod val="60000"/>
              <a:lumOff val="40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25B61"/>
              </a:solidFill>
              <a:effectLst/>
              <a:uLnTx/>
              <a:uFillTx/>
              <a:latin typeface="Segoe Sans Text"/>
            </a:endParaRPr>
          </a:p>
        </p:txBody>
      </p:sp>
      <p:sp>
        <p:nvSpPr>
          <p:cNvPr id="18" name="Rectangle: Rounded Corners 8">
            <a:extLst>
              <a:ext uri="{FF2B5EF4-FFF2-40B4-BE49-F238E27FC236}">
                <a16:creationId xmlns:a16="http://schemas.microsoft.com/office/drawing/2014/main" id="{F7863B9A-1464-2CA4-9D04-0461AE135718}"/>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endPar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26" name="Picture 25" descr="Data warehouse logo">
            <a:extLst>
              <a:ext uri="{FF2B5EF4-FFF2-40B4-BE49-F238E27FC236}">
                <a16:creationId xmlns:a16="http://schemas.microsoft.com/office/drawing/2014/main" id="{556C7DF8-2B22-1131-1610-66F6D7286237}"/>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617785" y="131716"/>
            <a:ext cx="410912" cy="411714"/>
          </a:xfrm>
          <a:prstGeom prst="rect">
            <a:avLst/>
          </a:prstGeom>
          <a:noFill/>
        </p:spPr>
      </p:pic>
      <p:sp>
        <p:nvSpPr>
          <p:cNvPr id="25" name="TextBox 24">
            <a:extLst>
              <a:ext uri="{FF2B5EF4-FFF2-40B4-BE49-F238E27FC236}">
                <a16:creationId xmlns:a16="http://schemas.microsoft.com/office/drawing/2014/main" id="{2F5E1938-3C2E-37F8-EFAA-7AD5004FB3F7}"/>
              </a:ext>
            </a:extLst>
          </p:cNvPr>
          <p:cNvSpPr txBox="1"/>
          <p:nvPr/>
        </p:nvSpPr>
        <p:spPr>
          <a:xfrm>
            <a:off x="581025" y="1488936"/>
            <a:ext cx="3472915" cy="1107996"/>
          </a:xfrm>
          <a:prstGeom prst="rect">
            <a:avLst/>
          </a:prstGeom>
          <a:noFill/>
        </p:spPr>
        <p:txBody>
          <a:bodyPr wrap="square">
            <a:spAutoFit/>
          </a:bodyPr>
          <a:lstStyle/>
          <a:p>
            <a:pPr defTabSz="914367">
              <a:spcAft>
                <a:spcPts val="1200"/>
              </a:spcAft>
              <a:defRPr/>
            </a:pPr>
            <a:r>
              <a:rPr lang="en-US" sz="1400">
                <a:solidFill>
                  <a:srgbClr val="FFFFFF"/>
                </a:solidFill>
                <a:cs typeface="Segoe Sans Text" pitchFamily="2" charset="0"/>
              </a:rPr>
              <a:t>High scale data loading from any source.</a:t>
            </a:r>
          </a:p>
          <a:p>
            <a:pPr defTabSz="914367">
              <a:spcAft>
                <a:spcPts val="1200"/>
              </a:spcAft>
              <a:defRPr/>
            </a:pPr>
            <a:r>
              <a:rPr lang="en-US" sz="1400">
                <a:solidFill>
                  <a:srgbClr val="FFFFFF"/>
                </a:solidFill>
                <a:cs typeface="Segoe Sans Text" pitchFamily="2" charset="0"/>
              </a:rPr>
              <a:t>Data managed by Warehouse compute engine provides full multi-table transaction guarantees</a:t>
            </a:r>
          </a:p>
        </p:txBody>
      </p:sp>
      <p:cxnSp>
        <p:nvCxnSpPr>
          <p:cNvPr id="19" name="Straight Connector 18">
            <a:extLst>
              <a:ext uri="{FF2B5EF4-FFF2-40B4-BE49-F238E27FC236}">
                <a16:creationId xmlns:a16="http://schemas.microsoft.com/office/drawing/2014/main" id="{7C1085CE-A454-CA74-A6BE-AB8E8901B232}"/>
              </a:ext>
              <a:ext uri="{C183D7F6-B498-43B3-948B-1728B52AA6E4}">
                <adec:decorative xmlns:adec="http://schemas.microsoft.com/office/drawing/2017/decorative" val="1"/>
              </a:ext>
            </a:extLst>
          </p:cNvPr>
          <p:cNvCxnSpPr>
            <a:cxnSpLocks/>
          </p:cNvCxnSpPr>
          <p:nvPr/>
        </p:nvCxnSpPr>
        <p:spPr>
          <a:xfrm>
            <a:off x="581025" y="2782518"/>
            <a:ext cx="3472915" cy="0"/>
          </a:xfrm>
          <a:prstGeom prst="line">
            <a:avLst/>
          </a:prstGeom>
          <a:noFill/>
          <a:ln w="12700" cap="flat" cmpd="sng" algn="ctr">
            <a:solidFill>
              <a:srgbClr val="FFFEF9"/>
            </a:solidFill>
            <a:prstDash val="solid"/>
            <a:miter lim="800000"/>
          </a:ln>
          <a:effectLst/>
        </p:spPr>
      </p:cxnSp>
      <p:sp>
        <p:nvSpPr>
          <p:cNvPr id="24" name="TextBox 23">
            <a:extLst>
              <a:ext uri="{FF2B5EF4-FFF2-40B4-BE49-F238E27FC236}">
                <a16:creationId xmlns:a16="http://schemas.microsoft.com/office/drawing/2014/main" id="{02B5F996-F7E9-8D18-2759-AD29C87282A6}"/>
              </a:ext>
            </a:extLst>
          </p:cNvPr>
          <p:cNvSpPr txBox="1"/>
          <p:nvPr/>
        </p:nvSpPr>
        <p:spPr>
          <a:xfrm>
            <a:off x="581025" y="2968104"/>
            <a:ext cx="3486150" cy="2924390"/>
          </a:xfrm>
          <a:prstGeom prst="rect">
            <a:avLst/>
          </a:prstGeom>
          <a:noFill/>
        </p:spPr>
        <p:txBody>
          <a:bodyPr wrap="square" lIns="0" tIns="0" rIns="0" bIns="0" rtlCol="0" anchor="t">
            <a:spAutoFit/>
          </a:bodyPr>
          <a:lstStyle/>
          <a:p>
            <a:pPr defTabSz="914367">
              <a:lnSpc>
                <a:spcPct val="105000"/>
              </a:lnSpc>
              <a:spcAft>
                <a:spcPts val="300"/>
              </a:spcAft>
              <a:defRPr/>
            </a:pPr>
            <a:r>
              <a:rPr lang="en-US" sz="1400" i="1">
                <a:solidFill>
                  <a:srgbClr val="FFFFFF"/>
                </a:solidFill>
                <a:latin typeface="Segoe Sans Display Semibold" pitchFamily="2" charset="0"/>
                <a:cs typeface="Segoe Sans Display Semibold" pitchFamily="2" charset="0"/>
              </a:rPr>
              <a:t>Key Capabilities: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Integration with Data Factory Pipelines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Data published to OneLake as Delta tables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Support for multi-statement transactions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Support snapshot isolation</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T-SQL support for:</a:t>
            </a:r>
          </a:p>
          <a:p>
            <a:pPr marL="571500" lvl="1" indent="-228600" defTabSz="914367">
              <a:spcAft>
                <a:spcPts val="400"/>
              </a:spcAft>
              <a:buFont typeface="Segoe UI" panose="020B0502040204020203" pitchFamily="34" charset="0"/>
              <a:buChar char="–"/>
              <a:defRPr/>
            </a:pPr>
            <a:r>
              <a:rPr lang="en-US" sz="1100">
                <a:solidFill>
                  <a:srgbClr val="FFFEFB"/>
                </a:solidFill>
                <a:cs typeface="Segoe Sans Text" pitchFamily="2" charset="0"/>
              </a:rPr>
              <a:t>COPY command</a:t>
            </a:r>
          </a:p>
          <a:p>
            <a:pPr marL="571500" lvl="1" indent="-228600" defTabSz="914367">
              <a:spcAft>
                <a:spcPts val="400"/>
              </a:spcAft>
              <a:buFont typeface="Segoe UI" panose="020B0502040204020203" pitchFamily="34" charset="0"/>
              <a:buChar char="–"/>
              <a:defRPr/>
            </a:pPr>
            <a:r>
              <a:rPr lang="en-US" sz="1100">
                <a:solidFill>
                  <a:srgbClr val="FFFEFB"/>
                </a:solidFill>
                <a:cs typeface="Segoe Sans Text" pitchFamily="2" charset="0"/>
              </a:rPr>
              <a:t>CTAS</a:t>
            </a:r>
          </a:p>
          <a:p>
            <a:pPr marL="571500" lvl="1" indent="-228600" defTabSz="914367">
              <a:spcAft>
                <a:spcPts val="400"/>
              </a:spcAft>
              <a:buFont typeface="Segoe UI" panose="020B0502040204020203" pitchFamily="34" charset="0"/>
              <a:buChar char="–"/>
              <a:defRPr/>
            </a:pPr>
            <a:r>
              <a:rPr lang="en-US" sz="1100">
                <a:solidFill>
                  <a:srgbClr val="FFFEFB"/>
                </a:solidFill>
                <a:cs typeface="Segoe Sans Text" pitchFamily="2" charset="0"/>
              </a:rPr>
              <a:t>INSERT … SELECT</a:t>
            </a:r>
          </a:p>
          <a:p>
            <a:pPr marL="285750" indent="-184150" defTabSz="914367">
              <a:spcBef>
                <a:spcPts val="300"/>
              </a:spcBef>
              <a:spcAft>
                <a:spcPts val="600"/>
              </a:spcAft>
              <a:buFont typeface="Arial" panose="020B0604020202020204" pitchFamily="34" charset="0"/>
              <a:buChar char="•"/>
              <a:defRPr/>
            </a:pPr>
            <a:r>
              <a:rPr lang="en-US" sz="1200">
                <a:solidFill>
                  <a:srgbClr val="FFFFFF"/>
                </a:solidFill>
                <a:cs typeface="Segoe Sans Text" pitchFamily="2" charset="0"/>
              </a:rPr>
              <a:t>Locking:</a:t>
            </a:r>
          </a:p>
          <a:p>
            <a:pPr marL="571500" lvl="1" indent="-228600" defTabSz="914367">
              <a:spcAft>
                <a:spcPts val="400"/>
              </a:spcAft>
              <a:buFont typeface="Segoe UI" panose="020B0502040204020203" pitchFamily="34" charset="0"/>
              <a:buChar char="–"/>
              <a:defRPr/>
            </a:pPr>
            <a:r>
              <a:rPr lang="en-US" sz="1100">
                <a:solidFill>
                  <a:srgbClr val="FFFEFB"/>
                </a:solidFill>
                <a:cs typeface="Segoe Sans Text" pitchFamily="2" charset="0"/>
              </a:rPr>
              <a:t>INSERT and SELECT require schema stability lock</a:t>
            </a:r>
          </a:p>
          <a:p>
            <a:pPr marL="571500" lvl="1" indent="-228600" defTabSz="914367">
              <a:spcAft>
                <a:spcPts val="400"/>
              </a:spcAft>
              <a:buFont typeface="Segoe UI" panose="020B0502040204020203" pitchFamily="34" charset="0"/>
              <a:buChar char="–"/>
              <a:defRPr/>
            </a:pPr>
            <a:r>
              <a:rPr lang="en-US" sz="1100">
                <a:solidFill>
                  <a:srgbClr val="FFFEFB"/>
                </a:solidFill>
                <a:cs typeface="Segoe Sans Text" pitchFamily="2" charset="0"/>
              </a:rPr>
              <a:t>UPDATE and DELETE do not lock tables</a:t>
            </a:r>
          </a:p>
        </p:txBody>
      </p:sp>
      <p:sp>
        <p:nvSpPr>
          <p:cNvPr id="21" name="TextBox 20" descr="Screenshot of the T-SQL Copy Command">
            <a:extLst>
              <a:ext uri="{FF2B5EF4-FFF2-40B4-BE49-F238E27FC236}">
                <a16:creationId xmlns:a16="http://schemas.microsoft.com/office/drawing/2014/main" id="{FE677F4D-E0C6-535D-C2B0-360E9A838737}"/>
              </a:ext>
            </a:extLst>
          </p:cNvPr>
          <p:cNvSpPr txBox="1"/>
          <p:nvPr/>
        </p:nvSpPr>
        <p:spPr>
          <a:xfrm>
            <a:off x="5158766" y="1614892"/>
            <a:ext cx="6020009" cy="2062103"/>
          </a:xfrm>
          <a:prstGeom prst="rect">
            <a:avLst/>
          </a:prstGeom>
          <a:noFill/>
        </p:spPr>
        <p:txBody>
          <a:bodyPr wrap="square" lIns="91440" tIns="45720" rIns="91440" bIns="45720" anchor="t">
            <a:spAutoFit/>
          </a:bodyPr>
          <a:lstStyle/>
          <a:p>
            <a:pPr>
              <a:defRPr/>
            </a:pPr>
            <a:r>
              <a:rPr lang="en-US" sz="800">
                <a:solidFill>
                  <a:srgbClr val="0101FD"/>
                </a:solidFill>
                <a:latin typeface="Consolas"/>
                <a:ea typeface="Calibri" panose="020F0502020204030204" pitchFamily="34" charset="0"/>
                <a:cs typeface="Arial"/>
              </a:rPr>
              <a:t>COPY INTO</a:t>
            </a:r>
            <a:r>
              <a:rPr lang="en-US" sz="800">
                <a:solidFill>
                  <a:srgbClr val="000000"/>
                </a:solidFill>
                <a:latin typeface="Consolas"/>
                <a:ea typeface="Calibri" panose="020F0502020204030204" pitchFamily="34" charset="0"/>
                <a:cs typeface="Arial"/>
              </a:rPr>
              <a:t> </a:t>
            </a:r>
            <a:r>
              <a:rPr lang="en-US" sz="800" err="1">
                <a:solidFill>
                  <a:srgbClr val="000000"/>
                </a:solidFill>
                <a:latin typeface="Consolas"/>
                <a:ea typeface="Calibri" panose="020F0502020204030204" pitchFamily="34" charset="0"/>
                <a:cs typeface="Arial"/>
              </a:rPr>
              <a:t>table_name</a:t>
            </a:r>
            <a:r>
              <a:rPr lang="en-US" sz="800">
                <a:solidFill>
                  <a:srgbClr val="000000"/>
                </a:solidFill>
                <a:latin typeface="Consolas"/>
                <a:ea typeface="Calibri" panose="020F0502020204030204" pitchFamily="34" charset="0"/>
                <a:cs typeface="Arial"/>
              </a:rPr>
              <a:t>.[(</a:t>
            </a:r>
            <a:r>
              <a:rPr lang="en-US" sz="800" err="1">
                <a:solidFill>
                  <a:srgbClr val="000000"/>
                </a:solidFill>
                <a:latin typeface="Consolas"/>
                <a:ea typeface="Calibri" panose="020F0502020204030204" pitchFamily="34" charset="0"/>
                <a:cs typeface="Arial"/>
              </a:rPr>
              <a:t>Column_list</a:t>
            </a:r>
            <a:r>
              <a:rPr lang="en-US" sz="800">
                <a:solidFill>
                  <a:srgbClr val="000000"/>
                </a:solidFill>
                <a:latin typeface="Consolas"/>
                <a:ea typeface="Calibri" panose="020F0502020204030204" pitchFamily="34" charset="0"/>
                <a:cs typeface="Arial"/>
              </a:rPr>
              <a:t>)] </a:t>
            </a:r>
            <a:b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br>
            <a:r>
              <a:rPr lang="en-US" sz="800">
                <a:solidFill>
                  <a:srgbClr val="0101FD"/>
                </a:solidFill>
                <a:latin typeface="Consolas"/>
                <a:ea typeface="Calibri" panose="020F0502020204030204" pitchFamily="34" charset="0"/>
                <a:cs typeface="Arial"/>
              </a:rPr>
              <a:t>FROM</a:t>
            </a:r>
            <a:r>
              <a:rPr lang="en-US" sz="800">
                <a:solidFill>
                  <a:srgbClr val="000000"/>
                </a:solidFill>
                <a:latin typeface="Consolas"/>
                <a:ea typeface="Calibri" panose="020F0502020204030204" pitchFamily="34" charset="0"/>
                <a:cs typeface="Arial"/>
              </a:rPr>
              <a:t> ‘</a:t>
            </a:r>
            <a:r>
              <a:rPr lang="en-US" sz="800">
                <a:solidFill>
                  <a:srgbClr val="007D9A"/>
                </a:solidFill>
                <a:latin typeface="Consolas"/>
                <a:ea typeface="Calibri" panose="020F0502020204030204" pitchFamily="34" charset="0"/>
                <a:cs typeface="Arial"/>
              </a:rPr>
              <a:t>&lt;</a:t>
            </a:r>
            <a:r>
              <a:rPr lang="en-US" sz="800" err="1">
                <a:solidFill>
                  <a:srgbClr val="007D9A"/>
                </a:solidFill>
                <a:latin typeface="Consolas"/>
                <a:ea typeface="Calibri" panose="020F0502020204030204" pitchFamily="34" charset="0"/>
                <a:cs typeface="Arial"/>
              </a:rPr>
              <a:t>external_location</a:t>
            </a:r>
            <a:r>
              <a:rPr lang="en-US" sz="800">
                <a:solidFill>
                  <a:srgbClr val="007D9A"/>
                </a:solidFill>
                <a:latin typeface="Consolas"/>
                <a:ea typeface="Calibri" panose="020F0502020204030204" pitchFamily="34" charset="0"/>
                <a:cs typeface="Arial"/>
              </a:rPr>
              <a:t>&gt;</a:t>
            </a:r>
            <a:r>
              <a:rPr lang="en-US" sz="800">
                <a:solidFill>
                  <a:srgbClr val="000000"/>
                </a:solidFill>
                <a:latin typeface="Consolas"/>
                <a:ea typeface="Calibri" panose="020F0502020204030204" pitchFamily="34" charset="0"/>
                <a:cs typeface="Arial"/>
              </a:rPr>
              <a:t>’ [,...n]</a:t>
            </a:r>
            <a:b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br>
            <a:r>
              <a:rPr lang="en-US" sz="800">
                <a:solidFill>
                  <a:srgbClr val="000000"/>
                </a:solidFill>
                <a:latin typeface="Consolas"/>
                <a:ea typeface="Calibri" panose="020F0502020204030204" pitchFamily="34" charset="0"/>
                <a:cs typeface="Arial"/>
              </a:rPr>
              <a:t>WITH  </a:t>
            </a:r>
            <a:br>
              <a:rPr lang="en-US" sz="800">
                <a:solidFill>
                  <a:srgbClr val="001919"/>
                </a:solidFill>
                <a:latin typeface="Consolas"/>
                <a:ea typeface="Calibri" panose="020F0502020204030204" pitchFamily="34" charset="0"/>
                <a:cs typeface="Arial"/>
              </a:rPr>
            </a:br>
            <a:r>
              <a:rPr lang="en-US" sz="800">
                <a:solidFill>
                  <a:srgbClr val="000000"/>
                </a:solidFill>
                <a:latin typeface="Consolas"/>
                <a:ea typeface="Calibri" panose="020F0502020204030204" pitchFamily="34" charset="0"/>
                <a:cs typeface="Arial"/>
              </a:rPr>
              <a:t> ( </a:t>
            </a:r>
            <a:b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br>
            <a:r>
              <a:rPr lang="en-US" sz="800">
                <a:solidFill>
                  <a:srgbClr val="000000"/>
                </a:solidFill>
                <a:latin typeface="Consolas"/>
                <a:ea typeface="Calibri" panose="020F0502020204030204" pitchFamily="34" charset="0"/>
                <a:cs typeface="Arial"/>
              </a:rPr>
              <a:t> [</a:t>
            </a:r>
            <a:r>
              <a:rPr lang="en-US" sz="800">
                <a:solidFill>
                  <a:srgbClr val="0101FD"/>
                </a:solidFill>
                <a:latin typeface="Consolas"/>
                <a:ea typeface="Calibri" panose="020F0502020204030204" pitchFamily="34" charset="0"/>
                <a:cs typeface="Arial"/>
              </a:rPr>
              <a:t>FILE_TYPE</a:t>
            </a:r>
            <a:r>
              <a:rPr lang="en-US" sz="800">
                <a:solidFill>
                  <a:srgbClr val="000000"/>
                </a:solidFill>
                <a:latin typeface="Consolas"/>
                <a:ea typeface="Calibri" panose="020F0502020204030204" pitchFamily="34" charset="0"/>
                <a:cs typeface="Arial"/>
              </a:rPr>
              <a:t> = {</a:t>
            </a:r>
            <a:r>
              <a:rPr lang="en-US" sz="800">
                <a:solidFill>
                  <a:srgbClr val="A31515"/>
                </a:solidFill>
                <a:latin typeface="Consolas"/>
                <a:ea typeface="Calibri" panose="020F0502020204030204" pitchFamily="34" charset="0"/>
                <a:cs typeface="Arial"/>
              </a:rPr>
              <a:t>'CSV' | 'PARQUET' '</a:t>
            </a:r>
            <a:r>
              <a:rPr lang="en-US" sz="800">
                <a:solidFill>
                  <a:srgbClr val="000000"/>
                </a:solidFill>
                <a:latin typeface="Consolas"/>
                <a:ea typeface="Calibri" panose="020F0502020204030204" pitchFamily="34" charset="0"/>
                <a:cs typeface="Arial"/>
              </a:rPr>
              <a:t>} ]</a:t>
            </a:r>
            <a:b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br>
            <a:r>
              <a:rPr lang="en-US" sz="800">
                <a:solidFill>
                  <a:srgbClr val="000000"/>
                </a:solidFill>
                <a:latin typeface="Consolas"/>
                <a:ea typeface="Calibri" panose="020F0502020204030204" pitchFamily="34" charset="0"/>
                <a:cs typeface="Arial"/>
              </a:rPr>
              <a:t> [,</a:t>
            </a:r>
            <a:r>
              <a:rPr lang="en-US" sz="800">
                <a:solidFill>
                  <a:srgbClr val="0101FD"/>
                </a:solidFill>
                <a:latin typeface="Consolas"/>
                <a:ea typeface="Calibri" panose="020F0502020204030204" pitchFamily="34" charset="0"/>
                <a:cs typeface="Arial"/>
              </a:rPr>
              <a:t>CREDENTIAL</a:t>
            </a:r>
            <a:r>
              <a:rPr lang="en-US" sz="800">
                <a:solidFill>
                  <a:srgbClr val="000000"/>
                </a:solidFill>
                <a:latin typeface="Consolas"/>
                <a:ea typeface="Calibri" panose="020F0502020204030204" pitchFamily="34" charset="0"/>
                <a:cs typeface="Arial"/>
              </a:rPr>
              <a:t> = (</a:t>
            </a:r>
            <a:r>
              <a:rPr lang="en-US" sz="800">
                <a:solidFill>
                  <a:srgbClr val="0101FD"/>
                </a:solidFill>
                <a:latin typeface="Consolas"/>
                <a:ea typeface="Calibri" panose="020F0502020204030204" pitchFamily="34" charset="0"/>
                <a:cs typeface="Arial"/>
              </a:rPr>
              <a:t>AZURE CREDENTIAL</a:t>
            </a:r>
            <a:r>
              <a:rPr lang="en-US" sz="800">
                <a:solidFill>
                  <a:srgbClr val="000000"/>
                </a:solidFill>
                <a:latin typeface="Consolas"/>
                <a:ea typeface="Calibri" panose="020F0502020204030204" pitchFamily="34" charset="0"/>
                <a:cs typeface="Arial"/>
              </a:rPr>
              <a:t>) ]</a:t>
            </a:r>
          </a:p>
          <a:p>
            <a:pPr>
              <a:defRPr/>
            </a:pPr>
            <a: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t> [,</a:t>
            </a:r>
            <a:r>
              <a:rPr lang="en-US" sz="800">
                <a:solidFill>
                  <a:srgbClr val="0101FD"/>
                </a:solidFill>
                <a:latin typeface="Consolas"/>
                <a:ea typeface="Calibri" panose="020F0502020204030204" pitchFamily="34" charset="0"/>
                <a:cs typeface="Arial"/>
              </a:rPr>
              <a:t>ERRORFILE</a:t>
            </a:r>
            <a: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t> = </a:t>
            </a:r>
            <a:r>
              <a:rPr lang="en-US" sz="800">
                <a:solidFill>
                  <a:srgbClr val="A31515"/>
                </a:solidFill>
                <a:latin typeface="Consolas"/>
                <a:ea typeface="Calibri" panose="020F0502020204030204" pitchFamily="34" charset="0"/>
                <a:cs typeface="Arial"/>
              </a:rPr>
              <a:t>'[http(s)://</a:t>
            </a:r>
            <a:r>
              <a:rPr lang="en-US" sz="800" err="1">
                <a:solidFill>
                  <a:srgbClr val="A31515"/>
                </a:solidFill>
                <a:latin typeface="Consolas"/>
                <a:ea typeface="Calibri" panose="020F0502020204030204" pitchFamily="34" charset="0"/>
                <a:cs typeface="Arial"/>
              </a:rPr>
              <a:t>storageaccount</a:t>
            </a:r>
            <a:r>
              <a:rPr lang="en-US" sz="800">
                <a:solidFill>
                  <a:srgbClr val="A31515"/>
                </a:solidFill>
                <a:latin typeface="Consolas"/>
                <a:ea typeface="Calibri" panose="020F0502020204030204" pitchFamily="34" charset="0"/>
                <a:cs typeface="Arial"/>
              </a:rPr>
              <a:t>/container]/</a:t>
            </a:r>
            <a:r>
              <a:rPr lang="en-US" sz="800" err="1">
                <a:solidFill>
                  <a:srgbClr val="A31515"/>
                </a:solidFill>
                <a:latin typeface="Consolas"/>
                <a:ea typeface="Calibri" panose="020F0502020204030204" pitchFamily="34" charset="0"/>
                <a:cs typeface="Arial"/>
              </a:rPr>
              <a:t>errorfile_directory</a:t>
            </a:r>
            <a:r>
              <a:rPr lang="en-US" sz="800">
                <a:solidFill>
                  <a:srgbClr val="A31515"/>
                </a:solidFill>
                <a:latin typeface="Consolas"/>
                <a:ea typeface="Calibri" panose="020F0502020204030204" pitchFamily="34" charset="0"/>
                <a:cs typeface="Arial"/>
              </a:rPr>
              <a:t>[/]]'</a:t>
            </a:r>
            <a: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t> </a:t>
            </a:r>
          </a:p>
          <a:p>
            <a:pPr>
              <a:defRPr/>
            </a:pPr>
            <a: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t> [,</a:t>
            </a:r>
            <a:r>
              <a:rPr lang="en-US" sz="800">
                <a:solidFill>
                  <a:srgbClr val="0101FD"/>
                </a:solidFill>
                <a:latin typeface="Consolas"/>
                <a:ea typeface="Calibri" panose="020F0502020204030204" pitchFamily="34" charset="0"/>
                <a:cs typeface="Arial"/>
              </a:rPr>
              <a:t>ERRORFILE_CREDENTIAL </a:t>
            </a:r>
            <a: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t>= (</a:t>
            </a:r>
            <a:r>
              <a:rPr lang="en-US" sz="800">
                <a:solidFill>
                  <a:srgbClr val="0101FD"/>
                </a:solidFill>
                <a:latin typeface="Consolas"/>
                <a:ea typeface="Calibri" panose="020F0502020204030204" pitchFamily="34" charset="0"/>
                <a:cs typeface="Arial"/>
              </a:rPr>
              <a:t>AZURE CREDENTIAL</a:t>
            </a:r>
            <a: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t>) ]</a:t>
            </a:r>
          </a:p>
          <a:p>
            <a:pPr>
              <a:defRPr/>
            </a:pPr>
            <a: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t> [,</a:t>
            </a:r>
            <a:r>
              <a:rPr lang="en-US" sz="800">
                <a:solidFill>
                  <a:srgbClr val="0101FD"/>
                </a:solidFill>
                <a:latin typeface="Consolas"/>
                <a:ea typeface="Calibri" panose="020F0502020204030204" pitchFamily="34" charset="0"/>
                <a:cs typeface="Arial"/>
              </a:rPr>
              <a:t>MAXERRORS</a:t>
            </a:r>
            <a: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t> = </a:t>
            </a:r>
            <a:r>
              <a:rPr lang="en-US" sz="800" err="1">
                <a:solidFill>
                  <a:srgbClr val="001919"/>
                </a:solidFill>
                <a:latin typeface="Consolas" panose="020B0609020204030204" pitchFamily="49" charset="0"/>
                <a:ea typeface="Calibri" panose="020F0502020204030204" pitchFamily="34" charset="0"/>
                <a:cs typeface="Arial" panose="020B0604020202020204" pitchFamily="34" charset="0"/>
              </a:rPr>
              <a:t>max_errors</a:t>
            </a:r>
            <a: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t> ] </a:t>
            </a:r>
            <a:b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br>
            <a:r>
              <a:rPr lang="en-US" sz="800">
                <a:solidFill>
                  <a:srgbClr val="0101FD"/>
                </a:solidFill>
                <a:latin typeface="Consolas"/>
                <a:ea typeface="Calibri" panose="020F0502020204030204" pitchFamily="34" charset="0"/>
                <a:cs typeface="Arial"/>
              </a:rPr>
              <a:t> </a:t>
            </a:r>
            <a:r>
              <a:rPr lang="en-US" sz="800">
                <a:solidFill>
                  <a:srgbClr val="000000"/>
                </a:solidFill>
                <a:latin typeface="Consolas"/>
                <a:ea typeface="Calibri" panose="020F0502020204030204" pitchFamily="34" charset="0"/>
                <a:cs typeface="Arial"/>
              </a:rPr>
              <a:t>[</a:t>
            </a:r>
            <a:r>
              <a:rPr lang="en-US" sz="800">
                <a:solidFill>
                  <a:srgbClr val="0101FD"/>
                </a:solidFill>
                <a:latin typeface="Consolas"/>
                <a:ea typeface="Calibri" panose="020F0502020204030204" pitchFamily="34" charset="0"/>
                <a:cs typeface="Arial"/>
              </a:rPr>
              <a:t>,COMPRESSION</a:t>
            </a:r>
            <a:r>
              <a:rPr lang="en-US" sz="800">
                <a:solidFill>
                  <a:srgbClr val="A31515"/>
                </a:solidFill>
                <a:latin typeface="Consolas"/>
                <a:ea typeface="Calibri" panose="020F0502020204030204" pitchFamily="34" charset="0"/>
                <a:cs typeface="Arial"/>
              </a:rPr>
              <a:t> = { '</a:t>
            </a:r>
            <a:r>
              <a:rPr lang="en-US" sz="800" err="1">
                <a:solidFill>
                  <a:srgbClr val="A31515"/>
                </a:solidFill>
                <a:latin typeface="Consolas"/>
                <a:ea typeface="Calibri" panose="020F0502020204030204" pitchFamily="34" charset="0"/>
                <a:cs typeface="Arial"/>
              </a:rPr>
              <a:t>Gzip</a:t>
            </a:r>
            <a:r>
              <a:rPr lang="en-US" sz="800">
                <a:solidFill>
                  <a:srgbClr val="A31515"/>
                </a:solidFill>
                <a:latin typeface="Consolas"/>
                <a:ea typeface="Calibri" panose="020F0502020204030204" pitchFamily="34" charset="0"/>
                <a:cs typeface="Arial"/>
              </a:rPr>
              <a:t>' | ’Snappy’}</a:t>
            </a:r>
            <a:r>
              <a:rPr lang="en-US" sz="800">
                <a:solidFill>
                  <a:srgbClr val="000000"/>
                </a:solidFill>
                <a:latin typeface="Consolas"/>
                <a:ea typeface="Calibri" panose="020F0502020204030204" pitchFamily="34" charset="0"/>
                <a:cs typeface="Arial"/>
              </a:rPr>
              <a:t>]</a:t>
            </a:r>
            <a:r>
              <a:rPr lang="en-US" sz="800">
                <a:solidFill>
                  <a:srgbClr val="A31515"/>
                </a:solidFill>
                <a:latin typeface="Consolas"/>
                <a:ea typeface="Calibri" panose="020F0502020204030204" pitchFamily="34" charset="0"/>
                <a:cs typeface="Arial"/>
              </a:rPr>
              <a:t> </a:t>
            </a:r>
            <a:b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br>
            <a:r>
              <a:rPr lang="en-US" sz="800">
                <a:solidFill>
                  <a:srgbClr val="A31515"/>
                </a:solidFill>
                <a:latin typeface="Consolas"/>
                <a:ea typeface="Calibri" panose="020F0502020204030204" pitchFamily="34" charset="0"/>
                <a:cs typeface="Arial"/>
              </a:rPr>
              <a:t> </a:t>
            </a:r>
            <a:r>
              <a:rPr lang="en-US" sz="800">
                <a:solidFill>
                  <a:srgbClr val="000000"/>
                </a:solidFill>
                <a:latin typeface="Consolas"/>
                <a:ea typeface="Calibri" panose="020F0502020204030204" pitchFamily="34" charset="0"/>
                <a:cs typeface="Arial"/>
              </a:rPr>
              <a:t>[</a:t>
            </a:r>
            <a:r>
              <a:rPr lang="en-US" sz="800">
                <a:solidFill>
                  <a:srgbClr val="0101FD"/>
                </a:solidFill>
                <a:latin typeface="Consolas"/>
                <a:ea typeface="Calibri" panose="020F0502020204030204" pitchFamily="34" charset="0"/>
                <a:cs typeface="Arial"/>
              </a:rPr>
              <a:t>,FIELDQUOTE </a:t>
            </a:r>
            <a:r>
              <a:rPr lang="en-US" sz="800">
                <a:solidFill>
                  <a:srgbClr val="A31515"/>
                </a:solidFill>
                <a:latin typeface="Consolas"/>
                <a:ea typeface="Calibri" panose="020F0502020204030204" pitchFamily="34" charset="0"/>
                <a:cs typeface="Arial"/>
              </a:rPr>
              <a:t>= ‘</a:t>
            </a:r>
            <a:r>
              <a:rPr lang="en-US" sz="800" err="1">
                <a:solidFill>
                  <a:srgbClr val="A31515"/>
                </a:solidFill>
                <a:latin typeface="Consolas"/>
                <a:ea typeface="Calibri" panose="020F0502020204030204" pitchFamily="34" charset="0"/>
                <a:cs typeface="Arial"/>
              </a:rPr>
              <a:t>string_delimiter</a:t>
            </a:r>
            <a:r>
              <a:rPr lang="en-US" sz="800">
                <a:solidFill>
                  <a:srgbClr val="A31515"/>
                </a:solidFill>
                <a:latin typeface="Consolas"/>
                <a:ea typeface="Calibri" panose="020F0502020204030204" pitchFamily="34" charset="0"/>
                <a:cs typeface="Arial"/>
              </a:rPr>
              <a:t>’</a:t>
            </a:r>
            <a:r>
              <a:rPr lang="en-US" sz="800">
                <a:solidFill>
                  <a:srgbClr val="000000"/>
                </a:solidFill>
                <a:latin typeface="Consolas"/>
                <a:ea typeface="Calibri" panose="020F0502020204030204" pitchFamily="34" charset="0"/>
                <a:cs typeface="Arial"/>
              </a:rPr>
              <a:t>]</a:t>
            </a:r>
            <a:r>
              <a:rPr lang="en-US" sz="800">
                <a:solidFill>
                  <a:srgbClr val="A31515"/>
                </a:solidFill>
                <a:latin typeface="Consolas"/>
                <a:ea typeface="Calibri" panose="020F0502020204030204" pitchFamily="34" charset="0"/>
                <a:cs typeface="Arial"/>
              </a:rPr>
              <a:t> </a:t>
            </a:r>
            <a:b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br>
            <a:r>
              <a:rPr lang="en-US" sz="800">
                <a:solidFill>
                  <a:srgbClr val="0101FD"/>
                </a:solidFill>
                <a:latin typeface="Consolas"/>
                <a:ea typeface="Calibri" panose="020F0502020204030204" pitchFamily="34" charset="0"/>
                <a:cs typeface="Arial"/>
              </a:rPr>
              <a:t> </a:t>
            </a:r>
            <a:r>
              <a:rPr lang="en-US" sz="800">
                <a:solidFill>
                  <a:srgbClr val="000000"/>
                </a:solidFill>
                <a:latin typeface="Consolas"/>
                <a:ea typeface="Calibri" panose="020F0502020204030204" pitchFamily="34" charset="0"/>
                <a:cs typeface="Arial"/>
              </a:rPr>
              <a:t>[</a:t>
            </a:r>
            <a:r>
              <a:rPr lang="en-US" sz="800">
                <a:solidFill>
                  <a:srgbClr val="0101FD"/>
                </a:solidFill>
                <a:latin typeface="Consolas"/>
                <a:ea typeface="Calibri" panose="020F0502020204030204" pitchFamily="34" charset="0"/>
                <a:cs typeface="Arial"/>
              </a:rPr>
              <a:t>,FIELDTERMINATOR</a:t>
            </a:r>
            <a:r>
              <a:rPr lang="en-US" sz="800">
                <a:solidFill>
                  <a:srgbClr val="A31515"/>
                </a:solidFill>
                <a:latin typeface="Consolas"/>
                <a:ea typeface="Calibri" panose="020F0502020204030204" pitchFamily="34" charset="0"/>
                <a:cs typeface="Arial"/>
              </a:rPr>
              <a:t> = ‘</a:t>
            </a:r>
            <a:r>
              <a:rPr lang="en-US" sz="800" err="1">
                <a:solidFill>
                  <a:srgbClr val="A31515"/>
                </a:solidFill>
                <a:latin typeface="Consolas"/>
                <a:ea typeface="Calibri" panose="020F0502020204030204" pitchFamily="34" charset="0"/>
                <a:cs typeface="Arial"/>
              </a:rPr>
              <a:t>field_terminator</a:t>
            </a:r>
            <a:r>
              <a:rPr lang="en-US" sz="800">
                <a:solidFill>
                  <a:srgbClr val="A31515"/>
                </a:solidFill>
                <a:latin typeface="Consolas"/>
                <a:ea typeface="Calibri" panose="020F0502020204030204" pitchFamily="34" charset="0"/>
                <a:cs typeface="Arial"/>
              </a:rPr>
              <a:t>’</a:t>
            </a:r>
            <a:r>
              <a:rPr lang="en-US" sz="800">
                <a:solidFill>
                  <a:srgbClr val="000000"/>
                </a:solidFill>
                <a:latin typeface="Consolas"/>
                <a:ea typeface="Calibri" panose="020F0502020204030204" pitchFamily="34" charset="0"/>
                <a:cs typeface="Arial"/>
              </a:rPr>
              <a:t>]</a:t>
            </a:r>
            <a:r>
              <a:rPr lang="en-US" sz="800">
                <a:solidFill>
                  <a:srgbClr val="A31515"/>
                </a:solidFill>
                <a:latin typeface="Consolas"/>
                <a:ea typeface="Calibri" panose="020F0502020204030204" pitchFamily="34" charset="0"/>
                <a:cs typeface="Arial"/>
              </a:rPr>
              <a:t>  </a:t>
            </a:r>
            <a:br>
              <a:rPr lang="en-US" sz="800">
                <a:solidFill>
                  <a:srgbClr val="001919"/>
                </a:solidFill>
                <a:latin typeface="Consolas"/>
                <a:ea typeface="Calibri" panose="020F0502020204030204" pitchFamily="34" charset="0"/>
                <a:cs typeface="Arial"/>
              </a:rPr>
            </a:br>
            <a:r>
              <a:rPr lang="en-US" sz="800">
                <a:solidFill>
                  <a:srgbClr val="A31515"/>
                </a:solidFill>
                <a:latin typeface="Consolas"/>
                <a:ea typeface="Calibri" panose="020F0502020204030204" pitchFamily="34" charset="0"/>
                <a:cs typeface="Arial"/>
              </a:rPr>
              <a:t> </a:t>
            </a:r>
            <a:r>
              <a:rPr lang="en-US" sz="800">
                <a:solidFill>
                  <a:srgbClr val="000000"/>
                </a:solidFill>
                <a:latin typeface="Consolas"/>
                <a:ea typeface="Calibri" panose="020F0502020204030204" pitchFamily="34" charset="0"/>
                <a:cs typeface="Arial"/>
              </a:rPr>
              <a:t>[</a:t>
            </a:r>
            <a:r>
              <a:rPr lang="en-US" sz="800">
                <a:solidFill>
                  <a:srgbClr val="0101FD"/>
                </a:solidFill>
                <a:latin typeface="Consolas"/>
                <a:ea typeface="Calibri" panose="020F0502020204030204" pitchFamily="34" charset="0"/>
                <a:cs typeface="Arial"/>
              </a:rPr>
              <a:t>,ROWTERMINATOR</a:t>
            </a:r>
            <a:r>
              <a:rPr lang="en-US" sz="800">
                <a:solidFill>
                  <a:srgbClr val="A31515"/>
                </a:solidFill>
                <a:latin typeface="Consolas"/>
                <a:ea typeface="Calibri" panose="020F0502020204030204" pitchFamily="34" charset="0"/>
                <a:cs typeface="Arial"/>
              </a:rPr>
              <a:t> = ‘</a:t>
            </a:r>
            <a:r>
              <a:rPr lang="en-US" sz="800" err="1">
                <a:solidFill>
                  <a:srgbClr val="A31515"/>
                </a:solidFill>
                <a:latin typeface="Consolas"/>
                <a:ea typeface="Calibri" panose="020F0502020204030204" pitchFamily="34" charset="0"/>
                <a:cs typeface="Arial"/>
              </a:rPr>
              <a:t>row_terminator</a:t>
            </a:r>
            <a:r>
              <a:rPr lang="en-US" sz="800">
                <a:solidFill>
                  <a:srgbClr val="A31515"/>
                </a:solidFill>
                <a:latin typeface="Consolas"/>
                <a:ea typeface="Calibri" panose="020F0502020204030204" pitchFamily="34" charset="0"/>
                <a:cs typeface="Arial"/>
              </a:rPr>
              <a:t>’</a:t>
            </a:r>
            <a:r>
              <a:rPr lang="en-US" sz="800">
                <a:solidFill>
                  <a:srgbClr val="000000"/>
                </a:solidFill>
                <a:latin typeface="Consolas"/>
                <a:ea typeface="Calibri" panose="020F0502020204030204" pitchFamily="34" charset="0"/>
                <a:cs typeface="Arial"/>
              </a:rPr>
              <a:t>]</a:t>
            </a:r>
            <a:b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br>
            <a:r>
              <a:rPr lang="en-US" sz="800">
                <a:solidFill>
                  <a:srgbClr val="A31515"/>
                </a:solidFill>
                <a:latin typeface="Consolas"/>
                <a:ea typeface="Calibri" panose="020F0502020204030204" pitchFamily="34" charset="0"/>
                <a:cs typeface="Arial"/>
              </a:rPr>
              <a:t> </a:t>
            </a:r>
            <a:r>
              <a:rPr lang="en-US" sz="800">
                <a:solidFill>
                  <a:srgbClr val="000000"/>
                </a:solidFill>
                <a:latin typeface="Consolas"/>
                <a:ea typeface="Calibri" panose="020F0502020204030204" pitchFamily="34" charset="0"/>
                <a:cs typeface="Arial"/>
              </a:rPr>
              <a:t>[</a:t>
            </a:r>
            <a:r>
              <a:rPr lang="en-US" sz="800">
                <a:solidFill>
                  <a:srgbClr val="0101FD"/>
                </a:solidFill>
                <a:latin typeface="Consolas"/>
                <a:ea typeface="Calibri" panose="020F0502020204030204" pitchFamily="34" charset="0"/>
                <a:cs typeface="Arial"/>
              </a:rPr>
              <a:t>,FIRSTROW</a:t>
            </a:r>
            <a:r>
              <a:rPr lang="en-US" sz="800">
                <a:solidFill>
                  <a:srgbClr val="A31515"/>
                </a:solidFill>
                <a:latin typeface="Consolas"/>
                <a:ea typeface="Calibri" panose="020F0502020204030204" pitchFamily="34" charset="0"/>
                <a:cs typeface="Arial"/>
              </a:rPr>
              <a:t> = </a:t>
            </a:r>
            <a:r>
              <a:rPr lang="en-US" sz="800" err="1">
                <a:solidFill>
                  <a:srgbClr val="A31515"/>
                </a:solidFill>
                <a:latin typeface="Consolas"/>
                <a:ea typeface="Calibri" panose="020F0502020204030204" pitchFamily="34" charset="0"/>
                <a:cs typeface="Arial"/>
              </a:rPr>
              <a:t>first_row</a:t>
            </a:r>
            <a:r>
              <a:rPr lang="en-US" sz="800">
                <a:solidFill>
                  <a:srgbClr val="000000"/>
                </a:solidFill>
                <a:latin typeface="Consolas"/>
                <a:ea typeface="Calibri" panose="020F0502020204030204" pitchFamily="34" charset="0"/>
                <a:cs typeface="Arial"/>
              </a:rPr>
              <a:t>]</a:t>
            </a:r>
            <a:br>
              <a:rPr lang="en-US" sz="800">
                <a:solidFill>
                  <a:srgbClr val="001919"/>
                </a:solidFill>
                <a:latin typeface="Consolas" panose="020B0609020204030204" pitchFamily="49" charset="0"/>
                <a:ea typeface="Calibri" panose="020F0502020204030204" pitchFamily="34" charset="0"/>
                <a:cs typeface="Arial" panose="020B0604020202020204" pitchFamily="34" charset="0"/>
              </a:rPr>
            </a:br>
            <a:r>
              <a:rPr lang="en-US" sz="800">
                <a:solidFill>
                  <a:srgbClr val="A31515"/>
                </a:solidFill>
                <a:latin typeface="Consolas"/>
                <a:ea typeface="Calibri" panose="020F0502020204030204" pitchFamily="34" charset="0"/>
                <a:cs typeface="Arial"/>
              </a:rPr>
              <a:t> </a:t>
            </a:r>
            <a:r>
              <a:rPr lang="en-US" sz="800">
                <a:solidFill>
                  <a:srgbClr val="000000"/>
                </a:solidFill>
                <a:latin typeface="Consolas"/>
                <a:ea typeface="Calibri" panose="020F0502020204030204" pitchFamily="34" charset="0"/>
                <a:cs typeface="Arial"/>
              </a:rPr>
              <a:t>[</a:t>
            </a:r>
            <a:r>
              <a:rPr lang="en-US" sz="800">
                <a:solidFill>
                  <a:srgbClr val="0101FD"/>
                </a:solidFill>
                <a:latin typeface="Consolas"/>
                <a:ea typeface="Calibri" panose="020F0502020204030204" pitchFamily="34" charset="0"/>
                <a:cs typeface="Arial"/>
              </a:rPr>
              <a:t>,ENCODING</a:t>
            </a:r>
            <a:r>
              <a:rPr lang="en-US" sz="800">
                <a:solidFill>
                  <a:srgbClr val="A31515"/>
                </a:solidFill>
                <a:latin typeface="Consolas"/>
                <a:ea typeface="Calibri" panose="020F0502020204030204" pitchFamily="34" charset="0"/>
                <a:cs typeface="Arial"/>
              </a:rPr>
              <a:t> = {'UTF8'|'UTF16’}</a:t>
            </a:r>
            <a:r>
              <a:rPr lang="en-US" sz="800">
                <a:solidFill>
                  <a:srgbClr val="000000"/>
                </a:solidFill>
                <a:latin typeface="Consolas"/>
                <a:ea typeface="Calibri" panose="020F0502020204030204" pitchFamily="34" charset="0"/>
                <a:cs typeface="Arial"/>
              </a:rPr>
              <a:t>] </a:t>
            </a:r>
            <a:endParaRPr lang="en-US" sz="800">
              <a:solidFill>
                <a:srgbClr val="000000"/>
              </a:solidFill>
              <a:latin typeface="Consolas" panose="020B0609020204030204" pitchFamily="49" charset="0"/>
              <a:ea typeface="Calibri" panose="020F0502020204030204" pitchFamily="34" charset="0"/>
              <a:cs typeface="Arial" panose="020B0604020202020204" pitchFamily="34" charset="0"/>
            </a:endParaRPr>
          </a:p>
          <a:p>
            <a:pPr>
              <a:defRPr/>
            </a:pPr>
            <a:r>
              <a:rPr lang="en-US" sz="800">
                <a:solidFill>
                  <a:srgbClr val="000000"/>
                </a:solidFill>
                <a:latin typeface="Consolas"/>
                <a:ea typeface="Calibri" panose="020F0502020204030204" pitchFamily="34" charset="0"/>
                <a:cs typeface="Arial"/>
              </a:rPr>
              <a:t> );</a:t>
            </a:r>
            <a:endParaRPr lang="en-US" sz="800">
              <a:solidFill>
                <a:srgbClr val="080808"/>
              </a:solidFill>
              <a:latin typeface="Consolas"/>
              <a:ea typeface="Calibri" panose="020F0502020204030204" pitchFamily="34" charset="0"/>
              <a:cs typeface="Arial"/>
            </a:endParaRPr>
          </a:p>
        </p:txBody>
      </p:sp>
      <p:sp>
        <p:nvSpPr>
          <p:cNvPr id="22" name="TextBox 21">
            <a:extLst>
              <a:ext uri="{FF2B5EF4-FFF2-40B4-BE49-F238E27FC236}">
                <a16:creationId xmlns:a16="http://schemas.microsoft.com/office/drawing/2014/main" id="{550E0EBD-5CEB-AB21-C677-07C0A472B7C0}"/>
              </a:ext>
            </a:extLst>
          </p:cNvPr>
          <p:cNvSpPr txBox="1"/>
          <p:nvPr/>
        </p:nvSpPr>
        <p:spPr>
          <a:xfrm>
            <a:off x="5158766" y="3764311"/>
            <a:ext cx="5337834" cy="474454"/>
          </a:xfrm>
          <a:prstGeom prst="rect">
            <a:avLst/>
          </a:prstGeom>
          <a:noFill/>
        </p:spPr>
        <p:txBody>
          <a:bodyPr wrap="square">
            <a:spAutoFit/>
          </a:bodyPr>
          <a:lstStyle/>
          <a:p>
            <a:pPr marL="0" lvl="2">
              <a:defRPr/>
            </a:pPr>
            <a:r>
              <a:rPr lang="en-US" sz="800">
                <a:solidFill>
                  <a:srgbClr val="0000FF"/>
                </a:solidFill>
                <a:latin typeface="Consolas" panose="020B0609020204030204" pitchFamily="49" charset="0"/>
              </a:rPr>
              <a:t>CREATE</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TABLE</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warehouseA</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dbo</a:t>
            </a:r>
            <a:r>
              <a:rPr lang="en-US" sz="800">
                <a:solidFill>
                  <a:srgbClr val="000000"/>
                </a:solidFill>
                <a:latin typeface="Consolas" panose="020B0609020204030204" pitchFamily="49" charset="0"/>
              </a:rPr>
              <a:t>]</a:t>
            </a:r>
            <a:r>
              <a:rPr lang="en-US" sz="800">
                <a:solidFill>
                  <a:srgbClr val="808080"/>
                </a:solidFill>
                <a:latin typeface="Consolas" panose="020B0609020204030204" pitchFamily="49" charset="0"/>
              </a:rPr>
              <a:t>.</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FactInternetSales_new</a:t>
            </a:r>
            <a:r>
              <a:rPr lang="en-US" sz="800">
                <a:solidFill>
                  <a:srgbClr val="000000"/>
                </a:solidFill>
                <a:latin typeface="Consolas" panose="020B0609020204030204" pitchFamily="49" charset="0"/>
              </a:rPr>
              <a:t>]</a:t>
            </a:r>
          </a:p>
          <a:p>
            <a:pPr marL="0" lvl="2">
              <a:defRPr/>
            </a:pPr>
            <a:r>
              <a:rPr lang="en-US" sz="800">
                <a:solidFill>
                  <a:srgbClr val="0000FF"/>
                </a:solidFill>
                <a:latin typeface="Consolas" panose="020B0609020204030204" pitchFamily="49" charset="0"/>
              </a:rPr>
              <a:t>AS</a:t>
            </a:r>
            <a:endParaRPr lang="en-US" sz="800">
              <a:solidFill>
                <a:srgbClr val="000000"/>
              </a:solidFill>
              <a:latin typeface="Consolas" panose="020B0609020204030204" pitchFamily="49" charset="0"/>
            </a:endParaRPr>
          </a:p>
          <a:p>
            <a:pPr marL="0" lvl="2">
              <a:defRPr/>
            </a:pPr>
            <a:r>
              <a:rPr lang="en-US" sz="800">
                <a:solidFill>
                  <a:srgbClr val="0000FF"/>
                </a:solidFill>
                <a:latin typeface="Consolas" panose="020B0609020204030204" pitchFamily="49" charset="0"/>
              </a:rPr>
              <a:t>SELECT</a:t>
            </a:r>
            <a:r>
              <a:rPr lang="en-US" sz="800">
                <a:solidFill>
                  <a:srgbClr val="000000"/>
                </a:solidFill>
                <a:latin typeface="Consolas" panose="020B0609020204030204" pitchFamily="49" charset="0"/>
              </a:rPr>
              <a:t> </a:t>
            </a:r>
            <a:r>
              <a:rPr lang="en-US" sz="800">
                <a:solidFill>
                  <a:srgbClr val="808080"/>
                </a:solidFill>
                <a:latin typeface="Consolas" panose="020B0609020204030204" pitchFamily="49" charset="0"/>
              </a:rPr>
              <a:t>*</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FROM</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warehouseB</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dbo</a:t>
            </a:r>
            <a:r>
              <a:rPr lang="en-US" sz="800">
                <a:solidFill>
                  <a:srgbClr val="000000"/>
                </a:solidFill>
                <a:latin typeface="Consolas" panose="020B0609020204030204" pitchFamily="49" charset="0"/>
              </a:rPr>
              <a:t>]</a:t>
            </a:r>
            <a:r>
              <a:rPr lang="en-US" sz="800">
                <a:solidFill>
                  <a:srgbClr val="808080"/>
                </a:solidFill>
                <a:latin typeface="Consolas" panose="020B0609020204030204" pitchFamily="49" charset="0"/>
              </a:rPr>
              <a:t>.</a:t>
            </a:r>
            <a:r>
              <a:rPr lang="en-US" sz="800">
                <a:solidFill>
                  <a:srgbClr val="000000"/>
                </a:solidFill>
                <a:latin typeface="Consolas" panose="020B0609020204030204" pitchFamily="49" charset="0"/>
              </a:rPr>
              <a:t>[</a:t>
            </a:r>
            <a:r>
              <a:rPr lang="en-US" sz="800" err="1">
                <a:solidFill>
                  <a:srgbClr val="000000"/>
                </a:solidFill>
                <a:latin typeface="Consolas" panose="020B0609020204030204" pitchFamily="49" charset="0"/>
              </a:rPr>
              <a:t>FactInternetSales</a:t>
            </a:r>
            <a:r>
              <a:rPr lang="en-US" sz="800">
                <a:solidFill>
                  <a:srgbClr val="000000"/>
                </a:solidFill>
                <a:latin typeface="Consolas" panose="020B0609020204030204" pitchFamily="49" charset="0"/>
              </a:rPr>
              <a:t>]</a:t>
            </a:r>
            <a:r>
              <a:rPr lang="en-US" sz="800">
                <a:solidFill>
                  <a:srgbClr val="808080"/>
                </a:solidFill>
                <a:latin typeface="Consolas" panose="020B0609020204030204" pitchFamily="49" charset="0"/>
              </a:rPr>
              <a:t>;</a:t>
            </a:r>
            <a:endParaRPr lang="en-US" sz="800">
              <a:solidFill>
                <a:srgbClr val="080808"/>
              </a:solidFill>
              <a:latin typeface="Segoe UI"/>
            </a:endParaRPr>
          </a:p>
        </p:txBody>
      </p:sp>
      <p:sp>
        <p:nvSpPr>
          <p:cNvPr id="23" name="TextBox 22" descr="Screenshot of T-SQL INSERT … SELECT&#10;">
            <a:extLst>
              <a:ext uri="{FF2B5EF4-FFF2-40B4-BE49-F238E27FC236}">
                <a16:creationId xmlns:a16="http://schemas.microsoft.com/office/drawing/2014/main" id="{640F9CEF-D2C4-7888-AB5F-4EFC61F0A713}"/>
              </a:ext>
            </a:extLst>
          </p:cNvPr>
          <p:cNvSpPr txBox="1"/>
          <p:nvPr/>
        </p:nvSpPr>
        <p:spPr>
          <a:xfrm>
            <a:off x="5158766" y="4202969"/>
            <a:ext cx="5823283" cy="1077218"/>
          </a:xfrm>
          <a:prstGeom prst="rect">
            <a:avLst/>
          </a:prstGeom>
          <a:noFill/>
        </p:spPr>
        <p:txBody>
          <a:bodyPr wrap="square">
            <a:spAutoFit/>
          </a:bodyPr>
          <a:lstStyle/>
          <a:p>
            <a:pPr marL="228600" lvl="1">
              <a:defRPr/>
            </a:pPr>
            <a:endParaRPr lang="en-US" sz="800">
              <a:solidFill>
                <a:srgbClr val="0000FF"/>
              </a:solidFill>
              <a:latin typeface="Consolas" panose="020B0609020204030204" pitchFamily="49" charset="0"/>
            </a:endParaRPr>
          </a:p>
          <a:p>
            <a:pPr marL="0" lvl="1">
              <a:defRPr/>
            </a:pPr>
            <a:r>
              <a:rPr lang="en-US" sz="800">
                <a:solidFill>
                  <a:srgbClr val="0000FF"/>
                </a:solidFill>
                <a:latin typeface="Consolas" panose="020B0609020204030204" pitchFamily="49" charset="0"/>
              </a:rPr>
              <a:t>INSERT</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INTO</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dbo</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EmployeeSales</a:t>
            </a:r>
            <a:r>
              <a:rPr lang="en-US" sz="800">
                <a:solidFill>
                  <a:srgbClr val="000000"/>
                </a:solidFill>
                <a:latin typeface="Consolas" panose="020B0609020204030204" pitchFamily="49" charset="0"/>
              </a:rPr>
              <a:t>  </a:t>
            </a:r>
          </a:p>
          <a:p>
            <a:pPr marL="0" lvl="1">
              <a:defRPr/>
            </a:pPr>
            <a:r>
              <a:rPr lang="en-US" sz="800">
                <a:solidFill>
                  <a:srgbClr val="0000FF"/>
                </a:solidFill>
                <a:latin typeface="Consolas" panose="020B0609020204030204" pitchFamily="49" charset="0"/>
              </a:rPr>
              <a:t>SELECT</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sp</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BusinessEntityID</a:t>
            </a:r>
            <a:r>
              <a:rPr lang="en-US" sz="800">
                <a:solidFill>
                  <a:srgbClr val="808080"/>
                </a:solidFill>
                <a:latin typeface="Consolas" panose="020B0609020204030204" pitchFamily="49" charset="0"/>
              </a:rPr>
              <a:t>,</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c</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LastName</a:t>
            </a:r>
            <a:r>
              <a:rPr lang="en-US" sz="800">
                <a:solidFill>
                  <a:srgbClr val="808080"/>
                </a:solidFill>
                <a:latin typeface="Consolas" panose="020B0609020204030204" pitchFamily="49" charset="0"/>
              </a:rPr>
              <a:t>,</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sp</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SalesYTD</a:t>
            </a:r>
            <a:r>
              <a:rPr lang="en-US" sz="800">
                <a:solidFill>
                  <a:srgbClr val="000000"/>
                </a:solidFill>
                <a:latin typeface="Consolas" panose="020B0609020204030204" pitchFamily="49" charset="0"/>
              </a:rPr>
              <a:t>   </a:t>
            </a:r>
          </a:p>
          <a:p>
            <a:pPr marL="0" lvl="1">
              <a:defRPr/>
            </a:pPr>
            <a:r>
              <a:rPr lang="en-US" sz="800">
                <a:solidFill>
                  <a:srgbClr val="0000FF"/>
                </a:solidFill>
                <a:latin typeface="Consolas" panose="020B0609020204030204" pitchFamily="49" charset="0"/>
              </a:rPr>
              <a:t>FROM</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warehouseA</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Sales</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SalesPerson</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AS</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sp</a:t>
            </a:r>
            <a:r>
              <a:rPr lang="en-US" sz="800">
                <a:solidFill>
                  <a:srgbClr val="000000"/>
                </a:solidFill>
                <a:latin typeface="Consolas" panose="020B0609020204030204" pitchFamily="49" charset="0"/>
              </a:rPr>
              <a:t>  </a:t>
            </a:r>
          </a:p>
          <a:p>
            <a:pPr marL="0" lvl="1">
              <a:defRPr/>
            </a:pPr>
            <a:r>
              <a:rPr lang="en-US" sz="800">
                <a:solidFill>
                  <a:srgbClr val="808080"/>
                </a:solidFill>
                <a:latin typeface="Consolas" panose="020B0609020204030204" pitchFamily="49" charset="0"/>
              </a:rPr>
              <a:t>INNER</a:t>
            </a:r>
            <a:r>
              <a:rPr lang="en-US" sz="800">
                <a:solidFill>
                  <a:srgbClr val="000000"/>
                </a:solidFill>
                <a:latin typeface="Consolas" panose="020B0609020204030204" pitchFamily="49" charset="0"/>
              </a:rPr>
              <a:t> </a:t>
            </a:r>
            <a:r>
              <a:rPr lang="en-US" sz="800">
                <a:solidFill>
                  <a:srgbClr val="808080"/>
                </a:solidFill>
                <a:latin typeface="Consolas" panose="020B0609020204030204" pitchFamily="49" charset="0"/>
              </a:rPr>
              <a:t>JOIN</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warehouseB</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Person</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Person</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AS</a:t>
            </a:r>
            <a:r>
              <a:rPr lang="en-US" sz="800">
                <a:solidFill>
                  <a:srgbClr val="000000"/>
                </a:solidFill>
                <a:latin typeface="Consolas" panose="020B0609020204030204" pitchFamily="49" charset="0"/>
              </a:rPr>
              <a:t> c  </a:t>
            </a:r>
          </a:p>
          <a:p>
            <a:pPr marL="0" lvl="1">
              <a:defRPr/>
            </a:pPr>
            <a:r>
              <a:rPr lang="en-US" sz="800">
                <a:solidFill>
                  <a:srgbClr val="0000FF"/>
                </a:solidFill>
                <a:latin typeface="Consolas" panose="020B0609020204030204" pitchFamily="49" charset="0"/>
              </a:rPr>
              <a:t>ON</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sp</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BusinessEntityID</a:t>
            </a:r>
            <a:r>
              <a:rPr lang="en-US" sz="800">
                <a:solidFill>
                  <a:srgbClr val="000000"/>
                </a:solidFill>
                <a:latin typeface="Consolas" panose="020B0609020204030204" pitchFamily="49" charset="0"/>
              </a:rPr>
              <a:t> </a:t>
            </a:r>
            <a:r>
              <a:rPr lang="en-US" sz="800">
                <a:solidFill>
                  <a:srgbClr val="808080"/>
                </a:solidFill>
                <a:latin typeface="Consolas" panose="020B0609020204030204" pitchFamily="49" charset="0"/>
              </a:rPr>
              <a:t>=</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c</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BusinessEntityID</a:t>
            </a:r>
            <a:r>
              <a:rPr lang="en-US" sz="800">
                <a:solidFill>
                  <a:srgbClr val="000000"/>
                </a:solidFill>
                <a:latin typeface="Consolas" panose="020B0609020204030204" pitchFamily="49" charset="0"/>
              </a:rPr>
              <a:t>  </a:t>
            </a:r>
          </a:p>
          <a:p>
            <a:pPr marL="0" lvl="1">
              <a:defRPr/>
            </a:pPr>
            <a:r>
              <a:rPr lang="en-US" sz="800">
                <a:solidFill>
                  <a:srgbClr val="0000FF"/>
                </a:solidFill>
                <a:latin typeface="Consolas" panose="020B0609020204030204" pitchFamily="49" charset="0"/>
              </a:rPr>
              <a:t>WHERE</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sp</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BusinessEntityID</a:t>
            </a:r>
            <a:r>
              <a:rPr lang="en-US" sz="800">
                <a:solidFill>
                  <a:srgbClr val="000000"/>
                </a:solidFill>
                <a:latin typeface="Consolas" panose="020B0609020204030204" pitchFamily="49" charset="0"/>
              </a:rPr>
              <a:t> </a:t>
            </a:r>
            <a:r>
              <a:rPr lang="en-US" sz="800">
                <a:solidFill>
                  <a:srgbClr val="808080"/>
                </a:solidFill>
                <a:latin typeface="Consolas" panose="020B0609020204030204" pitchFamily="49" charset="0"/>
              </a:rPr>
              <a:t>LIKE</a:t>
            </a:r>
            <a:r>
              <a:rPr lang="en-US" sz="800">
                <a:solidFill>
                  <a:srgbClr val="000000"/>
                </a:solidFill>
                <a:latin typeface="Consolas" panose="020B0609020204030204" pitchFamily="49" charset="0"/>
              </a:rPr>
              <a:t> </a:t>
            </a:r>
            <a:r>
              <a:rPr lang="en-US" sz="800">
                <a:solidFill>
                  <a:srgbClr val="FF0000"/>
                </a:solidFill>
                <a:latin typeface="Consolas" panose="020B0609020204030204" pitchFamily="49" charset="0"/>
              </a:rPr>
              <a:t>'2%'</a:t>
            </a:r>
            <a:r>
              <a:rPr lang="en-US" sz="800">
                <a:solidFill>
                  <a:srgbClr val="000000"/>
                </a:solidFill>
                <a:latin typeface="Consolas" panose="020B0609020204030204" pitchFamily="49" charset="0"/>
              </a:rPr>
              <a:t>  </a:t>
            </a:r>
          </a:p>
          <a:p>
            <a:pPr marL="0" lvl="1">
              <a:defRPr/>
            </a:pPr>
            <a:r>
              <a:rPr lang="en-US" sz="800">
                <a:solidFill>
                  <a:srgbClr val="0000FF"/>
                </a:solidFill>
                <a:latin typeface="Consolas" panose="020B0609020204030204" pitchFamily="49" charset="0"/>
              </a:rPr>
              <a:t>ORDER</a:t>
            </a:r>
            <a:r>
              <a:rPr lang="en-US" sz="800">
                <a:solidFill>
                  <a:srgbClr val="000000"/>
                </a:solidFill>
                <a:latin typeface="Consolas" panose="020B0609020204030204" pitchFamily="49" charset="0"/>
              </a:rPr>
              <a:t> </a:t>
            </a:r>
            <a:r>
              <a:rPr lang="en-US" sz="800">
                <a:solidFill>
                  <a:srgbClr val="0000FF"/>
                </a:solidFill>
                <a:latin typeface="Consolas" panose="020B0609020204030204" pitchFamily="49" charset="0"/>
              </a:rPr>
              <a:t>BY</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sp</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BusinessEntityID</a:t>
            </a:r>
            <a:r>
              <a:rPr lang="en-US" sz="800">
                <a:solidFill>
                  <a:srgbClr val="808080"/>
                </a:solidFill>
                <a:latin typeface="Consolas" panose="020B0609020204030204" pitchFamily="49" charset="0"/>
              </a:rPr>
              <a:t>,</a:t>
            </a:r>
            <a:r>
              <a:rPr lang="en-US" sz="800">
                <a:solidFill>
                  <a:srgbClr val="000000"/>
                </a:solidFill>
                <a:latin typeface="Consolas" panose="020B0609020204030204" pitchFamily="49" charset="0"/>
              </a:rPr>
              <a:t> </a:t>
            </a:r>
            <a:r>
              <a:rPr lang="en-US" sz="800" err="1">
                <a:solidFill>
                  <a:srgbClr val="000000"/>
                </a:solidFill>
                <a:latin typeface="Consolas" panose="020B0609020204030204" pitchFamily="49" charset="0"/>
              </a:rPr>
              <a:t>c</a:t>
            </a:r>
            <a:r>
              <a:rPr lang="en-US" sz="800" err="1">
                <a:solidFill>
                  <a:srgbClr val="808080"/>
                </a:solidFill>
                <a:latin typeface="Consolas" panose="020B0609020204030204" pitchFamily="49" charset="0"/>
              </a:rPr>
              <a:t>.</a:t>
            </a:r>
            <a:r>
              <a:rPr lang="en-US" sz="800" err="1">
                <a:solidFill>
                  <a:srgbClr val="000000"/>
                </a:solidFill>
                <a:latin typeface="Consolas" panose="020B0609020204030204" pitchFamily="49" charset="0"/>
              </a:rPr>
              <a:t>LastName</a:t>
            </a:r>
            <a:r>
              <a:rPr lang="en-US" sz="800">
                <a:solidFill>
                  <a:srgbClr val="808080"/>
                </a:solidFill>
                <a:latin typeface="Consolas" panose="020B0609020204030204" pitchFamily="49" charset="0"/>
              </a:rPr>
              <a:t>;</a:t>
            </a:r>
            <a:endParaRPr lang="en-US" sz="800">
              <a:solidFill>
                <a:srgbClr val="080808"/>
              </a:solidFill>
              <a:latin typeface="Segoe UI"/>
            </a:endParaRPr>
          </a:p>
        </p:txBody>
      </p:sp>
      <p:sp>
        <p:nvSpPr>
          <p:cNvPr id="17" name="Slide Number Placeholder 5">
            <a:extLst>
              <a:ext uri="{FF2B5EF4-FFF2-40B4-BE49-F238E27FC236}">
                <a16:creationId xmlns:a16="http://schemas.microsoft.com/office/drawing/2014/main" id="{762F5B7B-65B8-ECB4-7B14-D36C768D7C56}"/>
              </a:ext>
            </a:extLst>
          </p:cNvPr>
          <p:cNvSpPr txBox="1">
            <a:spLocks/>
          </p:cNvSpPr>
          <p:nvPr/>
        </p:nvSpPr>
        <p:spPr>
          <a:xfrm>
            <a:off x="607809" y="6311900"/>
            <a:ext cx="399288"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FFFEFB"/>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FFFEFB"/>
              </a:solidFill>
              <a:effectLst/>
              <a:uLnTx/>
              <a:uFillTx/>
              <a:latin typeface="Segoe Sans Small Semilight" pitchFamily="2" charset="0"/>
              <a:ea typeface="+mn-ea"/>
              <a:cs typeface="Segoe Sans Small Semilight" pitchFamily="2" charset="0"/>
            </a:endParaRPr>
          </a:p>
        </p:txBody>
      </p:sp>
      <p:sp>
        <p:nvSpPr>
          <p:cNvPr id="14" name="Footer Placeholder 4">
            <a:extLst>
              <a:ext uri="{FF2B5EF4-FFF2-40B4-BE49-F238E27FC236}">
                <a16:creationId xmlns:a16="http://schemas.microsoft.com/office/drawing/2014/main" id="{1A5BC313-32E8-F6F7-926B-8581606DF914}"/>
              </a:ext>
            </a:extLst>
          </p:cNvPr>
          <p:cNvSpPr txBox="1">
            <a:spLocks/>
          </p:cNvSpPr>
          <p:nvPr/>
        </p:nvSpPr>
        <p:spPr>
          <a:xfrm>
            <a:off x="1007097" y="6311900"/>
            <a:ext cx="2078736"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EFB"/>
                </a:solidFill>
                <a:effectLst/>
                <a:uLnTx/>
                <a:uFillTx/>
                <a:latin typeface="Segoe Sans Small Semilight" pitchFamily="2" charset="0"/>
                <a:ea typeface="+mn-ea"/>
                <a:cs typeface="Segoe Sans Small Semilight" pitchFamily="2" charset="0"/>
              </a:rPr>
              <a:t>Microsoft Fabric</a:t>
            </a:r>
          </a:p>
        </p:txBody>
      </p:sp>
    </p:spTree>
    <p:extLst>
      <p:ext uri="{BB962C8B-B14F-4D97-AF65-F5344CB8AC3E}">
        <p14:creationId xmlns:p14="http://schemas.microsoft.com/office/powerpoint/2010/main" val="401869365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336D1-05D6-6903-61EE-2CCB6E11AFFC}"/>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D7962EDB-4BCD-E474-E789-CB04327B31BF}"/>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itle 26">
            <a:extLst>
              <a:ext uri="{FF2B5EF4-FFF2-40B4-BE49-F238E27FC236}">
                <a16:creationId xmlns:a16="http://schemas.microsoft.com/office/drawing/2014/main" id="{B3C5ABA4-1D3E-4BED-B48B-B0F6F2A428C7}"/>
              </a:ext>
            </a:extLst>
          </p:cNvPr>
          <p:cNvSpPr>
            <a:spLocks noGrp="1"/>
          </p:cNvSpPr>
          <p:nvPr>
            <p:ph type="title"/>
          </p:nvPr>
        </p:nvSpPr>
        <p:spPr>
          <a:xfrm>
            <a:off x="581025" y="365125"/>
            <a:ext cx="11029950" cy="549275"/>
          </a:xfrm>
        </p:spPr>
        <p:txBody>
          <a:bodyPr anchor="t"/>
          <a:lstStyle/>
          <a:p>
            <a:pPr lvl="0"/>
            <a:r>
              <a:rPr lang="en-US" sz="2800" noProof="0">
                <a:solidFill>
                  <a:srgbClr val="FFFDF9"/>
                </a:solidFill>
              </a:rPr>
              <a:t>Virtual warehouses and</a:t>
            </a:r>
            <a:br>
              <a:rPr lang="en-US" sz="2800" noProof="0">
                <a:solidFill>
                  <a:srgbClr val="FFFDF9"/>
                </a:solidFill>
              </a:rPr>
            </a:br>
            <a:r>
              <a:rPr lang="en-US" sz="2800" noProof="0">
                <a:solidFill>
                  <a:srgbClr val="FFFDF9"/>
                </a:solidFill>
              </a:rPr>
              <a:t>cross database querying</a:t>
            </a:r>
          </a:p>
        </p:txBody>
      </p:sp>
      <p:sp>
        <p:nvSpPr>
          <p:cNvPr id="2" name="Rectangle: Rounded Corners 19">
            <a:extLst>
              <a:ext uri="{FF2B5EF4-FFF2-40B4-BE49-F238E27FC236}">
                <a16:creationId xmlns:a16="http://schemas.microsoft.com/office/drawing/2014/main" id="{471425F4-1291-6356-1C56-B6FBC1080CE5}"/>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rgbClr val="8661C5">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Sans Text"/>
              <a:ea typeface="+mn-ea"/>
              <a:cs typeface="+mn-cs"/>
            </a:endParaRPr>
          </a:p>
        </p:txBody>
      </p:sp>
      <p:sp>
        <p:nvSpPr>
          <p:cNvPr id="7" name="Graphic 51">
            <a:extLst>
              <a:ext uri="{FF2B5EF4-FFF2-40B4-BE49-F238E27FC236}">
                <a16:creationId xmlns:a16="http://schemas.microsoft.com/office/drawing/2014/main" id="{08C0A8D1-04F1-DB69-95A3-D9F444398A1B}"/>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rgbClr val="49C5B1">
              <a:lumMod val="60000"/>
              <a:lumOff val="40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25B61"/>
              </a:solidFill>
              <a:effectLst/>
              <a:uLnTx/>
              <a:uFillTx/>
              <a:latin typeface="Segoe Sans Text"/>
            </a:endParaRPr>
          </a:p>
        </p:txBody>
      </p:sp>
      <p:sp>
        <p:nvSpPr>
          <p:cNvPr id="12" name="Rectangle: Rounded Corners 8">
            <a:extLst>
              <a:ext uri="{FF2B5EF4-FFF2-40B4-BE49-F238E27FC236}">
                <a16:creationId xmlns:a16="http://schemas.microsoft.com/office/drawing/2014/main" id="{D8E44DDC-7933-EFDC-A9CB-321AF974891E}"/>
              </a:ext>
              <a:ext uri="{C183D7F6-B498-43B3-948B-1728B52AA6E4}">
                <adec:decorative xmlns:adec="http://schemas.microsoft.com/office/drawing/2017/decorative" val="1"/>
              </a:ext>
            </a:extLst>
          </p:cNvPr>
          <p:cNvSpPr>
            <a:spLocks/>
          </p:cNvSpPr>
          <p:nvPr/>
        </p:nvSpPr>
        <p:spPr>
          <a:xfrm>
            <a:off x="4930636" y="1435713"/>
            <a:ext cx="6694130" cy="4023646"/>
          </a:xfrm>
          <a:prstGeom prst="roundRect">
            <a:avLst>
              <a:gd name="adj" fmla="val 5180"/>
            </a:avLst>
          </a:prstGeom>
          <a:solidFill>
            <a:srgbClr val="F9F9F9">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endPar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19" name="Picture 18" descr="Data warehouse logo">
            <a:extLst>
              <a:ext uri="{FF2B5EF4-FFF2-40B4-BE49-F238E27FC236}">
                <a16:creationId xmlns:a16="http://schemas.microsoft.com/office/drawing/2014/main" id="{D1675F53-C6DA-24B0-FF4B-92C817036C81}"/>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617785" y="131716"/>
            <a:ext cx="410912" cy="411714"/>
          </a:xfrm>
          <a:prstGeom prst="rect">
            <a:avLst/>
          </a:prstGeom>
          <a:noFill/>
        </p:spPr>
      </p:pic>
      <p:sp>
        <p:nvSpPr>
          <p:cNvPr id="18" name="TextBox 17">
            <a:extLst>
              <a:ext uri="{FF2B5EF4-FFF2-40B4-BE49-F238E27FC236}">
                <a16:creationId xmlns:a16="http://schemas.microsoft.com/office/drawing/2014/main" id="{5918BD9D-E838-8487-8314-A08678077D59}"/>
              </a:ext>
            </a:extLst>
          </p:cNvPr>
          <p:cNvSpPr txBox="1"/>
          <p:nvPr/>
        </p:nvSpPr>
        <p:spPr>
          <a:xfrm>
            <a:off x="581025" y="1490016"/>
            <a:ext cx="3472915" cy="1015663"/>
          </a:xfrm>
          <a:prstGeom prst="rect">
            <a:avLst/>
          </a:prstGeom>
          <a:noFill/>
        </p:spPr>
        <p:txBody>
          <a:bodyPr wrap="square" lIns="0" tIns="0" rIns="0" bIns="0">
            <a:spAutoFit/>
          </a:bodyPr>
          <a:lstStyle/>
          <a:p>
            <a:pPr defTabSz="914367">
              <a:spcAft>
                <a:spcPts val="1200"/>
              </a:spcAft>
              <a:defRPr/>
            </a:pPr>
            <a:r>
              <a:rPr lang="en-US" sz="1400">
                <a:solidFill>
                  <a:srgbClr val="FFFFFF"/>
                </a:solidFill>
                <a:cs typeface="Segoe Sans Text" pitchFamily="2" charset="0"/>
              </a:rPr>
              <a:t>Eliminate the need to duplicate data from any Lakehouse to any Warehouse </a:t>
            </a:r>
          </a:p>
          <a:p>
            <a:pPr defTabSz="914367">
              <a:spcAft>
                <a:spcPts val="1200"/>
              </a:spcAft>
              <a:defRPr/>
            </a:pPr>
            <a:r>
              <a:rPr lang="en-US" sz="1400">
                <a:solidFill>
                  <a:srgbClr val="FFFFFF"/>
                </a:solidFill>
                <a:cs typeface="Segoe Sans Text" pitchFamily="2" charset="0"/>
              </a:rPr>
              <a:t>Customers can query data in the lake without the need for data movement, reducing costs</a:t>
            </a:r>
          </a:p>
        </p:txBody>
      </p:sp>
      <p:cxnSp>
        <p:nvCxnSpPr>
          <p:cNvPr id="13" name="Straight Connector 12">
            <a:extLst>
              <a:ext uri="{FF2B5EF4-FFF2-40B4-BE49-F238E27FC236}">
                <a16:creationId xmlns:a16="http://schemas.microsoft.com/office/drawing/2014/main" id="{AC3E2D10-350F-BFA8-ECF7-99ADF3232718}"/>
              </a:ext>
              <a:ext uri="{C183D7F6-B498-43B3-948B-1728B52AA6E4}">
                <adec:decorative xmlns:adec="http://schemas.microsoft.com/office/drawing/2017/decorative" val="1"/>
              </a:ext>
            </a:extLst>
          </p:cNvPr>
          <p:cNvCxnSpPr>
            <a:cxnSpLocks/>
          </p:cNvCxnSpPr>
          <p:nvPr/>
        </p:nvCxnSpPr>
        <p:spPr>
          <a:xfrm>
            <a:off x="581025" y="2691265"/>
            <a:ext cx="3472915" cy="0"/>
          </a:xfrm>
          <a:prstGeom prst="line">
            <a:avLst/>
          </a:prstGeom>
          <a:noFill/>
          <a:ln w="12700" cap="flat" cmpd="sng" algn="ctr">
            <a:solidFill>
              <a:srgbClr val="FFFEF9"/>
            </a:solidFill>
            <a:prstDash val="solid"/>
            <a:miter lim="800000"/>
          </a:ln>
          <a:effectLst/>
        </p:spPr>
      </p:cxnSp>
      <p:sp>
        <p:nvSpPr>
          <p:cNvPr id="17" name="TextBox 16" descr="Screenshot of Build virtual warehouses by creating Lakehouses with shortcuts to data in the Lake&#10;">
            <a:extLst>
              <a:ext uri="{FF2B5EF4-FFF2-40B4-BE49-F238E27FC236}">
                <a16:creationId xmlns:a16="http://schemas.microsoft.com/office/drawing/2014/main" id="{193BE46E-7DA6-35FE-FB58-051092F68E56}"/>
              </a:ext>
            </a:extLst>
          </p:cNvPr>
          <p:cNvSpPr txBox="1"/>
          <p:nvPr/>
        </p:nvSpPr>
        <p:spPr>
          <a:xfrm>
            <a:off x="581025" y="2876851"/>
            <a:ext cx="3609975" cy="1603516"/>
          </a:xfrm>
          <a:prstGeom prst="rect">
            <a:avLst/>
          </a:prstGeom>
          <a:noFill/>
        </p:spPr>
        <p:txBody>
          <a:bodyPr wrap="square" lIns="0" tIns="0" rIns="0" bIns="0" rtlCol="0" anchor="t">
            <a:spAutoFit/>
          </a:bodyPr>
          <a:lstStyle/>
          <a:p>
            <a:pPr defTabSz="914367">
              <a:lnSpc>
                <a:spcPct val="105000"/>
              </a:lnSpc>
              <a:spcAft>
                <a:spcPts val="300"/>
              </a:spcAft>
              <a:defRPr/>
            </a:pPr>
            <a:r>
              <a:rPr lang="en-US" sz="1400" i="1">
                <a:solidFill>
                  <a:srgbClr val="FFFFFF"/>
                </a:solidFill>
                <a:latin typeface="Segoe Sans Display Semibold" pitchFamily="2" charset="0"/>
                <a:cs typeface="Segoe Sans Display Semibold" pitchFamily="2" charset="0"/>
              </a:rPr>
              <a:t>Key Capabilities: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Build virtual warehouses by creating </a:t>
            </a:r>
            <a:r>
              <a:rPr lang="en-US" sz="1200" err="1">
                <a:solidFill>
                  <a:srgbClr val="FFFFFF"/>
                </a:solidFill>
                <a:cs typeface="Segoe Sans Text" pitchFamily="2" charset="0"/>
              </a:rPr>
              <a:t>Lakehouses</a:t>
            </a:r>
            <a:r>
              <a:rPr lang="en-US" sz="1200">
                <a:solidFill>
                  <a:srgbClr val="FFFFFF"/>
                </a:solidFill>
                <a:cs typeface="Segoe Sans Text" pitchFamily="2" charset="0"/>
              </a:rPr>
              <a:t> with shortcuts to data in the Lake</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Query across Warehouse and Lakehouse SQL Endpoint with zero data movement</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Build queries visually using the Visual Query Editor</a:t>
            </a:r>
          </a:p>
          <a:p>
            <a:pPr marL="285750" indent="-285750" defTabSz="914367">
              <a:spcAft>
                <a:spcPts val="600"/>
              </a:spcAft>
              <a:buFont typeface="Arial" panose="020B0604020202020204" pitchFamily="34" charset="0"/>
              <a:buChar char="•"/>
              <a:defRPr/>
            </a:pPr>
            <a:endParaRPr lang="en-US" sz="1200">
              <a:solidFill>
                <a:srgbClr val="FFFEFB"/>
              </a:solidFill>
              <a:latin typeface="Segoe Sans Text" pitchFamily="2" charset="0"/>
              <a:cs typeface="Segoe Sans Text" pitchFamily="2" charset="0"/>
            </a:endParaRPr>
          </a:p>
        </p:txBody>
      </p:sp>
      <p:pic>
        <p:nvPicPr>
          <p:cNvPr id="14" name="Picture 4" descr="A screen capture of data warehouse">
            <a:extLst>
              <a:ext uri="{FF2B5EF4-FFF2-40B4-BE49-F238E27FC236}">
                <a16:creationId xmlns:a16="http://schemas.microsoft.com/office/drawing/2014/main" id="{DCD9E959-0D30-1847-4C0E-4F0806A1DFF9}"/>
              </a:ext>
            </a:extLst>
          </p:cNvPr>
          <p:cNvPicPr>
            <a:picLocks noChangeAspect="1" noChangeArrowheads="1"/>
          </p:cNvPicPr>
          <p:nvPr/>
        </p:nvPicPr>
        <p:blipFill rotWithShape="1">
          <a:blip r:embed="rId3" cstate="screen">
            <a:extLst>
              <a:ext uri="{28A0092B-C50C-407E-A947-70E740481C1C}">
                <a14:useLocalDpi xmlns:a14="http://schemas.microsoft.com/office/drawing/2010/main" val="0"/>
              </a:ext>
            </a:extLst>
          </a:blip>
          <a:srcRect r="-6708"/>
          <a:stretch/>
        </p:blipFill>
        <p:spPr bwMode="auto">
          <a:xfrm>
            <a:off x="5158766" y="1663843"/>
            <a:ext cx="6237870" cy="3567391"/>
          </a:xfrm>
          <a:prstGeom prst="roundRect">
            <a:avLst>
              <a:gd name="adj" fmla="val 1914"/>
            </a:avLst>
          </a:prstGeom>
          <a:solidFill>
            <a:srgbClr val="FFFFFF"/>
          </a:solidFill>
        </p:spPr>
      </p:pic>
      <p:sp>
        <p:nvSpPr>
          <p:cNvPr id="42" name="Slide Number Placeholder 41">
            <a:extLst>
              <a:ext uri="{FF2B5EF4-FFF2-40B4-BE49-F238E27FC236}">
                <a16:creationId xmlns:a16="http://schemas.microsoft.com/office/drawing/2014/main" id="{E1CC6068-8AE2-3E35-4B4D-E83931DD0F85}"/>
              </a:ext>
            </a:extLst>
          </p:cNvPr>
          <p:cNvSpPr>
            <a:spLocks noGrp="1"/>
          </p:cNvSpPr>
          <p:nvPr>
            <p:ph type="sldNum" sz="quarter" idx="11"/>
          </p:nvPr>
        </p:nvSpPr>
        <p:spPr/>
        <p:txBody>
          <a:bodyPr/>
          <a:lstStyle/>
          <a:p>
            <a:fld id="{B1356FBF-028C-F74E-A7B4-9B8ED246DD1B}" type="slidenum">
              <a:rPr lang="en-US" smtClean="0">
                <a:solidFill>
                  <a:srgbClr val="FFFDF9"/>
                </a:solidFill>
              </a:rPr>
              <a:pPr/>
              <a:t>11</a:t>
            </a:fld>
            <a:endParaRPr lang="en-US">
              <a:solidFill>
                <a:srgbClr val="FFFDF9"/>
              </a:solidFill>
            </a:endParaRPr>
          </a:p>
        </p:txBody>
      </p:sp>
      <p:sp>
        <p:nvSpPr>
          <p:cNvPr id="41" name="Footer Placeholder 40">
            <a:extLst>
              <a:ext uri="{FF2B5EF4-FFF2-40B4-BE49-F238E27FC236}">
                <a16:creationId xmlns:a16="http://schemas.microsoft.com/office/drawing/2014/main" id="{2913688C-4F09-6596-E397-221755C42902}"/>
              </a:ext>
            </a:extLst>
          </p:cNvPr>
          <p:cNvSpPr>
            <a:spLocks noGrp="1"/>
          </p:cNvSpPr>
          <p:nvPr>
            <p:ph type="ftr" sz="quarter" idx="10"/>
          </p:nvPr>
        </p:nvSpPr>
        <p:spPr/>
        <p:txBody>
          <a:bodyPr/>
          <a:lstStyle/>
          <a:p>
            <a:r>
              <a:rPr lang="en-US">
                <a:solidFill>
                  <a:srgbClr val="FFFDF9"/>
                </a:solidFill>
              </a:rPr>
              <a:t>Microsoft Fabric</a:t>
            </a:r>
          </a:p>
        </p:txBody>
      </p:sp>
    </p:spTree>
    <p:extLst>
      <p:ext uri="{BB962C8B-B14F-4D97-AF65-F5344CB8AC3E}">
        <p14:creationId xmlns:p14="http://schemas.microsoft.com/office/powerpoint/2010/main" val="48140075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BC25A-50C5-F6AA-2702-9D1B59AA5A3E}"/>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AA7C77B9-40DF-D6C8-6BCB-F4A20594B602}"/>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itle 24">
            <a:extLst>
              <a:ext uri="{FF2B5EF4-FFF2-40B4-BE49-F238E27FC236}">
                <a16:creationId xmlns:a16="http://schemas.microsoft.com/office/drawing/2014/main" id="{0D619D6C-F168-02FE-2880-0431F6B7509B}"/>
              </a:ext>
            </a:extLst>
          </p:cNvPr>
          <p:cNvSpPr>
            <a:spLocks noGrp="1"/>
          </p:cNvSpPr>
          <p:nvPr>
            <p:ph type="title"/>
          </p:nvPr>
        </p:nvSpPr>
        <p:spPr>
          <a:xfrm>
            <a:off x="581025" y="365125"/>
            <a:ext cx="11029950" cy="549275"/>
          </a:xfrm>
        </p:spPr>
        <p:txBody>
          <a:bodyPr anchor="t"/>
          <a:lstStyle/>
          <a:p>
            <a:r>
              <a:rPr lang="en-US">
                <a:solidFill>
                  <a:srgbClr val="FFFDF9"/>
                </a:solidFill>
              </a:rPr>
              <a:t>Fully integrated Power</a:t>
            </a:r>
            <a:br>
              <a:rPr lang="en-US">
                <a:solidFill>
                  <a:srgbClr val="FFFDF9"/>
                </a:solidFill>
              </a:rPr>
            </a:br>
            <a:r>
              <a:rPr lang="en-US">
                <a:solidFill>
                  <a:srgbClr val="FFFDF9"/>
                </a:solidFill>
              </a:rPr>
              <a:t>BI semantic layer</a:t>
            </a:r>
          </a:p>
        </p:txBody>
      </p:sp>
      <p:sp>
        <p:nvSpPr>
          <p:cNvPr id="2" name="Rectangle: Rounded Corners 19">
            <a:extLst>
              <a:ext uri="{FF2B5EF4-FFF2-40B4-BE49-F238E27FC236}">
                <a16:creationId xmlns:a16="http://schemas.microsoft.com/office/drawing/2014/main" id="{D44D6A25-03BA-D375-640C-5E9BF27A3F8E}"/>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Graphic 51">
            <a:extLst>
              <a:ext uri="{FF2B5EF4-FFF2-40B4-BE49-F238E27FC236}">
                <a16:creationId xmlns:a16="http://schemas.microsoft.com/office/drawing/2014/main" id="{66108EB9-97EC-F3FD-3AAD-A7A8DE5BFD1F}"/>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endParaRPr lang="en-IN"/>
          </a:p>
        </p:txBody>
      </p:sp>
      <p:sp>
        <p:nvSpPr>
          <p:cNvPr id="12" name="Rectangle: Rounded Corners 8">
            <a:extLst>
              <a:ext uri="{FF2B5EF4-FFF2-40B4-BE49-F238E27FC236}">
                <a16:creationId xmlns:a16="http://schemas.microsoft.com/office/drawing/2014/main" id="{8539721A-677F-923A-3AB9-24CDA5793E06}"/>
              </a:ext>
              <a:ext uri="{C183D7F6-B498-43B3-948B-1728B52AA6E4}">
                <adec:decorative xmlns:adec="http://schemas.microsoft.com/office/drawing/2017/decorative" val="1"/>
              </a:ext>
            </a:extLst>
          </p:cNvPr>
          <p:cNvSpPr>
            <a:spLocks/>
          </p:cNvSpPr>
          <p:nvPr/>
        </p:nvSpPr>
        <p:spPr>
          <a:xfrm>
            <a:off x="4930635" y="1435713"/>
            <a:ext cx="6694130" cy="4023651"/>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14" name="Picture 13" descr="Data warehouse logo">
            <a:extLst>
              <a:ext uri="{FF2B5EF4-FFF2-40B4-BE49-F238E27FC236}">
                <a16:creationId xmlns:a16="http://schemas.microsoft.com/office/drawing/2014/main" id="{46552322-73E0-477A-56F6-86E0BA6BB8DB}"/>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617785" y="131716"/>
            <a:ext cx="410912" cy="411714"/>
          </a:xfrm>
          <a:prstGeom prst="rect">
            <a:avLst/>
          </a:prstGeom>
          <a:noFill/>
        </p:spPr>
      </p:pic>
      <p:sp>
        <p:nvSpPr>
          <p:cNvPr id="19" name="TextBox 18">
            <a:extLst>
              <a:ext uri="{FF2B5EF4-FFF2-40B4-BE49-F238E27FC236}">
                <a16:creationId xmlns:a16="http://schemas.microsoft.com/office/drawing/2014/main" id="{F95A3217-2A5D-5D86-5F98-10BD54F37284}"/>
              </a:ext>
            </a:extLst>
          </p:cNvPr>
          <p:cNvSpPr txBox="1"/>
          <p:nvPr/>
        </p:nvSpPr>
        <p:spPr>
          <a:xfrm>
            <a:off x="581025" y="1483666"/>
            <a:ext cx="3472915" cy="1015663"/>
          </a:xfrm>
          <a:prstGeom prst="rect">
            <a:avLst/>
          </a:prstGeom>
          <a:noFill/>
        </p:spPr>
        <p:txBody>
          <a:bodyPr wrap="square" lIns="0" tIns="0" rIns="0" bIns="0">
            <a:spAutoFit/>
          </a:bodyPr>
          <a:lstStyle/>
          <a:p>
            <a:pPr marR="0" lvl="0" defTabSz="914367" fontAlgn="auto">
              <a:lnSpc>
                <a:spcPct val="100000"/>
              </a:lnSpc>
              <a:spcBef>
                <a:spcPts val="0"/>
              </a:spcBef>
              <a:spcAft>
                <a:spcPts val="1200"/>
              </a:spcAft>
              <a:buClrTx/>
              <a:buSzTx/>
              <a:buFontTx/>
              <a:buNone/>
              <a:tabLst/>
              <a:defRPr/>
            </a:pPr>
            <a:r>
              <a:rPr lang="en-US" sz="1400">
                <a:solidFill>
                  <a:srgbClr val="FFFFFF"/>
                </a:solidFill>
                <a:cs typeface="Segoe Sans Text" pitchFamily="2" charset="0"/>
              </a:rPr>
              <a:t>Reduce integration and gain insight from your data in seconds</a:t>
            </a:r>
          </a:p>
          <a:p>
            <a:pPr marR="0" lvl="0" defTabSz="914367" fontAlgn="auto">
              <a:lnSpc>
                <a:spcPct val="100000"/>
              </a:lnSpc>
              <a:spcBef>
                <a:spcPts val="0"/>
              </a:spcBef>
              <a:spcAft>
                <a:spcPts val="1200"/>
              </a:spcAft>
              <a:buClrTx/>
              <a:buSzTx/>
              <a:buFontTx/>
              <a:buNone/>
              <a:tabLst/>
              <a:defRPr/>
            </a:pPr>
            <a:r>
              <a:rPr lang="en-US" sz="1400">
                <a:solidFill>
                  <a:srgbClr val="FFFFFF"/>
                </a:solidFill>
                <a:cs typeface="Segoe Sans Text" pitchFamily="2" charset="0"/>
              </a:rPr>
              <a:t>Built-in Power BI enables everyone to visualize their data in seconds.</a:t>
            </a:r>
          </a:p>
        </p:txBody>
      </p:sp>
      <p:cxnSp>
        <p:nvCxnSpPr>
          <p:cNvPr id="13" name="Straight Connector 12">
            <a:extLst>
              <a:ext uri="{FF2B5EF4-FFF2-40B4-BE49-F238E27FC236}">
                <a16:creationId xmlns:a16="http://schemas.microsoft.com/office/drawing/2014/main" id="{5A63FAEB-9FFE-70B0-388C-627AF264E001}"/>
              </a:ext>
              <a:ext uri="{C183D7F6-B498-43B3-948B-1728B52AA6E4}">
                <adec:decorative xmlns:adec="http://schemas.microsoft.com/office/drawing/2017/decorative" val="1"/>
              </a:ext>
            </a:extLst>
          </p:cNvPr>
          <p:cNvCxnSpPr>
            <a:cxnSpLocks/>
          </p:cNvCxnSpPr>
          <p:nvPr/>
        </p:nvCxnSpPr>
        <p:spPr>
          <a:xfrm>
            <a:off x="581025" y="2684915"/>
            <a:ext cx="3472915" cy="0"/>
          </a:xfrm>
          <a:prstGeom prst="line">
            <a:avLst/>
          </a:prstGeom>
          <a:ln w="12700">
            <a:solidFill>
              <a:srgbClr val="FFFEF9"/>
            </a:solidFill>
          </a:ln>
        </p:spPr>
        <p:style>
          <a:lnRef idx="1">
            <a:schemeClr val="accent1"/>
          </a:lnRef>
          <a:fillRef idx="0">
            <a:schemeClr val="accent1"/>
          </a:fillRef>
          <a:effectRef idx="0">
            <a:schemeClr val="accent1"/>
          </a:effectRef>
          <a:fontRef idx="minor">
            <a:schemeClr val="tx1"/>
          </a:fontRef>
        </p:style>
      </p:cxnSp>
      <p:sp>
        <p:nvSpPr>
          <p:cNvPr id="18" name="TextBox 17" descr="Screenshot of Auto-generated semantic models ">
            <a:extLst>
              <a:ext uri="{FF2B5EF4-FFF2-40B4-BE49-F238E27FC236}">
                <a16:creationId xmlns:a16="http://schemas.microsoft.com/office/drawing/2014/main" id="{4CB1185B-34FF-66D1-50F0-BE7A9ACF8490}"/>
              </a:ext>
            </a:extLst>
          </p:cNvPr>
          <p:cNvSpPr txBox="1"/>
          <p:nvPr/>
        </p:nvSpPr>
        <p:spPr>
          <a:xfrm>
            <a:off x="581025" y="2870501"/>
            <a:ext cx="3472914" cy="1788182"/>
          </a:xfrm>
          <a:prstGeom prst="rect">
            <a:avLst/>
          </a:prstGeom>
          <a:noFill/>
        </p:spPr>
        <p:txBody>
          <a:bodyPr wrap="square" lIns="0" tIns="0" rIns="0" bIns="0" rtlCol="0" anchor="t">
            <a:spAutoFit/>
          </a:bodyPr>
          <a:lstStyle/>
          <a:p>
            <a:pPr marR="0" lvl="0" defTabSz="914367" fontAlgn="auto">
              <a:lnSpc>
                <a:spcPct val="105000"/>
              </a:lnSpc>
              <a:spcBef>
                <a:spcPts val="0"/>
              </a:spcBef>
              <a:spcAft>
                <a:spcPts val="300"/>
              </a:spcAft>
              <a:buClrTx/>
              <a:buSzTx/>
              <a:buFontTx/>
              <a:buNone/>
              <a:tabLst/>
              <a:defRPr/>
            </a:pPr>
            <a:r>
              <a:rPr lang="en-US" sz="1400" i="1">
                <a:solidFill>
                  <a:srgbClr val="FFFFFF"/>
                </a:solidFill>
                <a:latin typeface="Segoe Sans Display Semibold" pitchFamily="2" charset="0"/>
                <a:cs typeface="Segoe Sans Display Semibold" pitchFamily="2" charset="0"/>
              </a:rPr>
              <a:t>Key Capabilities:</a:t>
            </a:r>
          </a:p>
          <a:p>
            <a:pPr marL="285750" marR="0" lvl="0" indent="-184150" defTabSz="914367" fontAlgn="auto">
              <a:lnSpc>
                <a:spcPct val="100000"/>
              </a:lnSpc>
              <a:spcBef>
                <a:spcPts val="0"/>
              </a:spcBef>
              <a:spcAft>
                <a:spcPts val="600"/>
              </a:spcAft>
              <a:buClrTx/>
              <a:buSzTx/>
              <a:buFont typeface="Arial" panose="020B0604020202020204" pitchFamily="34" charset="0"/>
              <a:buChar char="•"/>
              <a:tabLst/>
              <a:defRPr/>
            </a:pPr>
            <a:r>
              <a:rPr lang="en-US" sz="1200">
                <a:solidFill>
                  <a:srgbClr val="FFFFFF"/>
                </a:solidFill>
                <a:cs typeface="Segoe Sans Text" pitchFamily="2" charset="0"/>
              </a:rPr>
              <a:t>Auto-generated semantic models always in sync</a:t>
            </a:r>
          </a:p>
          <a:p>
            <a:pPr marL="285750" marR="0" lvl="0" indent="-184150" defTabSz="914367" fontAlgn="auto">
              <a:lnSpc>
                <a:spcPct val="100000"/>
              </a:lnSpc>
              <a:spcBef>
                <a:spcPts val="0"/>
              </a:spcBef>
              <a:spcAft>
                <a:spcPts val="600"/>
              </a:spcAft>
              <a:buClrTx/>
              <a:buSzTx/>
              <a:buFont typeface="Arial" panose="020B0604020202020204" pitchFamily="34" charset="0"/>
              <a:buChar char="•"/>
              <a:tabLst/>
              <a:defRPr/>
            </a:pPr>
            <a:r>
              <a:rPr lang="en-US" sz="1200">
                <a:solidFill>
                  <a:srgbClr val="FFFFFF"/>
                </a:solidFill>
                <a:cs typeface="Segoe Sans Text" pitchFamily="2" charset="0"/>
              </a:rPr>
              <a:t>Default dataset in Direct Lake mode but automatically switches to Direct Query or Import mode as security or performance needs change</a:t>
            </a:r>
          </a:p>
          <a:p>
            <a:pPr marL="285750" marR="0" lvl="0" indent="-184150" defTabSz="914367" fontAlgn="auto">
              <a:lnSpc>
                <a:spcPct val="100000"/>
              </a:lnSpc>
              <a:spcBef>
                <a:spcPts val="0"/>
              </a:spcBef>
              <a:spcAft>
                <a:spcPts val="600"/>
              </a:spcAft>
              <a:buClrTx/>
              <a:buSzTx/>
              <a:buFont typeface="Arial" panose="020B0604020202020204" pitchFamily="34" charset="0"/>
              <a:buChar char="•"/>
              <a:tabLst/>
              <a:defRPr/>
            </a:pPr>
            <a:r>
              <a:rPr lang="en-US" sz="1200">
                <a:solidFill>
                  <a:srgbClr val="FFFFFF"/>
                </a:solidFill>
                <a:cs typeface="Segoe Sans Text" pitchFamily="2" charset="0"/>
              </a:rPr>
              <a:t>Flexibility to add/remove tables to dataset</a:t>
            </a:r>
          </a:p>
          <a:p>
            <a:pPr marL="285750" marR="0" lvl="0" indent="-184150" defTabSz="914367" fontAlgn="auto">
              <a:lnSpc>
                <a:spcPct val="100000"/>
              </a:lnSpc>
              <a:spcBef>
                <a:spcPts val="0"/>
              </a:spcBef>
              <a:spcAft>
                <a:spcPts val="600"/>
              </a:spcAft>
              <a:buClrTx/>
              <a:buSzTx/>
              <a:buFont typeface="Arial" panose="020B0604020202020204" pitchFamily="34" charset="0"/>
              <a:buChar char="•"/>
              <a:tabLst/>
              <a:defRPr/>
            </a:pPr>
            <a:r>
              <a:rPr lang="en-US" sz="1200">
                <a:solidFill>
                  <a:srgbClr val="FFFFFF"/>
                </a:solidFill>
                <a:cs typeface="Segoe Sans Text" pitchFamily="2" charset="0"/>
              </a:rPr>
              <a:t>Full web authoring experience for creating measures</a:t>
            </a:r>
          </a:p>
        </p:txBody>
      </p:sp>
      <p:pic>
        <p:nvPicPr>
          <p:cNvPr id="17" name="Picture 2" descr="A screen capture of data warehouse">
            <a:extLst>
              <a:ext uri="{FF2B5EF4-FFF2-40B4-BE49-F238E27FC236}">
                <a16:creationId xmlns:a16="http://schemas.microsoft.com/office/drawing/2014/main" id="{1D3A26FF-68B5-084C-8F8F-DF9649179AAC}"/>
              </a:ext>
            </a:extLst>
          </p:cNvPr>
          <p:cNvPicPr>
            <a:picLocks noChangeAspect="1" noChangeArrowheads="1"/>
          </p:cNvPicPr>
          <p:nvPr/>
        </p:nvPicPr>
        <p:blipFill rotWithShape="1">
          <a:blip r:embed="rId3" cstate="screen">
            <a:extLst>
              <a:ext uri="{28A0092B-C50C-407E-A947-70E740481C1C}">
                <a14:useLocalDpi xmlns:a14="http://schemas.microsoft.com/office/drawing/2010/main" val="0"/>
              </a:ext>
            </a:extLst>
          </a:blip>
          <a:srcRect r="-8627"/>
          <a:stretch/>
        </p:blipFill>
        <p:spPr bwMode="auto">
          <a:xfrm>
            <a:off x="5121135" y="1647825"/>
            <a:ext cx="6425172" cy="3674508"/>
          </a:xfrm>
          <a:prstGeom prst="roundRect">
            <a:avLst>
              <a:gd name="adj" fmla="val 1914"/>
            </a:avLst>
          </a:prstGeom>
          <a:solidFill>
            <a:srgbClr val="FFFFFF"/>
          </a:solidFill>
        </p:spPr>
      </p:pic>
      <p:sp>
        <p:nvSpPr>
          <p:cNvPr id="10" name="Slide Number Placeholder 5">
            <a:extLst>
              <a:ext uri="{FF2B5EF4-FFF2-40B4-BE49-F238E27FC236}">
                <a16:creationId xmlns:a16="http://schemas.microsoft.com/office/drawing/2014/main" id="{2B3BB2F9-DA11-492E-6D29-DF67495861F4}"/>
              </a:ext>
            </a:extLst>
          </p:cNvPr>
          <p:cNvSpPr>
            <a:spLocks noGrp="1"/>
          </p:cNvSpPr>
          <p:nvPr>
            <p:ph type="sldNum" sz="quarter" idx="11"/>
          </p:nvPr>
        </p:nvSpPr>
        <p:spPr>
          <a:xfrm>
            <a:off x="612571" y="6309519"/>
            <a:ext cx="399288" cy="365125"/>
          </a:xfrm>
        </p:spPr>
        <p:txBody>
          <a:bodyPr/>
          <a:lstStyle/>
          <a:p>
            <a:fld id="{B1356FBF-028C-F74E-A7B4-9B8ED246DD1B}" type="slidenum">
              <a:rPr lang="en-US" smtClean="0">
                <a:solidFill>
                  <a:srgbClr val="FFFDF9"/>
                </a:solidFill>
              </a:rPr>
              <a:pPr/>
              <a:t>12</a:t>
            </a:fld>
            <a:endParaRPr lang="en-US">
              <a:solidFill>
                <a:srgbClr val="FFFDF9"/>
              </a:solidFill>
            </a:endParaRPr>
          </a:p>
        </p:txBody>
      </p:sp>
      <p:sp>
        <p:nvSpPr>
          <p:cNvPr id="9" name="Footer Placeholder 4">
            <a:extLst>
              <a:ext uri="{FF2B5EF4-FFF2-40B4-BE49-F238E27FC236}">
                <a16:creationId xmlns:a16="http://schemas.microsoft.com/office/drawing/2014/main" id="{760B13C6-96A5-8BA1-C10A-0B2ACA098EC6}"/>
              </a:ext>
            </a:extLst>
          </p:cNvPr>
          <p:cNvSpPr>
            <a:spLocks noGrp="1"/>
          </p:cNvSpPr>
          <p:nvPr>
            <p:ph type="ftr" sz="quarter" idx="10"/>
          </p:nvPr>
        </p:nvSpPr>
        <p:spPr>
          <a:xfrm>
            <a:off x="1011859" y="6309519"/>
            <a:ext cx="2078736" cy="365125"/>
          </a:xfrm>
        </p:spPr>
        <p:txBody>
          <a:bodyPr/>
          <a:lstStyle/>
          <a:p>
            <a:r>
              <a:rPr lang="en-US">
                <a:solidFill>
                  <a:srgbClr val="FFFDF9"/>
                </a:solidFill>
              </a:rPr>
              <a:t>Microsoft Fabric</a:t>
            </a:r>
          </a:p>
        </p:txBody>
      </p:sp>
    </p:spTree>
    <p:extLst>
      <p:ext uri="{BB962C8B-B14F-4D97-AF65-F5344CB8AC3E}">
        <p14:creationId xmlns:p14="http://schemas.microsoft.com/office/powerpoint/2010/main" val="231449067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itle 73">
            <a:extLst>
              <a:ext uri="{FF2B5EF4-FFF2-40B4-BE49-F238E27FC236}">
                <a16:creationId xmlns:a16="http://schemas.microsoft.com/office/drawing/2014/main" id="{AF2BC0C9-F2C7-84C9-EAE7-7184D1FB8CA4}"/>
              </a:ext>
            </a:extLst>
          </p:cNvPr>
          <p:cNvSpPr>
            <a:spLocks noGrp="1"/>
          </p:cNvSpPr>
          <p:nvPr>
            <p:ph type="title"/>
          </p:nvPr>
        </p:nvSpPr>
        <p:spPr>
          <a:xfrm>
            <a:off x="581025" y="365125"/>
            <a:ext cx="11029949" cy="549275"/>
          </a:xfrm>
        </p:spPr>
        <p:txBody>
          <a:bodyPr/>
          <a:lstStyle/>
          <a:p>
            <a:r>
              <a:rPr lang="en-US" noProof="0"/>
              <a:t>No Knobs Performance at scale with open data format</a:t>
            </a:r>
            <a:endParaRPr lang="en-US"/>
          </a:p>
        </p:txBody>
      </p:sp>
      <p:sp>
        <p:nvSpPr>
          <p:cNvPr id="64" name="Rounded Rectangle 45">
            <a:extLst>
              <a:ext uri="{FF2B5EF4-FFF2-40B4-BE49-F238E27FC236}">
                <a16:creationId xmlns:a16="http://schemas.microsoft.com/office/drawing/2014/main" id="{A8804AE7-CF71-CF1D-2DE4-45EA85030382}"/>
              </a:ext>
              <a:ext uri="{C183D7F6-B498-43B3-948B-1728B52AA6E4}">
                <adec:decorative xmlns:adec="http://schemas.microsoft.com/office/drawing/2017/decorative" val="1"/>
              </a:ext>
            </a:extLst>
          </p:cNvPr>
          <p:cNvSpPr/>
          <p:nvPr/>
        </p:nvSpPr>
        <p:spPr bwMode="auto">
          <a:xfrm>
            <a:off x="746526" y="3393205"/>
            <a:ext cx="10865778" cy="2633786"/>
          </a:xfrm>
          <a:prstGeom prst="roundRect">
            <a:avLst>
              <a:gd name="adj" fmla="val 3641"/>
            </a:avLst>
          </a:prstGeom>
          <a:solidFill>
            <a:srgbClr val="FFFFFF"/>
          </a:solidFill>
          <a:ln w="9525" cap="flat" cmpd="sng" algn="ctr">
            <a:noFill/>
            <a:prstDash val="solid"/>
            <a:headEnd type="none" w="med" len="med"/>
            <a:tailEnd type="none" w="med" len="med"/>
          </a:ln>
          <a:effectLst>
            <a:outerShdw blurRad="288696" dist="38100" dir="2700000" algn="tl" rotWithShape="0">
              <a:prstClr val="black">
                <a:alpha val="19774"/>
              </a:prstClr>
            </a:outerShdw>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algn="ctr" defTabSz="913927" fontAlgn="base">
              <a:lnSpc>
                <a:spcPct val="90000"/>
              </a:lnSpc>
              <a:spcBef>
                <a:spcPct val="0"/>
              </a:spcBef>
              <a:spcAft>
                <a:spcPct val="0"/>
              </a:spcAft>
              <a:defRPr/>
            </a:pPr>
            <a:endParaRPr lang="en-US" sz="2353" b="1" kern="0" err="1">
              <a:gradFill>
                <a:gsLst>
                  <a:gs pos="0">
                    <a:srgbClr val="FFFFFF"/>
                  </a:gs>
                  <a:gs pos="100000">
                    <a:srgbClr val="FFFFFF"/>
                  </a:gs>
                </a:gsLst>
                <a:lin ang="5400000" scaled="0"/>
              </a:gradFill>
              <a:latin typeface="Segoe Sans Display" pitchFamily="2" charset="0"/>
              <a:cs typeface="Segoe Sans Display" pitchFamily="2" charset="0"/>
            </a:endParaRPr>
          </a:p>
        </p:txBody>
      </p:sp>
      <p:pic>
        <p:nvPicPr>
          <p:cNvPr id="3" name="Picture 2" descr="Data warehouse logo">
            <a:extLst>
              <a:ext uri="{FF2B5EF4-FFF2-40B4-BE49-F238E27FC236}">
                <a16:creationId xmlns:a16="http://schemas.microsoft.com/office/drawing/2014/main" id="{2101D745-F6A3-FECC-31EC-620A97588C25}"/>
              </a:ext>
            </a:extLst>
          </p:cNvPr>
          <p:cNvPicPr>
            <a:picLocks noChangeAspect="1"/>
          </p:cNvPicPr>
          <p:nvPr/>
        </p:nvPicPr>
        <p:blipFill>
          <a:blip r:embed="rId3" cstate="screen">
            <a:extLst>
              <a:ext uri="{28A0092B-C50C-407E-A947-70E740481C1C}">
                <a14:useLocalDpi xmlns:a14="http://schemas.microsoft.com/office/drawing/2010/main" val="0"/>
              </a:ext>
            </a:extLst>
          </a:blip>
          <a:stretch/>
        </p:blipFill>
        <p:spPr>
          <a:xfrm>
            <a:off x="11617785" y="131716"/>
            <a:ext cx="410912" cy="411714"/>
          </a:xfrm>
          <a:prstGeom prst="rect">
            <a:avLst/>
          </a:prstGeom>
          <a:noFill/>
        </p:spPr>
      </p:pic>
      <p:grpSp>
        <p:nvGrpSpPr>
          <p:cNvPr id="27" name="Group 26" descr="Visual of a formula that describes the following: performance at scale equals (single node performance) open parenthesis query optimizer efficiency by query processor throughput close parenthesis, by multi node distribution">
            <a:extLst>
              <a:ext uri="{FF2B5EF4-FFF2-40B4-BE49-F238E27FC236}">
                <a16:creationId xmlns:a16="http://schemas.microsoft.com/office/drawing/2014/main" id="{FA3C47AA-3805-ECC8-9AE4-4600BA001D42}"/>
              </a:ext>
            </a:extLst>
          </p:cNvPr>
          <p:cNvGrpSpPr/>
          <p:nvPr/>
        </p:nvGrpSpPr>
        <p:grpSpPr>
          <a:xfrm>
            <a:off x="936627" y="1262682"/>
            <a:ext cx="10318747" cy="1634342"/>
            <a:chOff x="936627" y="1516682"/>
            <a:chExt cx="10318747" cy="1634342"/>
          </a:xfrm>
        </p:grpSpPr>
        <p:sp>
          <p:nvSpPr>
            <p:cNvPr id="30" name="Rounded Rectangle 11">
              <a:extLst>
                <a:ext uri="{FF2B5EF4-FFF2-40B4-BE49-F238E27FC236}">
                  <a16:creationId xmlns:a16="http://schemas.microsoft.com/office/drawing/2014/main" id="{F8460646-1D37-06F7-2B0C-A0B079AE2F81}"/>
                </a:ext>
              </a:extLst>
            </p:cNvPr>
            <p:cNvSpPr>
              <a:spLocks/>
            </p:cNvSpPr>
            <p:nvPr/>
          </p:nvSpPr>
          <p:spPr>
            <a:xfrm>
              <a:off x="8620660" y="1939074"/>
              <a:ext cx="2634714" cy="1211950"/>
            </a:xfrm>
            <a:prstGeom prst="roundRect">
              <a:avLst>
                <a:gd name="adj" fmla="val 3500"/>
              </a:avLst>
            </a:prstGeom>
            <a:gradFill flip="none" rotWithShape="1">
              <a:gsLst>
                <a:gs pos="0">
                  <a:srgbClr val="0C6959"/>
                </a:gs>
                <a:gs pos="100000">
                  <a:srgbClr val="1F937E"/>
                </a:gs>
              </a:gsLst>
              <a:lin ang="2700000" scaled="1"/>
              <a:tileRect/>
            </a:gradFill>
            <a:ln w="9525" cap="flat" cmpd="sng" algn="ctr">
              <a:noFill/>
              <a:prstDash val="solid"/>
              <a:headEnd type="none" w="med" len="med"/>
              <a:tailEnd type="none" w="med" len="med"/>
            </a:ln>
            <a:effectLst>
              <a:outerShdw blurRad="288696" dist="38100" dir="2700000" algn="tl" rotWithShape="0">
                <a:prstClr val="black">
                  <a:alpha val="19774"/>
                </a:prstClr>
              </a:outerShdw>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algn="ctr" defTabSz="932472" fontAlgn="base">
                <a:spcBef>
                  <a:spcPct val="0"/>
                </a:spcBef>
                <a:spcAft>
                  <a:spcPct val="0"/>
                </a:spcAft>
                <a:defRPr/>
              </a:pPr>
              <a:r>
                <a:rPr lang="en-US" kern="0">
                  <a:solidFill>
                    <a:srgbClr val="FFFFFF"/>
                  </a:solidFill>
                  <a:latin typeface="Segoe Sans Display Semibold" pitchFamily="2" charset="0"/>
                  <a:cs typeface="Segoe Sans Display Semibold" pitchFamily="2" charset="0"/>
                </a:rPr>
                <a:t>Multi node </a:t>
              </a:r>
              <a:br>
                <a:rPr lang="en-US" kern="0">
                  <a:solidFill>
                    <a:srgbClr val="FFFFFF"/>
                  </a:solidFill>
                  <a:latin typeface="Segoe Sans Display Semibold" pitchFamily="2" charset="0"/>
                  <a:cs typeface="Segoe Sans Display Semibold" pitchFamily="2" charset="0"/>
                </a:rPr>
              </a:br>
              <a:r>
                <a:rPr lang="en-US" kern="0">
                  <a:solidFill>
                    <a:srgbClr val="FFFFFF"/>
                  </a:solidFill>
                  <a:latin typeface="Segoe Sans Display Semibold" pitchFamily="2" charset="0"/>
                  <a:cs typeface="Segoe Sans Display Semibold" pitchFamily="2" charset="0"/>
                </a:rPr>
                <a:t>distribution</a:t>
              </a:r>
            </a:p>
          </p:txBody>
        </p:sp>
        <p:sp>
          <p:nvSpPr>
            <p:cNvPr id="31" name="Rounded Rectangle 11">
              <a:extLst>
                <a:ext uri="{FF2B5EF4-FFF2-40B4-BE49-F238E27FC236}">
                  <a16:creationId xmlns:a16="http://schemas.microsoft.com/office/drawing/2014/main" id="{F014C392-E5C7-152A-737E-1C16FA79CFED}"/>
                </a:ext>
              </a:extLst>
            </p:cNvPr>
            <p:cNvSpPr/>
            <p:nvPr/>
          </p:nvSpPr>
          <p:spPr>
            <a:xfrm>
              <a:off x="936627" y="1939074"/>
              <a:ext cx="2718000" cy="1211950"/>
            </a:xfrm>
            <a:prstGeom prst="roundRect">
              <a:avLst>
                <a:gd name="adj" fmla="val 3500"/>
              </a:avLst>
            </a:prstGeom>
            <a:gradFill>
              <a:gsLst>
                <a:gs pos="100000">
                  <a:srgbClr val="3ABB9F"/>
                </a:gs>
                <a:gs pos="0">
                  <a:srgbClr val="2AAC93"/>
                </a:gs>
              </a:gsLst>
              <a:lin ang="2700000" scaled="0"/>
            </a:gradFill>
            <a:ln w="9525" cap="flat" cmpd="sng" algn="ctr">
              <a:noFill/>
              <a:prstDash val="solid"/>
              <a:headEnd type="none" w="med" len="med"/>
              <a:tailEnd type="none" w="med" len="med"/>
            </a:ln>
            <a:effectLst>
              <a:outerShdw blurRad="288696" dist="38100" dir="2700000" algn="tl" rotWithShape="0">
                <a:prstClr val="black">
                  <a:alpha val="19774"/>
                </a:prstClr>
              </a:outerShdw>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Segoe Sans Display Semibold" pitchFamily="2" charset="0"/>
                  <a:cs typeface="Segoe Sans Display Semibold" pitchFamily="2" charset="0"/>
                </a:rPr>
                <a:t>Performance </a:t>
              </a:r>
              <a:br>
                <a:rPr kumimoji="0" lang="en-US" sz="1800" b="0" i="0" u="none" strike="noStrike" kern="0" cap="none" spc="0" normalizeH="0" baseline="0" noProof="0">
                  <a:ln>
                    <a:noFill/>
                  </a:ln>
                  <a:solidFill>
                    <a:srgbClr val="FFFFFF"/>
                  </a:solidFill>
                  <a:effectLst/>
                  <a:uLnTx/>
                  <a:uFillTx/>
                  <a:latin typeface="Segoe Sans Display Semibold" pitchFamily="2" charset="0"/>
                  <a:cs typeface="Segoe Sans Display Semibold" pitchFamily="2" charset="0"/>
                </a:rPr>
              </a:br>
              <a:r>
                <a:rPr kumimoji="0" lang="en-US" sz="1800" b="0" i="0" u="none" strike="noStrike" kern="0" cap="none" spc="0" normalizeH="0" baseline="0" noProof="0">
                  <a:ln>
                    <a:noFill/>
                  </a:ln>
                  <a:solidFill>
                    <a:srgbClr val="FFFFFF"/>
                  </a:solidFill>
                  <a:effectLst/>
                  <a:uLnTx/>
                  <a:uFillTx/>
                  <a:latin typeface="Segoe Sans Display Semibold" pitchFamily="2" charset="0"/>
                  <a:cs typeface="Segoe Sans Display Semibold" pitchFamily="2" charset="0"/>
                </a:rPr>
                <a:t>at Scale</a:t>
              </a:r>
            </a:p>
          </p:txBody>
        </p:sp>
        <p:sp>
          <p:nvSpPr>
            <p:cNvPr id="32" name="Cross 31">
              <a:extLst>
                <a:ext uri="{FF2B5EF4-FFF2-40B4-BE49-F238E27FC236}">
                  <a16:creationId xmlns:a16="http://schemas.microsoft.com/office/drawing/2014/main" id="{B2F4F391-8817-06B1-ECEA-ACDF4672F8BC}"/>
                </a:ext>
              </a:extLst>
            </p:cNvPr>
            <p:cNvSpPr>
              <a:spLocks/>
            </p:cNvSpPr>
            <p:nvPr/>
          </p:nvSpPr>
          <p:spPr bwMode="auto">
            <a:xfrm rot="2700000">
              <a:off x="8154357" y="2379177"/>
              <a:ext cx="331744" cy="331744"/>
            </a:xfrm>
            <a:prstGeom prst="plus">
              <a:avLst>
                <a:gd name="adj" fmla="val 41981"/>
              </a:avLst>
            </a:prstGeom>
            <a:solidFill>
              <a:srgbClr val="001919"/>
            </a:solidFill>
            <a:ln w="9525" cap="flat" cmpd="sng" algn="ctr">
              <a:solidFill>
                <a:srgbClr val="FFFFFF"/>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1919"/>
                </a:solidFill>
                <a:effectLst/>
                <a:uLnTx/>
                <a:uFillTx/>
                <a:latin typeface="Segoe Sans Display" pitchFamily="2" charset="0"/>
                <a:ea typeface="Segoe UI" pitchFamily="34" charset="0"/>
                <a:cs typeface="Segoe Sans Display" pitchFamily="2" charset="0"/>
              </a:endParaRPr>
            </a:p>
          </p:txBody>
        </p:sp>
        <p:grpSp>
          <p:nvGrpSpPr>
            <p:cNvPr id="33" name="Group 32">
              <a:extLst>
                <a:ext uri="{FF2B5EF4-FFF2-40B4-BE49-F238E27FC236}">
                  <a16:creationId xmlns:a16="http://schemas.microsoft.com/office/drawing/2014/main" id="{5FE73BCB-19E1-A2C6-7D24-AAA1E43FDED0}"/>
                </a:ext>
              </a:extLst>
            </p:cNvPr>
            <p:cNvGrpSpPr>
              <a:grpSpLocks/>
            </p:cNvGrpSpPr>
            <p:nvPr/>
          </p:nvGrpSpPr>
          <p:grpSpPr>
            <a:xfrm>
              <a:off x="3780666" y="2456405"/>
              <a:ext cx="366574" cy="177289"/>
              <a:chOff x="3848606" y="2780640"/>
              <a:chExt cx="647983" cy="338328"/>
            </a:xfrm>
            <a:solidFill>
              <a:srgbClr val="001919"/>
            </a:solidFill>
          </p:grpSpPr>
          <p:sp>
            <p:nvSpPr>
              <p:cNvPr id="62" name="Rectangle 61">
                <a:extLst>
                  <a:ext uri="{FF2B5EF4-FFF2-40B4-BE49-F238E27FC236}">
                    <a16:creationId xmlns:a16="http://schemas.microsoft.com/office/drawing/2014/main" id="{7B9146BF-A045-7584-E419-25C10D3F2802}"/>
                  </a:ext>
                </a:extLst>
              </p:cNvPr>
              <p:cNvSpPr/>
              <p:nvPr/>
            </p:nvSpPr>
            <p:spPr bwMode="auto">
              <a:xfrm rot="10800000" flipV="1">
                <a:off x="3848606" y="2780640"/>
                <a:ext cx="647983" cy="109728"/>
              </a:xfrm>
              <a:prstGeom prst="rect">
                <a:avLst/>
              </a:prstGeom>
              <a:grpFill/>
              <a:ln w="9525" cap="flat" cmpd="sng" algn="ctr">
                <a:solidFill>
                  <a:srgbClr val="FFFFFF"/>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1919"/>
                  </a:solidFill>
                  <a:effectLst/>
                  <a:uLnTx/>
                  <a:uFillTx/>
                  <a:latin typeface="Segoe Sans Display" pitchFamily="2" charset="0"/>
                  <a:ea typeface="Segoe UI" pitchFamily="34" charset="0"/>
                  <a:cs typeface="Segoe Sans Display" pitchFamily="2" charset="0"/>
                </a:endParaRPr>
              </a:p>
            </p:txBody>
          </p:sp>
          <p:sp>
            <p:nvSpPr>
              <p:cNvPr id="63" name="Rectangle 62">
                <a:extLst>
                  <a:ext uri="{FF2B5EF4-FFF2-40B4-BE49-F238E27FC236}">
                    <a16:creationId xmlns:a16="http://schemas.microsoft.com/office/drawing/2014/main" id="{3F8A28DC-AE9A-04C8-8035-EF19E03491DC}"/>
                  </a:ext>
                </a:extLst>
              </p:cNvPr>
              <p:cNvSpPr/>
              <p:nvPr/>
            </p:nvSpPr>
            <p:spPr bwMode="auto">
              <a:xfrm rot="10800000" flipV="1">
                <a:off x="3848606" y="3009240"/>
                <a:ext cx="647983" cy="109728"/>
              </a:xfrm>
              <a:prstGeom prst="rect">
                <a:avLst/>
              </a:prstGeom>
              <a:grpFill/>
              <a:ln w="9525" cap="flat" cmpd="sng" algn="ctr">
                <a:solidFill>
                  <a:srgbClr val="FFFFFF"/>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1919"/>
                  </a:solidFill>
                  <a:effectLst/>
                  <a:uLnTx/>
                  <a:uFillTx/>
                  <a:latin typeface="Segoe Sans Display" pitchFamily="2" charset="0"/>
                  <a:ea typeface="Segoe UI" pitchFamily="34" charset="0"/>
                  <a:cs typeface="Segoe Sans Display" pitchFamily="2" charset="0"/>
                </a:endParaRPr>
              </a:p>
            </p:txBody>
          </p:sp>
        </p:grpSp>
        <p:sp>
          <p:nvSpPr>
            <p:cNvPr id="34" name="Rounded Rectangle 11">
              <a:extLst>
                <a:ext uri="{FF2B5EF4-FFF2-40B4-BE49-F238E27FC236}">
                  <a16:creationId xmlns:a16="http://schemas.microsoft.com/office/drawing/2014/main" id="{79CBE9DE-A43A-F8A0-DAEB-22EC0B6F5A26}"/>
                </a:ext>
              </a:extLst>
            </p:cNvPr>
            <p:cNvSpPr/>
            <p:nvPr/>
          </p:nvSpPr>
          <p:spPr>
            <a:xfrm>
              <a:off x="4618126" y="1939074"/>
              <a:ext cx="1298506" cy="1211950"/>
            </a:xfrm>
            <a:prstGeom prst="roundRect">
              <a:avLst>
                <a:gd name="adj" fmla="val 3500"/>
              </a:avLst>
            </a:prstGeom>
            <a:gradFill flip="none" rotWithShape="1">
              <a:gsLst>
                <a:gs pos="0">
                  <a:srgbClr val="0C6959"/>
                </a:gs>
                <a:gs pos="100000">
                  <a:srgbClr val="2AAC93"/>
                </a:gs>
              </a:gsLst>
              <a:lin ang="2700000" scaled="1"/>
              <a:tileRect/>
            </a:gradFill>
            <a:ln w="9525" cap="flat" cmpd="sng" algn="ctr">
              <a:noFill/>
              <a:prstDash val="solid"/>
              <a:headEnd type="none" w="med" len="med"/>
              <a:tailEnd type="none" w="med" len="med"/>
            </a:ln>
            <a:effectLst>
              <a:outerShdw blurRad="288696" dist="38100" dir="2700000" algn="tl" rotWithShape="0">
                <a:prstClr val="black">
                  <a:alpha val="19774"/>
                </a:prstClr>
              </a:outerShdw>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cs typeface="Segoe Sans Display" pitchFamily="2" charset="0"/>
                </a:rPr>
                <a:t>Query optimizer</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cs typeface="Segoe Sans Display" pitchFamily="2" charset="0"/>
                </a:rPr>
                <a:t>Efficiency</a:t>
              </a:r>
            </a:p>
          </p:txBody>
        </p:sp>
        <p:sp>
          <p:nvSpPr>
            <p:cNvPr id="35" name="Rounded Rectangle 11">
              <a:extLst>
                <a:ext uri="{FF2B5EF4-FFF2-40B4-BE49-F238E27FC236}">
                  <a16:creationId xmlns:a16="http://schemas.microsoft.com/office/drawing/2014/main" id="{3368DB34-3267-9548-7F2B-6646CA6F9E5F}"/>
                </a:ext>
              </a:extLst>
            </p:cNvPr>
            <p:cNvSpPr/>
            <p:nvPr/>
          </p:nvSpPr>
          <p:spPr>
            <a:xfrm>
              <a:off x="6477286" y="1939074"/>
              <a:ext cx="1298506" cy="1211950"/>
            </a:xfrm>
            <a:prstGeom prst="roundRect">
              <a:avLst>
                <a:gd name="adj" fmla="val 3500"/>
              </a:avLst>
            </a:prstGeom>
            <a:gradFill flip="none" rotWithShape="1">
              <a:gsLst>
                <a:gs pos="0">
                  <a:srgbClr val="0C6959"/>
                </a:gs>
                <a:gs pos="100000">
                  <a:srgbClr val="1F937E"/>
                </a:gs>
              </a:gsLst>
              <a:lin ang="2700000" scaled="1"/>
              <a:tileRect/>
            </a:gradFill>
            <a:ln w="9525" cap="flat" cmpd="sng" algn="ctr">
              <a:noFill/>
              <a:prstDash val="solid"/>
              <a:headEnd type="none" w="med" len="med"/>
              <a:tailEnd type="none" w="med" len="med"/>
            </a:ln>
            <a:effectLst>
              <a:outerShdw blurRad="288696" dist="38100" dir="2700000" algn="tl" rotWithShape="0">
                <a:prstClr val="black">
                  <a:alpha val="19774"/>
                </a:prstClr>
              </a:outerShdw>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algn="ctr" fontAlgn="base">
                <a:spcBef>
                  <a:spcPct val="0"/>
                </a:spcBef>
                <a:spcAft>
                  <a:spcPct val="0"/>
                </a:spcAft>
                <a:defRPr/>
              </a:pPr>
              <a:r>
                <a:rPr lang="en-US" sz="1200" kern="0">
                  <a:solidFill>
                    <a:srgbClr val="FFFFFF"/>
                  </a:solidFill>
                  <a:cs typeface="Segoe Sans Display" pitchFamily="2" charset="0"/>
                </a:rPr>
                <a:t>Query processor</a:t>
              </a:r>
            </a:p>
            <a:p>
              <a:pPr algn="ctr" fontAlgn="base">
                <a:spcBef>
                  <a:spcPct val="0"/>
                </a:spcBef>
                <a:spcAft>
                  <a:spcPct val="0"/>
                </a:spcAft>
                <a:defRPr/>
              </a:pPr>
              <a:r>
                <a:rPr lang="en-US" sz="1200" kern="0">
                  <a:solidFill>
                    <a:srgbClr val="FFFFFF"/>
                  </a:solidFill>
                  <a:cs typeface="Segoe Sans Display" pitchFamily="2" charset="0"/>
                </a:rPr>
                <a:t>Throughput</a:t>
              </a:r>
            </a:p>
          </p:txBody>
        </p:sp>
        <p:sp>
          <p:nvSpPr>
            <p:cNvPr id="58" name="Cross 57">
              <a:extLst>
                <a:ext uri="{FF2B5EF4-FFF2-40B4-BE49-F238E27FC236}">
                  <a16:creationId xmlns:a16="http://schemas.microsoft.com/office/drawing/2014/main" id="{48E60FF1-F5CB-D0CE-41B7-36321358FD31}"/>
                </a:ext>
              </a:extLst>
            </p:cNvPr>
            <p:cNvSpPr/>
            <p:nvPr/>
          </p:nvSpPr>
          <p:spPr bwMode="auto">
            <a:xfrm rot="2700000">
              <a:off x="6041346" y="2394077"/>
              <a:ext cx="307142" cy="307142"/>
            </a:xfrm>
            <a:prstGeom prst="plus">
              <a:avLst>
                <a:gd name="adj" fmla="val 41981"/>
              </a:avLst>
            </a:prstGeom>
            <a:solidFill>
              <a:srgbClr val="001919"/>
            </a:solidFill>
            <a:ln w="9525" cap="flat" cmpd="sng" algn="ctr">
              <a:solidFill>
                <a:srgbClr val="FFFFFF"/>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1919"/>
                </a:solidFill>
                <a:effectLst/>
                <a:uLnTx/>
                <a:uFillTx/>
                <a:latin typeface="Segoe Sans Display" pitchFamily="2" charset="0"/>
                <a:ea typeface="Segoe UI" pitchFamily="34" charset="0"/>
                <a:cs typeface="Segoe Sans Display" pitchFamily="2" charset="0"/>
              </a:endParaRPr>
            </a:p>
          </p:txBody>
        </p:sp>
        <p:sp>
          <p:nvSpPr>
            <p:cNvPr id="59" name="TextBox 58">
              <a:extLst>
                <a:ext uri="{FF2B5EF4-FFF2-40B4-BE49-F238E27FC236}">
                  <a16:creationId xmlns:a16="http://schemas.microsoft.com/office/drawing/2014/main" id="{122F0316-C82F-0FC3-9CC9-99F5554A58ED}"/>
                </a:ext>
              </a:extLst>
            </p:cNvPr>
            <p:cNvSpPr txBox="1"/>
            <p:nvPr/>
          </p:nvSpPr>
          <p:spPr>
            <a:xfrm>
              <a:off x="4273658" y="1824459"/>
              <a:ext cx="309380" cy="1231106"/>
            </a:xfrm>
            <a:prstGeom prst="rect">
              <a:avLst/>
            </a:prstGeom>
            <a:noFill/>
            <a:ln>
              <a:noFill/>
            </a:ln>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0" b="0" i="0" u="none" strike="noStrike" kern="0" cap="none" spc="0" normalizeH="0" baseline="0" noProof="0">
                  <a:ln>
                    <a:noFill/>
                  </a:ln>
                  <a:solidFill>
                    <a:srgbClr val="001919"/>
                  </a:solidFill>
                  <a:effectLst/>
                  <a:uLnTx/>
                  <a:uFillTx/>
                  <a:latin typeface="Segoe Sans Display" pitchFamily="2" charset="0"/>
                  <a:cs typeface="Segoe Sans Display" pitchFamily="2" charset="0"/>
                </a:rPr>
                <a:t>(</a:t>
              </a:r>
            </a:p>
          </p:txBody>
        </p:sp>
        <p:sp>
          <p:nvSpPr>
            <p:cNvPr id="60" name="TextBox 59">
              <a:extLst>
                <a:ext uri="{FF2B5EF4-FFF2-40B4-BE49-F238E27FC236}">
                  <a16:creationId xmlns:a16="http://schemas.microsoft.com/office/drawing/2014/main" id="{FB79E04B-772E-5DE5-07B2-DDAB110271D9}"/>
                </a:ext>
              </a:extLst>
            </p:cNvPr>
            <p:cNvSpPr txBox="1"/>
            <p:nvPr/>
          </p:nvSpPr>
          <p:spPr>
            <a:xfrm>
              <a:off x="7823527" y="1824459"/>
              <a:ext cx="309380" cy="1231106"/>
            </a:xfrm>
            <a:prstGeom prst="rect">
              <a:avLst/>
            </a:prstGeom>
            <a:noFill/>
            <a:ln>
              <a:noFill/>
            </a:ln>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0" b="0" i="0" u="none" strike="noStrike" kern="0" cap="none" spc="0" normalizeH="0" baseline="0" noProof="0">
                  <a:ln>
                    <a:noFill/>
                  </a:ln>
                  <a:solidFill>
                    <a:srgbClr val="001919"/>
                  </a:solidFill>
                  <a:effectLst/>
                  <a:uLnTx/>
                  <a:uFillTx/>
                  <a:latin typeface="Segoe Sans Display" pitchFamily="2" charset="0"/>
                  <a:cs typeface="Segoe Sans Display" pitchFamily="2" charset="0"/>
                </a:rPr>
                <a:t>)</a:t>
              </a:r>
            </a:p>
          </p:txBody>
        </p:sp>
        <p:sp>
          <p:nvSpPr>
            <p:cNvPr id="61" name="TextBox 60">
              <a:extLst>
                <a:ext uri="{FF2B5EF4-FFF2-40B4-BE49-F238E27FC236}">
                  <a16:creationId xmlns:a16="http://schemas.microsoft.com/office/drawing/2014/main" id="{6C0EBE3D-59C9-2024-F8DB-567537C6F4B7}"/>
                </a:ext>
              </a:extLst>
            </p:cNvPr>
            <p:cNvSpPr txBox="1"/>
            <p:nvPr/>
          </p:nvSpPr>
          <p:spPr>
            <a:xfrm>
              <a:off x="5070645" y="1516682"/>
              <a:ext cx="2252628" cy="307777"/>
            </a:xfrm>
            <a:prstGeom prst="rect">
              <a:avLst/>
            </a:prstGeom>
            <a:noFill/>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chemeClr val="bg1"/>
                  </a:solidFill>
                  <a:effectLst/>
                  <a:uLnTx/>
                  <a:uFillTx/>
                  <a:latin typeface="Segoe Sans Display Semibold" pitchFamily="2" charset="0"/>
                  <a:cs typeface="Segoe Sans Display Semibold" pitchFamily="2" charset="0"/>
                </a:rPr>
                <a:t>Single node performance</a:t>
              </a:r>
            </a:p>
          </p:txBody>
        </p:sp>
      </p:grpSp>
      <p:sp>
        <p:nvSpPr>
          <p:cNvPr id="65" name="TextBox 64">
            <a:extLst>
              <a:ext uri="{FF2B5EF4-FFF2-40B4-BE49-F238E27FC236}">
                <a16:creationId xmlns:a16="http://schemas.microsoft.com/office/drawing/2014/main" id="{35088402-9C5B-CFAD-2E77-7D90C91686DE}"/>
              </a:ext>
            </a:extLst>
          </p:cNvPr>
          <p:cNvSpPr txBox="1"/>
          <p:nvPr/>
        </p:nvSpPr>
        <p:spPr>
          <a:xfrm>
            <a:off x="1007096" y="3787694"/>
            <a:ext cx="2088427" cy="400110"/>
          </a:xfrm>
          <a:prstGeom prst="rect">
            <a:avLst/>
          </a:prstGeom>
          <a:noFill/>
        </p:spPr>
        <p:txBody>
          <a:bodyPr wrap="square" rtlCol="0" anchor="ctr">
            <a:spAutoFit/>
          </a:bodyPr>
          <a:lstStyle/>
          <a:p>
            <a:pPr algn="r">
              <a:defRPr/>
            </a:pPr>
            <a:r>
              <a:rPr lang="en-US" sz="2000" b="1">
                <a:solidFill>
                  <a:srgbClr val="000000"/>
                </a:solidFill>
                <a:latin typeface="Segoe Sans Display Semibold" pitchFamily="2" charset="0"/>
                <a:cs typeface="Segoe Sans Display Semibold" pitchFamily="2" charset="0"/>
              </a:rPr>
              <a:t>SQL Server QO</a:t>
            </a:r>
          </a:p>
        </p:txBody>
      </p:sp>
      <p:sp>
        <p:nvSpPr>
          <p:cNvPr id="66" name="TextBox 65">
            <a:extLst>
              <a:ext uri="{FF2B5EF4-FFF2-40B4-BE49-F238E27FC236}">
                <a16:creationId xmlns:a16="http://schemas.microsoft.com/office/drawing/2014/main" id="{DA69D842-4AE3-1114-5CDD-16A0B4A6BF97}"/>
              </a:ext>
            </a:extLst>
          </p:cNvPr>
          <p:cNvSpPr txBox="1"/>
          <p:nvPr/>
        </p:nvSpPr>
        <p:spPr>
          <a:xfrm>
            <a:off x="3295329" y="3849250"/>
            <a:ext cx="4138184" cy="276999"/>
          </a:xfrm>
          <a:prstGeom prst="rect">
            <a:avLst/>
          </a:prstGeom>
          <a:noFill/>
        </p:spPr>
        <p:txBody>
          <a:bodyPr wrap="none" lIns="0" tIns="0" rIns="0" bIns="0" rtlCol="0">
            <a:spAutoFit/>
          </a:bodyPr>
          <a:lstStyle/>
          <a:p>
            <a:pPr>
              <a:defRPr/>
            </a:pPr>
            <a:r>
              <a:rPr lang="en-US" kern="0">
                <a:solidFill>
                  <a:schemeClr val="bg1"/>
                </a:solidFill>
                <a:cs typeface="Segoe Sans Display" pitchFamily="2" charset="0"/>
              </a:rPr>
              <a:t>The best query optimizer in the industry </a:t>
            </a:r>
          </a:p>
        </p:txBody>
      </p:sp>
      <p:cxnSp>
        <p:nvCxnSpPr>
          <p:cNvPr id="67" name="Straight Connector 66">
            <a:extLst>
              <a:ext uri="{FF2B5EF4-FFF2-40B4-BE49-F238E27FC236}">
                <a16:creationId xmlns:a16="http://schemas.microsoft.com/office/drawing/2014/main" id="{815B1FEB-799B-6EEB-DC46-64B24CFFCCA9}"/>
              </a:ext>
              <a:ext uri="{C183D7F6-B498-43B3-948B-1728B52AA6E4}">
                <adec:decorative xmlns:adec="http://schemas.microsoft.com/office/drawing/2017/decorative" val="1"/>
              </a:ext>
            </a:extLst>
          </p:cNvPr>
          <p:cNvCxnSpPr>
            <a:cxnSpLocks/>
          </p:cNvCxnSpPr>
          <p:nvPr/>
        </p:nvCxnSpPr>
        <p:spPr>
          <a:xfrm>
            <a:off x="1182635" y="4286018"/>
            <a:ext cx="9993561" cy="0"/>
          </a:xfrm>
          <a:prstGeom prst="line">
            <a:avLst/>
          </a:prstGeom>
          <a:noFill/>
          <a:ln w="9525" cap="flat" cmpd="sng" algn="ctr">
            <a:solidFill>
              <a:srgbClr val="FFFFFF">
                <a:lumMod val="85000"/>
              </a:srgbClr>
            </a:solidFill>
            <a:prstDash val="solid"/>
            <a:headEnd type="none" w="lg" len="med"/>
            <a:tailEnd type="none" w="lg" len="med"/>
          </a:ln>
          <a:effectLst/>
        </p:spPr>
      </p:cxnSp>
      <p:sp>
        <p:nvSpPr>
          <p:cNvPr id="68" name="TextBox 67">
            <a:extLst>
              <a:ext uri="{FF2B5EF4-FFF2-40B4-BE49-F238E27FC236}">
                <a16:creationId xmlns:a16="http://schemas.microsoft.com/office/drawing/2014/main" id="{55879005-13ED-F724-74AF-954E19D63583}"/>
              </a:ext>
            </a:extLst>
          </p:cNvPr>
          <p:cNvSpPr txBox="1"/>
          <p:nvPr/>
        </p:nvSpPr>
        <p:spPr>
          <a:xfrm>
            <a:off x="1778000" y="4407145"/>
            <a:ext cx="1317523" cy="400110"/>
          </a:xfrm>
          <a:prstGeom prst="rect">
            <a:avLst/>
          </a:prstGeom>
          <a:noFill/>
        </p:spPr>
        <p:txBody>
          <a:bodyPr wrap="square" rtlCol="0" anchor="ctr">
            <a:spAutoFit/>
          </a:bodyPr>
          <a:lstStyle/>
          <a:p>
            <a:pPr algn="r">
              <a:defRPr/>
            </a:pPr>
            <a:r>
              <a:rPr lang="en-US" sz="2000" b="1" err="1">
                <a:solidFill>
                  <a:srgbClr val="000000"/>
                </a:solidFill>
                <a:latin typeface="Segoe Sans Display Semibold" pitchFamily="2" charset="0"/>
                <a:cs typeface="Segoe Sans Display Semibold" pitchFamily="2" charset="0"/>
              </a:rPr>
              <a:t>VertiPaq</a:t>
            </a:r>
            <a:endParaRPr lang="en-US" sz="2000" b="1">
              <a:solidFill>
                <a:srgbClr val="000000"/>
              </a:solidFill>
              <a:latin typeface="Segoe Sans Display Semibold" pitchFamily="2" charset="0"/>
              <a:cs typeface="Segoe Sans Display Semibold" pitchFamily="2" charset="0"/>
            </a:endParaRPr>
          </a:p>
        </p:txBody>
      </p:sp>
      <p:sp>
        <p:nvSpPr>
          <p:cNvPr id="69" name="TextBox 68">
            <a:extLst>
              <a:ext uri="{FF2B5EF4-FFF2-40B4-BE49-F238E27FC236}">
                <a16:creationId xmlns:a16="http://schemas.microsoft.com/office/drawing/2014/main" id="{EF4C75B0-3288-372D-4F08-EDE261C465A8}"/>
              </a:ext>
            </a:extLst>
          </p:cNvPr>
          <p:cNvSpPr txBox="1"/>
          <p:nvPr/>
        </p:nvSpPr>
        <p:spPr>
          <a:xfrm>
            <a:off x="3295329" y="4468701"/>
            <a:ext cx="7750904" cy="276999"/>
          </a:xfrm>
          <a:prstGeom prst="rect">
            <a:avLst/>
          </a:prstGeom>
          <a:noFill/>
        </p:spPr>
        <p:txBody>
          <a:bodyPr wrap="none" lIns="0" tIns="0" rIns="0" bIns="0" rtlCol="0">
            <a:spAutoFit/>
          </a:bodyPr>
          <a:lstStyle/>
          <a:p>
            <a:pPr>
              <a:defRPr/>
            </a:pPr>
            <a:r>
              <a:rPr lang="en-US" kern="0">
                <a:solidFill>
                  <a:schemeClr val="bg1"/>
                </a:solidFill>
                <a:cs typeface="Segoe Sans Display" pitchFamily="2" charset="0"/>
              </a:rPr>
              <a:t>The fastest columnar query processor in the world (originated from Power BI)</a:t>
            </a:r>
          </a:p>
        </p:txBody>
      </p:sp>
      <p:cxnSp>
        <p:nvCxnSpPr>
          <p:cNvPr id="70" name="Straight Connector 69">
            <a:extLst>
              <a:ext uri="{FF2B5EF4-FFF2-40B4-BE49-F238E27FC236}">
                <a16:creationId xmlns:a16="http://schemas.microsoft.com/office/drawing/2014/main" id="{AA61356D-CC2D-719F-A379-AEFBCB1D517C}"/>
              </a:ext>
              <a:ext uri="{C183D7F6-B498-43B3-948B-1728B52AA6E4}">
                <adec:decorative xmlns:adec="http://schemas.microsoft.com/office/drawing/2017/decorative" val="1"/>
              </a:ext>
            </a:extLst>
          </p:cNvPr>
          <p:cNvCxnSpPr>
            <a:cxnSpLocks/>
          </p:cNvCxnSpPr>
          <p:nvPr/>
        </p:nvCxnSpPr>
        <p:spPr>
          <a:xfrm>
            <a:off x="1182635" y="4944924"/>
            <a:ext cx="9993561" cy="0"/>
          </a:xfrm>
          <a:prstGeom prst="line">
            <a:avLst/>
          </a:prstGeom>
          <a:noFill/>
          <a:ln w="9525" cap="flat" cmpd="sng" algn="ctr">
            <a:solidFill>
              <a:srgbClr val="FFFFFF">
                <a:lumMod val="85000"/>
              </a:srgbClr>
            </a:solidFill>
            <a:prstDash val="solid"/>
            <a:headEnd type="none" w="lg" len="med"/>
            <a:tailEnd type="none" w="lg" len="med"/>
          </a:ln>
          <a:effectLst/>
        </p:spPr>
      </p:cxnSp>
      <p:sp>
        <p:nvSpPr>
          <p:cNvPr id="71" name="TextBox 70">
            <a:extLst>
              <a:ext uri="{FF2B5EF4-FFF2-40B4-BE49-F238E27FC236}">
                <a16:creationId xmlns:a16="http://schemas.microsoft.com/office/drawing/2014/main" id="{FFEDC0E9-3137-2435-76FB-343B274D6FE7}"/>
              </a:ext>
            </a:extLst>
          </p:cNvPr>
          <p:cNvSpPr txBox="1"/>
          <p:nvPr/>
        </p:nvSpPr>
        <p:spPr>
          <a:xfrm>
            <a:off x="1972998" y="5163846"/>
            <a:ext cx="1122525" cy="400110"/>
          </a:xfrm>
          <a:prstGeom prst="rect">
            <a:avLst/>
          </a:prstGeom>
          <a:noFill/>
        </p:spPr>
        <p:txBody>
          <a:bodyPr wrap="square" rtlCol="0" anchor="ctr">
            <a:spAutoFit/>
          </a:bodyPr>
          <a:lstStyle/>
          <a:p>
            <a:pPr algn="r">
              <a:defRPr/>
            </a:pPr>
            <a:r>
              <a:rPr lang="en-US" sz="2000" b="1">
                <a:solidFill>
                  <a:srgbClr val="000000"/>
                </a:solidFill>
                <a:latin typeface="Segoe Sans Display Semibold" pitchFamily="2" charset="0"/>
                <a:cs typeface="Segoe Sans Display Semibold" pitchFamily="2" charset="0"/>
              </a:rPr>
              <a:t>Polaris</a:t>
            </a:r>
          </a:p>
        </p:txBody>
      </p:sp>
      <p:sp>
        <p:nvSpPr>
          <p:cNvPr id="72" name="TextBox 71">
            <a:extLst>
              <a:ext uri="{FF2B5EF4-FFF2-40B4-BE49-F238E27FC236}">
                <a16:creationId xmlns:a16="http://schemas.microsoft.com/office/drawing/2014/main" id="{5C1DA74A-105B-93DE-9334-5CB1DED0344F}"/>
              </a:ext>
            </a:extLst>
          </p:cNvPr>
          <p:cNvSpPr txBox="1"/>
          <p:nvPr/>
        </p:nvSpPr>
        <p:spPr>
          <a:xfrm>
            <a:off x="3295329" y="5086902"/>
            <a:ext cx="6827109" cy="553998"/>
          </a:xfrm>
          <a:prstGeom prst="rect">
            <a:avLst/>
          </a:prstGeom>
          <a:noFill/>
        </p:spPr>
        <p:txBody>
          <a:bodyPr wrap="square" lIns="0" tIns="0" rIns="0" bIns="0" rtlCol="0" anchor="t">
            <a:spAutoFit/>
          </a:bodyPr>
          <a:lstStyle/>
          <a:p>
            <a:pPr>
              <a:defRPr/>
            </a:pPr>
            <a:r>
              <a:rPr lang="en-US" kern="0">
                <a:solidFill>
                  <a:schemeClr val="bg1"/>
                </a:solidFill>
                <a:cs typeface="Segoe Sans Display" pitchFamily="2" charset="0"/>
              </a:rPr>
              <a:t>The most scalable distributed query processor in the world with the only published Petabyte</a:t>
            </a:r>
            <a:r>
              <a:rPr lang="en-US" sz="1600" kern="0">
                <a:solidFill>
                  <a:schemeClr val="bg1"/>
                </a:solidFill>
                <a:cs typeface="Segoe Sans Display" pitchFamily="2" charset="0"/>
              </a:rPr>
              <a:t> </a:t>
            </a:r>
            <a:r>
              <a:rPr lang="en-US" kern="0">
                <a:solidFill>
                  <a:schemeClr val="bg1"/>
                </a:solidFill>
                <a:cs typeface="Segoe Sans Display" pitchFamily="2" charset="0"/>
              </a:rPr>
              <a:t>scale benchmark (VLDB 13, August 2020)</a:t>
            </a:r>
          </a:p>
        </p:txBody>
      </p:sp>
      <p:sp>
        <p:nvSpPr>
          <p:cNvPr id="77" name="Slide Number Placeholder 76">
            <a:extLst>
              <a:ext uri="{FF2B5EF4-FFF2-40B4-BE49-F238E27FC236}">
                <a16:creationId xmlns:a16="http://schemas.microsoft.com/office/drawing/2014/main" id="{68EBF8D8-85B2-10A6-2106-3F9FC549DF69}"/>
              </a:ext>
            </a:extLst>
          </p:cNvPr>
          <p:cNvSpPr>
            <a:spLocks noGrp="1"/>
          </p:cNvSpPr>
          <p:nvPr>
            <p:ph type="sldNum" sz="quarter" idx="11"/>
          </p:nvPr>
        </p:nvSpPr>
        <p:spPr/>
        <p:txBody>
          <a:bodyPr/>
          <a:lstStyle/>
          <a:p>
            <a:fld id="{B1356FBF-028C-F74E-A7B4-9B8ED246DD1B}" type="slidenum">
              <a:rPr lang="en-US" smtClean="0"/>
              <a:pPr/>
              <a:t>13</a:t>
            </a:fld>
            <a:endParaRPr lang="en-US"/>
          </a:p>
        </p:txBody>
      </p:sp>
      <p:sp>
        <p:nvSpPr>
          <p:cNvPr id="76" name="Footer Placeholder 75">
            <a:extLst>
              <a:ext uri="{FF2B5EF4-FFF2-40B4-BE49-F238E27FC236}">
                <a16:creationId xmlns:a16="http://schemas.microsoft.com/office/drawing/2014/main" id="{80284870-FA95-06D4-57CE-AECE894E216B}"/>
              </a:ext>
            </a:extLst>
          </p:cNvPr>
          <p:cNvSpPr>
            <a:spLocks noGrp="1"/>
          </p:cNvSpPr>
          <p:nvPr>
            <p:ph type="ftr" sz="quarter" idx="10"/>
          </p:nvPr>
        </p:nvSpPr>
        <p:spPr/>
        <p:txBody>
          <a:bodyPr/>
          <a:lstStyle/>
          <a:p>
            <a:r>
              <a:rPr lang="en-US"/>
              <a:t>Microsoft Fabric</a:t>
            </a:r>
          </a:p>
        </p:txBody>
      </p:sp>
    </p:spTree>
    <p:extLst>
      <p:ext uri="{BB962C8B-B14F-4D97-AF65-F5344CB8AC3E}">
        <p14:creationId xmlns:p14="http://schemas.microsoft.com/office/powerpoint/2010/main" val="179947717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C644A-D596-BA90-CDA6-C68D611CA3C8}"/>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F9FD4787-113A-C610-2226-CF233BA3E270}"/>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itle 57">
            <a:extLst>
              <a:ext uri="{FF2B5EF4-FFF2-40B4-BE49-F238E27FC236}">
                <a16:creationId xmlns:a16="http://schemas.microsoft.com/office/drawing/2014/main" id="{47F00C8E-33FB-185B-6E79-9AE2CECDB964}"/>
              </a:ext>
            </a:extLst>
          </p:cNvPr>
          <p:cNvSpPr>
            <a:spLocks noGrp="1"/>
          </p:cNvSpPr>
          <p:nvPr>
            <p:ph type="title"/>
          </p:nvPr>
        </p:nvSpPr>
        <p:spPr>
          <a:xfrm>
            <a:off x="581025" y="365125"/>
            <a:ext cx="11029950" cy="549275"/>
          </a:xfrm>
        </p:spPr>
        <p:txBody>
          <a:bodyPr anchor="t"/>
          <a:lstStyle/>
          <a:p>
            <a:pPr lvl="0"/>
            <a:r>
              <a:rPr lang="en-US" sz="2800" noProof="0">
                <a:solidFill>
                  <a:srgbClr val="FFFDF9"/>
                </a:solidFill>
              </a:rPr>
              <a:t>Autonomous workload</a:t>
            </a:r>
            <a:br>
              <a:rPr lang="en-US" sz="2800" noProof="0">
                <a:solidFill>
                  <a:srgbClr val="FFFDF9"/>
                </a:solidFill>
              </a:rPr>
            </a:br>
            <a:r>
              <a:rPr lang="en-US" sz="2800" noProof="0">
                <a:solidFill>
                  <a:srgbClr val="FFFDF9"/>
                </a:solidFill>
              </a:rPr>
              <a:t>management</a:t>
            </a:r>
          </a:p>
        </p:txBody>
      </p:sp>
      <p:sp>
        <p:nvSpPr>
          <p:cNvPr id="2" name="Rectangle: Rounded Corners 19">
            <a:extLst>
              <a:ext uri="{FF2B5EF4-FFF2-40B4-BE49-F238E27FC236}">
                <a16:creationId xmlns:a16="http://schemas.microsoft.com/office/drawing/2014/main" id="{90C8B120-D4A0-D416-38E6-29F8CB01F5B0}"/>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rgbClr val="8661C5">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Sans Display"/>
              <a:ea typeface="+mn-ea"/>
              <a:cs typeface="+mn-cs"/>
            </a:endParaRPr>
          </a:p>
        </p:txBody>
      </p:sp>
      <p:sp>
        <p:nvSpPr>
          <p:cNvPr id="3" name="Graphic 51">
            <a:extLst>
              <a:ext uri="{FF2B5EF4-FFF2-40B4-BE49-F238E27FC236}">
                <a16:creationId xmlns:a16="http://schemas.microsoft.com/office/drawing/2014/main" id="{58F5E1EF-3078-0FD4-91EA-7C0BB1B35D41}"/>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rgbClr val="49C5B1">
              <a:lumMod val="60000"/>
              <a:lumOff val="40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25B61"/>
              </a:solidFill>
              <a:effectLst/>
              <a:uLnTx/>
              <a:uFillTx/>
              <a:latin typeface="Segoe Sans Display"/>
            </a:endParaRPr>
          </a:p>
        </p:txBody>
      </p:sp>
      <p:sp>
        <p:nvSpPr>
          <p:cNvPr id="10" name="Rectangle: Rounded Corners 8">
            <a:extLst>
              <a:ext uri="{FF2B5EF4-FFF2-40B4-BE49-F238E27FC236}">
                <a16:creationId xmlns:a16="http://schemas.microsoft.com/office/drawing/2014/main" id="{A77E2631-173D-2378-3A4E-531256C2280A}"/>
              </a:ext>
              <a:ext uri="{C183D7F6-B498-43B3-948B-1728B52AA6E4}">
                <adec:decorative xmlns:adec="http://schemas.microsoft.com/office/drawing/2017/decorative" val="1"/>
              </a:ext>
            </a:extLst>
          </p:cNvPr>
          <p:cNvSpPr>
            <a:spLocks/>
          </p:cNvSpPr>
          <p:nvPr/>
        </p:nvSpPr>
        <p:spPr>
          <a:xfrm>
            <a:off x="4930637" y="1435716"/>
            <a:ext cx="6694126" cy="4023646"/>
          </a:xfrm>
          <a:prstGeom prst="roundRect">
            <a:avLst>
              <a:gd name="adj" fmla="val 5180"/>
            </a:avLst>
          </a:prstGeom>
          <a:solidFill>
            <a:srgbClr val="F9F9F9">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endPar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Sans Display"/>
              <a:ea typeface="+mn-ea"/>
              <a:cs typeface="+mn-cs"/>
            </a:endParaRPr>
          </a:p>
        </p:txBody>
      </p:sp>
      <p:pic>
        <p:nvPicPr>
          <p:cNvPr id="50" name="Picture 49" descr="Data warehouse logo">
            <a:extLst>
              <a:ext uri="{FF2B5EF4-FFF2-40B4-BE49-F238E27FC236}">
                <a16:creationId xmlns:a16="http://schemas.microsoft.com/office/drawing/2014/main" id="{453E0168-6F70-7774-4BC8-789DA3D17318}"/>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617785" y="131716"/>
            <a:ext cx="410912" cy="411714"/>
          </a:xfrm>
          <a:prstGeom prst="rect">
            <a:avLst/>
          </a:prstGeom>
          <a:noFill/>
        </p:spPr>
      </p:pic>
      <p:sp>
        <p:nvSpPr>
          <p:cNvPr id="49" name="TextBox 48">
            <a:extLst>
              <a:ext uri="{FF2B5EF4-FFF2-40B4-BE49-F238E27FC236}">
                <a16:creationId xmlns:a16="http://schemas.microsoft.com/office/drawing/2014/main" id="{F4DCEEC3-A971-DB19-862D-9F20BE93F1CA}"/>
              </a:ext>
            </a:extLst>
          </p:cNvPr>
          <p:cNvSpPr txBox="1"/>
          <p:nvPr/>
        </p:nvSpPr>
        <p:spPr>
          <a:xfrm>
            <a:off x="581025" y="1486357"/>
            <a:ext cx="3472915" cy="1231106"/>
          </a:xfrm>
          <a:prstGeom prst="rect">
            <a:avLst/>
          </a:prstGeom>
          <a:noFill/>
        </p:spPr>
        <p:txBody>
          <a:bodyPr wrap="square" lIns="0" tIns="0" rIns="0" bIns="0">
            <a:spAutoFit/>
          </a:bodyPr>
          <a:lstStyle/>
          <a:p>
            <a:pPr defTabSz="914367">
              <a:spcAft>
                <a:spcPts val="1200"/>
              </a:spcAft>
              <a:defRPr/>
            </a:pPr>
            <a:r>
              <a:rPr lang="en-US" sz="1400">
                <a:solidFill>
                  <a:srgbClr val="FFFFFF"/>
                </a:solidFill>
                <a:cs typeface="Segoe Sans Text" pitchFamily="2" charset="0"/>
              </a:rPr>
              <a:t>Eliminate the need to manually manage different types of workloads</a:t>
            </a:r>
          </a:p>
          <a:p>
            <a:pPr defTabSz="914367">
              <a:spcAft>
                <a:spcPts val="1200"/>
              </a:spcAft>
              <a:defRPr/>
            </a:pPr>
            <a:r>
              <a:rPr lang="en-US" sz="1400">
                <a:solidFill>
                  <a:srgbClr val="FFFFFF"/>
                </a:solidFill>
                <a:cs typeface="Segoe Sans Text" pitchFamily="2" charset="0"/>
              </a:rPr>
              <a:t>Built-in autonomous workload management, provides workload performance isolation and scales based on demand without any setup</a:t>
            </a:r>
          </a:p>
        </p:txBody>
      </p:sp>
      <p:cxnSp>
        <p:nvCxnSpPr>
          <p:cNvPr id="12" name="Straight Connector 11">
            <a:extLst>
              <a:ext uri="{FF2B5EF4-FFF2-40B4-BE49-F238E27FC236}">
                <a16:creationId xmlns:a16="http://schemas.microsoft.com/office/drawing/2014/main" id="{CF6EABF6-73E1-982E-5C4E-FE577F7EA052}"/>
              </a:ext>
              <a:ext uri="{C183D7F6-B498-43B3-948B-1728B52AA6E4}">
                <adec:decorative xmlns:adec="http://schemas.microsoft.com/office/drawing/2017/decorative" val="1"/>
              </a:ext>
            </a:extLst>
          </p:cNvPr>
          <p:cNvCxnSpPr>
            <a:cxnSpLocks/>
          </p:cNvCxnSpPr>
          <p:nvPr/>
        </p:nvCxnSpPr>
        <p:spPr>
          <a:xfrm>
            <a:off x="581025" y="2903049"/>
            <a:ext cx="3472915" cy="0"/>
          </a:xfrm>
          <a:prstGeom prst="line">
            <a:avLst/>
          </a:prstGeom>
          <a:noFill/>
          <a:ln w="12700" cap="flat" cmpd="sng" algn="ctr">
            <a:solidFill>
              <a:srgbClr val="FFFEF9"/>
            </a:solidFill>
            <a:prstDash val="solid"/>
            <a:miter lim="800000"/>
          </a:ln>
          <a:effectLst/>
        </p:spPr>
      </p:cxnSp>
      <p:sp>
        <p:nvSpPr>
          <p:cNvPr id="48" name="TextBox 47">
            <a:extLst>
              <a:ext uri="{FF2B5EF4-FFF2-40B4-BE49-F238E27FC236}">
                <a16:creationId xmlns:a16="http://schemas.microsoft.com/office/drawing/2014/main" id="{0FC54BB8-847A-819D-86C5-127C08EEF322}"/>
              </a:ext>
            </a:extLst>
          </p:cNvPr>
          <p:cNvSpPr txBox="1"/>
          <p:nvPr/>
        </p:nvSpPr>
        <p:spPr>
          <a:xfrm>
            <a:off x="581025" y="3088635"/>
            <a:ext cx="3472915" cy="1526572"/>
          </a:xfrm>
          <a:prstGeom prst="rect">
            <a:avLst/>
          </a:prstGeom>
          <a:noFill/>
        </p:spPr>
        <p:txBody>
          <a:bodyPr wrap="square" lIns="0" tIns="0" rIns="0" bIns="0" rtlCol="0" anchor="t">
            <a:spAutoFit/>
          </a:bodyPr>
          <a:lstStyle/>
          <a:p>
            <a:pPr defTabSz="914367">
              <a:lnSpc>
                <a:spcPct val="105000"/>
              </a:lnSpc>
              <a:spcAft>
                <a:spcPts val="300"/>
              </a:spcAft>
              <a:defRPr/>
            </a:pPr>
            <a:r>
              <a:rPr lang="en-US" sz="1400" i="1">
                <a:solidFill>
                  <a:srgbClr val="FFFFFF"/>
                </a:solidFill>
                <a:latin typeface="Segoe Sans Display Semibold" pitchFamily="2" charset="0"/>
                <a:cs typeface="Segoe Sans Display Semibold" pitchFamily="2" charset="0"/>
              </a:rPr>
              <a:t>Key Capabilities: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Workloads automatically detected and isolated based on SQL statement types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Isolated compute used for loading data, providing predictable performance for ETL</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Distributed query processor auto-scales as demand increases</a:t>
            </a:r>
          </a:p>
        </p:txBody>
      </p:sp>
      <p:grpSp>
        <p:nvGrpSpPr>
          <p:cNvPr id="13" name="Group 12" descr="visual containing 4 gear icons on the top under the 'Query' label, and 3 gear icons on the bottom under the 'Ingestion' label">
            <a:extLst>
              <a:ext uri="{FF2B5EF4-FFF2-40B4-BE49-F238E27FC236}">
                <a16:creationId xmlns:a16="http://schemas.microsoft.com/office/drawing/2014/main" id="{9C9FCD87-FEA8-2C5E-7BEA-FB87EB410F66}"/>
              </a:ext>
            </a:extLst>
          </p:cNvPr>
          <p:cNvGrpSpPr/>
          <p:nvPr/>
        </p:nvGrpSpPr>
        <p:grpSpPr>
          <a:xfrm>
            <a:off x="5158766" y="1663843"/>
            <a:ext cx="6237868" cy="3567391"/>
            <a:chOff x="1127041" y="5696859"/>
            <a:chExt cx="6237868" cy="3567391"/>
          </a:xfrm>
        </p:grpSpPr>
        <p:sp>
          <p:nvSpPr>
            <p:cNvPr id="14" name="Rounded Rectangle 13">
              <a:extLst>
                <a:ext uri="{FF2B5EF4-FFF2-40B4-BE49-F238E27FC236}">
                  <a16:creationId xmlns:a16="http://schemas.microsoft.com/office/drawing/2014/main" id="{835AADBC-53A9-8C82-5800-C0D2573B59CA}"/>
                </a:ext>
                <a:ext uri="{C183D7F6-B498-43B3-948B-1728B52AA6E4}">
                  <adec:decorative xmlns:adec="http://schemas.microsoft.com/office/drawing/2017/decorative" val="1"/>
                </a:ext>
              </a:extLst>
            </p:cNvPr>
            <p:cNvSpPr/>
            <p:nvPr/>
          </p:nvSpPr>
          <p:spPr>
            <a:xfrm>
              <a:off x="1127041" y="5696859"/>
              <a:ext cx="6237868" cy="3567391"/>
            </a:xfrm>
            <a:prstGeom prst="roundRect">
              <a:avLst>
                <a:gd name="adj" fmla="val 4633"/>
              </a:avLst>
            </a:prstGeom>
            <a:solidFill>
              <a:srgbClr val="FFFFFF"/>
            </a:solidFill>
            <a:ln w="51197" cap="flat">
              <a:noFill/>
              <a:prstDash val="solid"/>
              <a:miter/>
            </a:ln>
            <a:effectLst>
              <a:outerShdw blurRad="254000" dist="38100" dir="2700000" algn="ctr" rotWithShape="0">
                <a:srgbClr val="454142">
                  <a:alpha val="20000"/>
                </a:srgbClr>
              </a:outerShdw>
            </a:effectLst>
          </p:spPr>
          <p:txBody>
            <a:bodyPr lIns="73152" rIns="73152" rtlCol="0" anchor="ctr"/>
            <a:lstStyle/>
            <a:p>
              <a:pPr algn="ctr">
                <a:defRPr/>
              </a:pPr>
              <a:endParaRPr lang="en-US" sz="1100" kern="0">
                <a:solidFill>
                  <a:srgbClr val="001919"/>
                </a:solidFill>
                <a:latin typeface="Segoe Sans Display"/>
                <a:cs typeface="Segoe UI" panose="020B0502040204020203" pitchFamily="34" charset="0"/>
              </a:endParaRPr>
            </a:p>
          </p:txBody>
        </p:sp>
        <p:sp>
          <p:nvSpPr>
            <p:cNvPr id="17" name="TextBox 16">
              <a:extLst>
                <a:ext uri="{FF2B5EF4-FFF2-40B4-BE49-F238E27FC236}">
                  <a16:creationId xmlns:a16="http://schemas.microsoft.com/office/drawing/2014/main" id="{3F31CB08-009B-A7FA-73B1-00EEC8600CFC}"/>
                </a:ext>
              </a:extLst>
            </p:cNvPr>
            <p:cNvSpPr txBox="1"/>
            <p:nvPr/>
          </p:nvSpPr>
          <p:spPr>
            <a:xfrm>
              <a:off x="1349613" y="6454417"/>
              <a:ext cx="922047" cy="400110"/>
            </a:xfrm>
            <a:prstGeom prst="rect">
              <a:avLst/>
            </a:prstGeom>
            <a:noFill/>
          </p:spPr>
          <p:txBody>
            <a:bodyPr wrap="none" rtlCol="0">
              <a:spAutoFit/>
            </a:bodyPr>
            <a:lstStyle/>
            <a:p>
              <a:pPr>
                <a:defRPr/>
              </a:pPr>
              <a:r>
                <a:rPr lang="en-MX" sz="2000" b="1" kern="0">
                  <a:solidFill>
                    <a:schemeClr val="bg1"/>
                  </a:solidFill>
                  <a:latin typeface="Segoe Sans Display Semibold" pitchFamily="2" charset="0"/>
                  <a:cs typeface="Segoe Sans Display Semibold" pitchFamily="2" charset="0"/>
                </a:rPr>
                <a:t>Query</a:t>
              </a:r>
            </a:p>
          </p:txBody>
        </p:sp>
        <p:sp>
          <p:nvSpPr>
            <p:cNvPr id="18" name="TextBox 17">
              <a:extLst>
                <a:ext uri="{FF2B5EF4-FFF2-40B4-BE49-F238E27FC236}">
                  <a16:creationId xmlns:a16="http://schemas.microsoft.com/office/drawing/2014/main" id="{CCEDCB21-675A-C28D-760E-2AFA63D9462C}"/>
                </a:ext>
              </a:extLst>
            </p:cNvPr>
            <p:cNvSpPr txBox="1"/>
            <p:nvPr/>
          </p:nvSpPr>
          <p:spPr>
            <a:xfrm>
              <a:off x="1349613" y="8201128"/>
              <a:ext cx="1317990" cy="400110"/>
            </a:xfrm>
            <a:prstGeom prst="rect">
              <a:avLst/>
            </a:prstGeom>
            <a:noFill/>
          </p:spPr>
          <p:txBody>
            <a:bodyPr wrap="none" rtlCol="0">
              <a:spAutoFit/>
            </a:bodyPr>
            <a:lstStyle/>
            <a:p>
              <a:pPr>
                <a:defRPr/>
              </a:pPr>
              <a:r>
                <a:rPr lang="en-MX" sz="2000" b="1" kern="0">
                  <a:solidFill>
                    <a:schemeClr val="bg1"/>
                  </a:solidFill>
                  <a:latin typeface="Segoe Sans Display Semibold" pitchFamily="2" charset="0"/>
                  <a:cs typeface="Segoe Sans Display Semibold" pitchFamily="2" charset="0"/>
                </a:rPr>
                <a:t>Ingestion</a:t>
              </a:r>
            </a:p>
          </p:txBody>
        </p:sp>
        <p:cxnSp>
          <p:nvCxnSpPr>
            <p:cNvPr id="19" name="Straight Connector 18">
              <a:extLst>
                <a:ext uri="{FF2B5EF4-FFF2-40B4-BE49-F238E27FC236}">
                  <a16:creationId xmlns:a16="http://schemas.microsoft.com/office/drawing/2014/main" id="{9824823C-5AF9-1850-98F8-57E02750CE69}"/>
                </a:ext>
              </a:extLst>
            </p:cNvPr>
            <p:cNvCxnSpPr>
              <a:cxnSpLocks/>
            </p:cNvCxnSpPr>
            <p:nvPr/>
          </p:nvCxnSpPr>
          <p:spPr>
            <a:xfrm>
              <a:off x="1183286" y="7480554"/>
              <a:ext cx="6125378" cy="0"/>
            </a:xfrm>
            <a:prstGeom prst="line">
              <a:avLst/>
            </a:prstGeom>
            <a:noFill/>
            <a:ln w="31750" cap="flat" cmpd="sng" algn="ctr">
              <a:solidFill>
                <a:srgbClr val="117865"/>
              </a:solidFill>
              <a:prstDash val="solid"/>
              <a:miter lim="800000"/>
            </a:ln>
            <a:effectLst/>
          </p:spPr>
        </p:cxnSp>
        <p:pic>
          <p:nvPicPr>
            <p:cNvPr id="20" name="Graphic 19" descr="Single gear">
              <a:extLst>
                <a:ext uri="{FF2B5EF4-FFF2-40B4-BE49-F238E27FC236}">
                  <a16:creationId xmlns:a16="http://schemas.microsoft.com/office/drawing/2014/main" id="{BBA985CB-F44D-937F-8F59-87878FDC87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86204" y="6181354"/>
              <a:ext cx="898644" cy="898205"/>
            </a:xfrm>
            <a:prstGeom prst="rect">
              <a:avLst/>
            </a:prstGeom>
          </p:spPr>
        </p:pic>
        <p:pic>
          <p:nvPicPr>
            <p:cNvPr id="21" name="Graphic 20" descr="Single gear">
              <a:extLst>
                <a:ext uri="{FF2B5EF4-FFF2-40B4-BE49-F238E27FC236}">
                  <a16:creationId xmlns:a16="http://schemas.microsoft.com/office/drawing/2014/main" id="{7592924A-6338-642C-64AC-95D36A8F43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51733" y="6181354"/>
              <a:ext cx="898644" cy="898205"/>
            </a:xfrm>
            <a:prstGeom prst="rect">
              <a:avLst/>
            </a:prstGeom>
          </p:spPr>
        </p:pic>
        <p:pic>
          <p:nvPicPr>
            <p:cNvPr id="22" name="Graphic 21" descr="Single gear">
              <a:extLst>
                <a:ext uri="{FF2B5EF4-FFF2-40B4-BE49-F238E27FC236}">
                  <a16:creationId xmlns:a16="http://schemas.microsoft.com/office/drawing/2014/main" id="{EE34D60B-3666-2B2C-1F32-65AB4EA9A94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17262" y="6178709"/>
              <a:ext cx="898644" cy="898205"/>
            </a:xfrm>
            <a:prstGeom prst="rect">
              <a:avLst/>
            </a:prstGeom>
          </p:spPr>
        </p:pic>
        <p:pic>
          <p:nvPicPr>
            <p:cNvPr id="23" name="Graphic 22" descr="Single gear">
              <a:extLst>
                <a:ext uri="{FF2B5EF4-FFF2-40B4-BE49-F238E27FC236}">
                  <a16:creationId xmlns:a16="http://schemas.microsoft.com/office/drawing/2014/main" id="{C7679E24-545B-FA0E-D4D1-0B71FD5462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92674" y="6178709"/>
              <a:ext cx="898644" cy="898205"/>
            </a:xfrm>
            <a:prstGeom prst="rect">
              <a:avLst/>
            </a:prstGeom>
          </p:spPr>
        </p:pic>
        <p:sp>
          <p:nvSpPr>
            <p:cNvPr id="37" name="TextBox 36">
              <a:extLst>
                <a:ext uri="{FF2B5EF4-FFF2-40B4-BE49-F238E27FC236}">
                  <a16:creationId xmlns:a16="http://schemas.microsoft.com/office/drawing/2014/main" id="{F79FCE3C-AACE-8945-33D0-DE6A7574932E}"/>
                </a:ext>
              </a:extLst>
            </p:cNvPr>
            <p:cNvSpPr txBox="1"/>
            <p:nvPr/>
          </p:nvSpPr>
          <p:spPr>
            <a:xfrm>
              <a:off x="5480560" y="6216215"/>
              <a:ext cx="769763" cy="584775"/>
            </a:xfrm>
            <a:prstGeom prst="rect">
              <a:avLst/>
            </a:prstGeom>
            <a:noFill/>
          </p:spPr>
          <p:txBody>
            <a:bodyPr wrap="none" rtlCol="0" anchor="ctr">
              <a:spAutoFit/>
            </a:bodyPr>
            <a:lstStyle/>
            <a:p>
              <a:pPr algn="ctr">
                <a:defRPr/>
              </a:pPr>
              <a:r>
                <a:rPr lang="en-MX" sz="3200" b="1" kern="0">
                  <a:solidFill>
                    <a:srgbClr val="1F937E"/>
                  </a:solidFill>
                  <a:latin typeface="Segoe Sans Display"/>
                  <a:cs typeface="Segoe UI Semibold" panose="020B0502040204020203" pitchFamily="34" charset="0"/>
                </a:rPr>
                <a:t>…..</a:t>
              </a:r>
            </a:p>
          </p:txBody>
        </p:sp>
        <p:pic>
          <p:nvPicPr>
            <p:cNvPr id="44" name="Graphic 43" descr="Single gear">
              <a:extLst>
                <a:ext uri="{FF2B5EF4-FFF2-40B4-BE49-F238E27FC236}">
                  <a16:creationId xmlns:a16="http://schemas.microsoft.com/office/drawing/2014/main" id="{DF1B0A19-C772-0B35-3EBA-C163079FA3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78897" y="7934820"/>
              <a:ext cx="898644" cy="898205"/>
            </a:xfrm>
            <a:prstGeom prst="rect">
              <a:avLst/>
            </a:prstGeom>
          </p:spPr>
        </p:pic>
        <p:pic>
          <p:nvPicPr>
            <p:cNvPr id="45" name="Graphic 44" descr="Single gear">
              <a:extLst>
                <a:ext uri="{FF2B5EF4-FFF2-40B4-BE49-F238E27FC236}">
                  <a16:creationId xmlns:a16="http://schemas.microsoft.com/office/drawing/2014/main" id="{90C60538-E492-554A-4805-4F664F96B6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4426" y="7932175"/>
              <a:ext cx="898644" cy="898205"/>
            </a:xfrm>
            <a:prstGeom prst="rect">
              <a:avLst/>
            </a:prstGeom>
          </p:spPr>
        </p:pic>
        <p:pic>
          <p:nvPicPr>
            <p:cNvPr id="46" name="Graphic 45" descr="Single gear">
              <a:extLst>
                <a:ext uri="{FF2B5EF4-FFF2-40B4-BE49-F238E27FC236}">
                  <a16:creationId xmlns:a16="http://schemas.microsoft.com/office/drawing/2014/main" id="{96F33020-A9F9-DF09-A89F-A9CD49BFDC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19838" y="7932175"/>
              <a:ext cx="898644" cy="898205"/>
            </a:xfrm>
            <a:prstGeom prst="rect">
              <a:avLst/>
            </a:prstGeom>
          </p:spPr>
        </p:pic>
        <p:sp>
          <p:nvSpPr>
            <p:cNvPr id="47" name="TextBox 46">
              <a:extLst>
                <a:ext uri="{FF2B5EF4-FFF2-40B4-BE49-F238E27FC236}">
                  <a16:creationId xmlns:a16="http://schemas.microsoft.com/office/drawing/2014/main" id="{847BA6AE-B9C4-DC3C-0BB9-7A91A1C32512}"/>
                </a:ext>
              </a:extLst>
            </p:cNvPr>
            <p:cNvSpPr txBox="1"/>
            <p:nvPr/>
          </p:nvSpPr>
          <p:spPr>
            <a:xfrm>
              <a:off x="4607724" y="7969681"/>
              <a:ext cx="769763" cy="584775"/>
            </a:xfrm>
            <a:prstGeom prst="rect">
              <a:avLst/>
            </a:prstGeom>
            <a:noFill/>
          </p:spPr>
          <p:txBody>
            <a:bodyPr wrap="none" rtlCol="0" anchor="ctr">
              <a:spAutoFit/>
            </a:bodyPr>
            <a:lstStyle/>
            <a:p>
              <a:pPr algn="ctr">
                <a:defRPr/>
              </a:pPr>
              <a:r>
                <a:rPr lang="en-MX" sz="3200" b="1" kern="0">
                  <a:solidFill>
                    <a:srgbClr val="1F937E"/>
                  </a:solidFill>
                  <a:latin typeface="Segoe Sans Display"/>
                  <a:cs typeface="Segoe UI Semibold" panose="020B0502040204020203" pitchFamily="34" charset="0"/>
                </a:rPr>
                <a:t>…..</a:t>
              </a:r>
            </a:p>
          </p:txBody>
        </p:sp>
      </p:grpSp>
      <p:sp>
        <p:nvSpPr>
          <p:cNvPr id="9" name="Slide Number Placeholder 5">
            <a:extLst>
              <a:ext uri="{FF2B5EF4-FFF2-40B4-BE49-F238E27FC236}">
                <a16:creationId xmlns:a16="http://schemas.microsoft.com/office/drawing/2014/main" id="{B2839412-8FB3-46FB-8E74-84F8882F9C01}"/>
              </a:ext>
            </a:extLst>
          </p:cNvPr>
          <p:cNvSpPr txBox="1">
            <a:spLocks/>
          </p:cNvSpPr>
          <p:nvPr/>
        </p:nvSpPr>
        <p:spPr>
          <a:xfrm>
            <a:off x="607809" y="6311900"/>
            <a:ext cx="399288"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356FBF-028C-F74E-A7B4-9B8ED246DD1B}" type="slidenum">
              <a:rPr lang="en-US" smtClean="0">
                <a:solidFill>
                  <a:srgbClr val="FFFEFB"/>
                </a:solidFill>
                <a:latin typeface="Segoe Sans Display"/>
              </a:rPr>
              <a:pPr/>
              <a:t>14</a:t>
            </a:fld>
            <a:endParaRPr lang="en-US">
              <a:solidFill>
                <a:srgbClr val="FFFEFB"/>
              </a:solidFill>
              <a:latin typeface="Segoe Sans Display"/>
            </a:endParaRPr>
          </a:p>
        </p:txBody>
      </p:sp>
      <p:sp>
        <p:nvSpPr>
          <p:cNvPr id="8" name="Footer Placeholder 4">
            <a:extLst>
              <a:ext uri="{FF2B5EF4-FFF2-40B4-BE49-F238E27FC236}">
                <a16:creationId xmlns:a16="http://schemas.microsoft.com/office/drawing/2014/main" id="{92D9B955-D4C7-9EAD-F1A2-10BD7FF71068}"/>
              </a:ext>
            </a:extLst>
          </p:cNvPr>
          <p:cNvSpPr txBox="1">
            <a:spLocks/>
          </p:cNvSpPr>
          <p:nvPr/>
        </p:nvSpPr>
        <p:spPr>
          <a:xfrm>
            <a:off x="1007097" y="6311900"/>
            <a:ext cx="2078736"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FFFEFB"/>
                </a:solidFill>
                <a:latin typeface="Segoe Sans Display"/>
              </a:rPr>
              <a:t>Microsoft Fabric</a:t>
            </a:r>
          </a:p>
        </p:txBody>
      </p:sp>
    </p:spTree>
    <p:extLst>
      <p:ext uri="{BB962C8B-B14F-4D97-AF65-F5344CB8AC3E}">
        <p14:creationId xmlns:p14="http://schemas.microsoft.com/office/powerpoint/2010/main" val="13269743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F0CD8-A37E-E7ED-1E75-C5D4F7773A74}"/>
            </a:ext>
          </a:extLst>
        </p:cNvPr>
        <p:cNvGrpSpPr/>
        <p:nvPr/>
      </p:nvGrpSpPr>
      <p:grpSpPr>
        <a:xfrm>
          <a:off x="0" y="0"/>
          <a:ext cx="0" cy="0"/>
          <a:chOff x="0" y="0"/>
          <a:chExt cx="0" cy="0"/>
        </a:xfrm>
      </p:grpSpPr>
      <p:sp>
        <p:nvSpPr>
          <p:cNvPr id="158" name="Rectangle 157">
            <a:extLst>
              <a:ext uri="{FF2B5EF4-FFF2-40B4-BE49-F238E27FC236}">
                <a16:creationId xmlns:a16="http://schemas.microsoft.com/office/drawing/2014/main" id="{0B94DD1D-0DC2-C8D1-6DE0-F5A568BBEFF2}"/>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Title 161">
            <a:extLst>
              <a:ext uri="{FF2B5EF4-FFF2-40B4-BE49-F238E27FC236}">
                <a16:creationId xmlns:a16="http://schemas.microsoft.com/office/drawing/2014/main" id="{F1F6A18E-3E73-9C1E-71D3-7E49EBF7400E}"/>
              </a:ext>
            </a:extLst>
          </p:cNvPr>
          <p:cNvSpPr>
            <a:spLocks noGrp="1"/>
          </p:cNvSpPr>
          <p:nvPr>
            <p:ph type="title"/>
          </p:nvPr>
        </p:nvSpPr>
        <p:spPr>
          <a:xfrm>
            <a:off x="581025" y="365125"/>
            <a:ext cx="11029950" cy="549275"/>
          </a:xfrm>
        </p:spPr>
        <p:txBody>
          <a:bodyPr anchor="t"/>
          <a:lstStyle/>
          <a:p>
            <a:pPr lvl="0"/>
            <a:r>
              <a:rPr lang="en-US" noProof="0">
                <a:solidFill>
                  <a:srgbClr val="FFFDF9"/>
                </a:solidFill>
              </a:rPr>
              <a:t>Automatic</a:t>
            </a:r>
            <a:br>
              <a:rPr lang="en-US" noProof="0">
                <a:solidFill>
                  <a:srgbClr val="FFFDF9"/>
                </a:solidFill>
              </a:rPr>
            </a:br>
            <a:r>
              <a:rPr lang="en-US" noProof="0">
                <a:solidFill>
                  <a:srgbClr val="FFFDF9"/>
                </a:solidFill>
              </a:rPr>
              <a:t>multi-tiered caching</a:t>
            </a:r>
          </a:p>
        </p:txBody>
      </p:sp>
      <p:sp>
        <p:nvSpPr>
          <p:cNvPr id="2" name="Rectangle: Rounded Corners 19">
            <a:extLst>
              <a:ext uri="{FF2B5EF4-FFF2-40B4-BE49-F238E27FC236}">
                <a16:creationId xmlns:a16="http://schemas.microsoft.com/office/drawing/2014/main" id="{106E277A-61A6-8E15-BC4B-AA285A037ADD}"/>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rgbClr val="8661C5">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Sans Display"/>
              <a:ea typeface="+mn-ea"/>
              <a:cs typeface="+mn-cs"/>
            </a:endParaRPr>
          </a:p>
        </p:txBody>
      </p:sp>
      <p:sp>
        <p:nvSpPr>
          <p:cNvPr id="3" name="Graphic 51">
            <a:extLst>
              <a:ext uri="{FF2B5EF4-FFF2-40B4-BE49-F238E27FC236}">
                <a16:creationId xmlns:a16="http://schemas.microsoft.com/office/drawing/2014/main" id="{62A3486E-8E49-DACE-C8BD-BB13FF83576D}"/>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rgbClr val="49C5B1">
              <a:lumMod val="60000"/>
              <a:lumOff val="40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25B61"/>
              </a:solidFill>
              <a:effectLst/>
              <a:uLnTx/>
              <a:uFillTx/>
              <a:latin typeface="Segoe Sans Display"/>
            </a:endParaRPr>
          </a:p>
        </p:txBody>
      </p:sp>
      <p:sp>
        <p:nvSpPr>
          <p:cNvPr id="12" name="Rectangle: Rounded Corners 8">
            <a:extLst>
              <a:ext uri="{FF2B5EF4-FFF2-40B4-BE49-F238E27FC236}">
                <a16:creationId xmlns:a16="http://schemas.microsoft.com/office/drawing/2014/main" id="{92B35C45-CF73-F3F4-05A5-CE6833666097}"/>
              </a:ext>
              <a:ext uri="{C183D7F6-B498-43B3-948B-1728B52AA6E4}">
                <adec:decorative xmlns:adec="http://schemas.microsoft.com/office/drawing/2017/decorative" val="1"/>
              </a:ext>
            </a:extLst>
          </p:cNvPr>
          <p:cNvSpPr/>
          <p:nvPr/>
        </p:nvSpPr>
        <p:spPr>
          <a:xfrm>
            <a:off x="4930637" y="764855"/>
            <a:ext cx="6694126" cy="5253980"/>
          </a:xfrm>
          <a:prstGeom prst="roundRect">
            <a:avLst>
              <a:gd name="adj" fmla="val 5180"/>
            </a:avLst>
          </a:prstGeom>
          <a:solidFill>
            <a:srgbClr val="F9F9F9">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endPar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Sans Display"/>
              <a:ea typeface="+mn-ea"/>
              <a:cs typeface="+mn-cs"/>
            </a:endParaRPr>
          </a:p>
        </p:txBody>
      </p:sp>
      <p:pic>
        <p:nvPicPr>
          <p:cNvPr id="154" name="Picture 153" descr="Data warehouse logo">
            <a:extLst>
              <a:ext uri="{FF2B5EF4-FFF2-40B4-BE49-F238E27FC236}">
                <a16:creationId xmlns:a16="http://schemas.microsoft.com/office/drawing/2014/main" id="{ECBFA7B9-FC34-B3D6-D09E-E12D228B028F}"/>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617785" y="131716"/>
            <a:ext cx="410912" cy="411714"/>
          </a:xfrm>
          <a:prstGeom prst="rect">
            <a:avLst/>
          </a:prstGeom>
          <a:noFill/>
        </p:spPr>
      </p:pic>
      <p:sp>
        <p:nvSpPr>
          <p:cNvPr id="153" name="TextBox 152">
            <a:extLst>
              <a:ext uri="{FF2B5EF4-FFF2-40B4-BE49-F238E27FC236}">
                <a16:creationId xmlns:a16="http://schemas.microsoft.com/office/drawing/2014/main" id="{CA52DDEB-D9F9-0B0B-B210-B852A6F6C07B}"/>
              </a:ext>
            </a:extLst>
          </p:cNvPr>
          <p:cNvSpPr txBox="1"/>
          <p:nvPr/>
        </p:nvSpPr>
        <p:spPr>
          <a:xfrm>
            <a:off x="581025" y="1487922"/>
            <a:ext cx="3472915" cy="1231106"/>
          </a:xfrm>
          <a:prstGeom prst="rect">
            <a:avLst/>
          </a:prstGeom>
          <a:noFill/>
        </p:spPr>
        <p:txBody>
          <a:bodyPr wrap="square" lIns="0" tIns="0" rIns="0" bIns="0">
            <a:spAutoFit/>
          </a:bodyPr>
          <a:lstStyle/>
          <a:p>
            <a:pPr defTabSz="914367">
              <a:spcAft>
                <a:spcPts val="1200"/>
              </a:spcAft>
              <a:defRPr/>
            </a:pPr>
            <a:r>
              <a:rPr lang="en-US" sz="1400">
                <a:solidFill>
                  <a:srgbClr val="FFFFFF"/>
                </a:solidFill>
                <a:cs typeface="Segoe Sans Text" pitchFamily="2" charset="0"/>
              </a:rPr>
              <a:t>Get best performance out of the box</a:t>
            </a:r>
          </a:p>
          <a:p>
            <a:pPr defTabSz="914367">
              <a:spcAft>
                <a:spcPts val="1200"/>
              </a:spcAft>
              <a:defRPr/>
            </a:pPr>
            <a:r>
              <a:rPr lang="en-US" sz="1400">
                <a:solidFill>
                  <a:srgbClr val="FFFFFF"/>
                </a:solidFill>
                <a:cs typeface="Segoe Sans Text" pitchFamily="2" charset="0"/>
              </a:rPr>
              <a:t>Automatic caching at multiple tiers provides top performance for queries out-of-the-box and reduces management and tuning overhead</a:t>
            </a:r>
          </a:p>
        </p:txBody>
      </p:sp>
      <p:cxnSp>
        <p:nvCxnSpPr>
          <p:cNvPr id="37" name="Straight Connector 36">
            <a:extLst>
              <a:ext uri="{FF2B5EF4-FFF2-40B4-BE49-F238E27FC236}">
                <a16:creationId xmlns:a16="http://schemas.microsoft.com/office/drawing/2014/main" id="{E10D8E62-6363-E844-2CB1-92A271652ED7}"/>
              </a:ext>
              <a:ext uri="{C183D7F6-B498-43B3-948B-1728B52AA6E4}">
                <adec:decorative xmlns:adec="http://schemas.microsoft.com/office/drawing/2017/decorative" val="1"/>
              </a:ext>
            </a:extLst>
          </p:cNvPr>
          <p:cNvCxnSpPr>
            <a:cxnSpLocks/>
          </p:cNvCxnSpPr>
          <p:nvPr/>
        </p:nvCxnSpPr>
        <p:spPr>
          <a:xfrm>
            <a:off x="581025" y="2904614"/>
            <a:ext cx="3472915" cy="0"/>
          </a:xfrm>
          <a:prstGeom prst="line">
            <a:avLst/>
          </a:prstGeom>
          <a:noFill/>
          <a:ln w="12700" cap="flat" cmpd="sng" algn="ctr">
            <a:solidFill>
              <a:srgbClr val="FFFEF9"/>
            </a:solidFill>
            <a:prstDash val="solid"/>
            <a:miter lim="800000"/>
          </a:ln>
          <a:effectLst/>
        </p:spPr>
      </p:cxnSp>
      <p:sp>
        <p:nvSpPr>
          <p:cNvPr id="152" name="TextBox 151">
            <a:extLst>
              <a:ext uri="{FF2B5EF4-FFF2-40B4-BE49-F238E27FC236}">
                <a16:creationId xmlns:a16="http://schemas.microsoft.com/office/drawing/2014/main" id="{BF37E602-8BC9-1FCE-0B1A-A406BA43EDA0}"/>
              </a:ext>
            </a:extLst>
          </p:cNvPr>
          <p:cNvSpPr txBox="1"/>
          <p:nvPr/>
        </p:nvSpPr>
        <p:spPr>
          <a:xfrm>
            <a:off x="581025" y="3090200"/>
            <a:ext cx="3744055" cy="1526572"/>
          </a:xfrm>
          <a:prstGeom prst="rect">
            <a:avLst/>
          </a:prstGeom>
          <a:noFill/>
        </p:spPr>
        <p:txBody>
          <a:bodyPr wrap="square" lIns="0" tIns="0" rIns="0" bIns="0" rtlCol="0" anchor="t">
            <a:spAutoFit/>
          </a:bodyPr>
          <a:lstStyle/>
          <a:p>
            <a:pPr defTabSz="914367">
              <a:lnSpc>
                <a:spcPct val="105000"/>
              </a:lnSpc>
              <a:spcAft>
                <a:spcPts val="300"/>
              </a:spcAft>
              <a:defRPr/>
            </a:pPr>
            <a:r>
              <a:rPr lang="en-US" sz="1400" i="1">
                <a:solidFill>
                  <a:srgbClr val="FFFFFF"/>
                </a:solidFill>
                <a:latin typeface="Segoe Sans Display Semibold" pitchFamily="2" charset="0"/>
                <a:cs typeface="Segoe Sans Display Semibold" pitchFamily="2" charset="0"/>
              </a:rPr>
              <a:t>Key Capabilities: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Memory caching offers the lowest latency and is designed to store the most frequently accessed data</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SSD caching reduces latency in fetching from OneLake </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Result set caching provides instant performance for repetitive queries </a:t>
            </a:r>
          </a:p>
        </p:txBody>
      </p:sp>
      <p:grpSp>
        <p:nvGrpSpPr>
          <p:cNvPr id="86" name="Group 85" descr="visual containing a rectangle at the top middle labeled 'SQL Frontend'. In the middle is a rectangle labeled 'Backend Compute Pool' with three wheel and cylinder icons, below this is a rectangle with smaller cubes in it, and on the bottom is a rectangle labeled 'OneLake' with 11 paper file icons in it">
            <a:extLst>
              <a:ext uri="{FF2B5EF4-FFF2-40B4-BE49-F238E27FC236}">
                <a16:creationId xmlns:a16="http://schemas.microsoft.com/office/drawing/2014/main" id="{C0115C9E-05E6-17F8-EE82-6D0B167538AF}"/>
              </a:ext>
            </a:extLst>
          </p:cNvPr>
          <p:cNvGrpSpPr/>
          <p:nvPr/>
        </p:nvGrpSpPr>
        <p:grpSpPr>
          <a:xfrm>
            <a:off x="6016850" y="1128194"/>
            <a:ext cx="4502520" cy="4544762"/>
            <a:chOff x="6016850" y="1128194"/>
            <a:chExt cx="4502520" cy="4544762"/>
          </a:xfrm>
        </p:grpSpPr>
        <p:sp>
          <p:nvSpPr>
            <p:cNvPr id="87" name="Rounded Rectangle 13">
              <a:extLst>
                <a:ext uri="{FF2B5EF4-FFF2-40B4-BE49-F238E27FC236}">
                  <a16:creationId xmlns:a16="http://schemas.microsoft.com/office/drawing/2014/main" id="{3499E127-851F-0095-D79A-CBDB77E6AA73}"/>
                </a:ext>
                <a:ext uri="{C183D7F6-B498-43B3-948B-1728B52AA6E4}">
                  <adec:decorative xmlns:adec="http://schemas.microsoft.com/office/drawing/2017/decorative" val="1"/>
                </a:ext>
              </a:extLst>
            </p:cNvPr>
            <p:cNvSpPr/>
            <p:nvPr/>
          </p:nvSpPr>
          <p:spPr>
            <a:xfrm>
              <a:off x="6939541" y="3881861"/>
              <a:ext cx="1841798" cy="648738"/>
            </a:xfrm>
            <a:prstGeom prst="roundRect">
              <a:avLst>
                <a:gd name="adj" fmla="val 15207"/>
              </a:avLst>
            </a:prstGeom>
            <a:solidFill>
              <a:srgbClr val="FFFFFF"/>
            </a:solidFill>
            <a:ln w="31750" cap="flat">
              <a:gradFill flip="none" rotWithShape="1">
                <a:gsLst>
                  <a:gs pos="0">
                    <a:srgbClr val="49C5B1"/>
                  </a:gs>
                  <a:gs pos="100000">
                    <a:srgbClr val="C03BC3"/>
                  </a:gs>
                </a:gsLst>
                <a:lin ang="2700000" scaled="1"/>
                <a:tileRect/>
              </a:gradFill>
              <a:prstDash val="solid"/>
              <a:miter/>
            </a:ln>
            <a:effectLst>
              <a:outerShdw blurRad="254000" dist="38100" dir="2700000" algn="ctr" rotWithShape="0">
                <a:srgbClr val="454142">
                  <a:alpha val="20000"/>
                </a:srgbClr>
              </a:outerShdw>
            </a:effectLst>
          </p:spPr>
          <p:txBody>
            <a:bodyPr lIns="73152" rIns="7315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srgbClr val="001919"/>
                </a:solidFill>
                <a:effectLst/>
                <a:uLnTx/>
                <a:uFillTx/>
                <a:latin typeface="Segoe Sans Display"/>
                <a:cs typeface="Segoe UI Semibold" panose="020B0502040204020203" pitchFamily="34" charset="0"/>
              </a:endParaRPr>
            </a:p>
          </p:txBody>
        </p:sp>
        <p:sp>
          <p:nvSpPr>
            <p:cNvPr id="88" name="Rounded Rectangle 13">
              <a:extLst>
                <a:ext uri="{FF2B5EF4-FFF2-40B4-BE49-F238E27FC236}">
                  <a16:creationId xmlns:a16="http://schemas.microsoft.com/office/drawing/2014/main" id="{58587C6A-94FA-3E20-9C00-D9241F11D668}"/>
                </a:ext>
                <a:ext uri="{C183D7F6-B498-43B3-948B-1728B52AA6E4}">
                  <adec:decorative xmlns:adec="http://schemas.microsoft.com/office/drawing/2017/decorative" val="1"/>
                </a:ext>
              </a:extLst>
            </p:cNvPr>
            <p:cNvSpPr/>
            <p:nvPr/>
          </p:nvSpPr>
          <p:spPr>
            <a:xfrm>
              <a:off x="6016850" y="4836502"/>
              <a:ext cx="4502520" cy="836454"/>
            </a:xfrm>
            <a:prstGeom prst="roundRect">
              <a:avLst>
                <a:gd name="adj" fmla="val 15207"/>
              </a:avLst>
            </a:prstGeom>
            <a:solidFill>
              <a:srgbClr val="FFFFFF"/>
            </a:solidFill>
            <a:ln w="31750" cap="flat">
              <a:gradFill flip="none" rotWithShape="1">
                <a:gsLst>
                  <a:gs pos="0">
                    <a:srgbClr val="49C5B1"/>
                  </a:gs>
                  <a:gs pos="100000">
                    <a:srgbClr val="C03BC3"/>
                  </a:gs>
                </a:gsLst>
                <a:lin ang="2700000" scaled="1"/>
                <a:tileRect/>
              </a:gradFill>
              <a:prstDash val="solid"/>
              <a:miter/>
            </a:ln>
            <a:effectLst>
              <a:outerShdw blurRad="254000" dist="38100" dir="2700000" algn="ctr" rotWithShape="0">
                <a:srgbClr val="454142">
                  <a:alpha val="20000"/>
                </a:srgbClr>
              </a:outerShdw>
            </a:effectLst>
          </p:spPr>
          <p:txBody>
            <a:bodyPr lIns="73152" rIns="7315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srgbClr val="001919"/>
                </a:solidFill>
                <a:effectLst/>
                <a:uLnTx/>
                <a:uFillTx/>
                <a:latin typeface="Segoe Sans Display"/>
                <a:cs typeface="Segoe UI Semibold" panose="020B0502040204020203" pitchFamily="34" charset="0"/>
              </a:endParaRPr>
            </a:p>
          </p:txBody>
        </p:sp>
        <p:sp>
          <p:nvSpPr>
            <p:cNvPr id="89" name="Rounded Rectangle 13">
              <a:extLst>
                <a:ext uri="{FF2B5EF4-FFF2-40B4-BE49-F238E27FC236}">
                  <a16:creationId xmlns:a16="http://schemas.microsoft.com/office/drawing/2014/main" id="{7ED31367-61FD-72C9-8C2F-49CDCB054F58}"/>
                </a:ext>
                <a:ext uri="{C183D7F6-B498-43B3-948B-1728B52AA6E4}">
                  <adec:decorative xmlns:adec="http://schemas.microsoft.com/office/drawing/2017/decorative" val="1"/>
                </a:ext>
              </a:extLst>
            </p:cNvPr>
            <p:cNvSpPr/>
            <p:nvPr/>
          </p:nvSpPr>
          <p:spPr>
            <a:xfrm>
              <a:off x="6175679" y="2206857"/>
              <a:ext cx="3436842" cy="1328696"/>
            </a:xfrm>
            <a:prstGeom prst="roundRect">
              <a:avLst>
                <a:gd name="adj" fmla="val 15207"/>
              </a:avLst>
            </a:prstGeom>
            <a:solidFill>
              <a:srgbClr val="FFFFFF"/>
            </a:solidFill>
            <a:ln w="31750" cap="flat">
              <a:gradFill flip="none" rotWithShape="1">
                <a:gsLst>
                  <a:gs pos="0">
                    <a:srgbClr val="49C5B1"/>
                  </a:gs>
                  <a:gs pos="100000">
                    <a:srgbClr val="C03BC3"/>
                  </a:gs>
                </a:gsLst>
                <a:lin ang="2700000" scaled="1"/>
                <a:tileRect/>
              </a:gradFill>
              <a:prstDash val="solid"/>
              <a:miter/>
            </a:ln>
            <a:effectLst>
              <a:outerShdw blurRad="254000" dist="38100" dir="2700000" algn="ctr" rotWithShape="0">
                <a:srgbClr val="454142">
                  <a:alpha val="20000"/>
                </a:srgbClr>
              </a:outerShdw>
            </a:effectLst>
          </p:spPr>
          <p:txBody>
            <a:bodyPr lIns="73152" rIns="7315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srgbClr val="001919"/>
                </a:solidFill>
                <a:effectLst/>
                <a:uLnTx/>
                <a:uFillTx/>
                <a:latin typeface="Segoe Sans Display"/>
                <a:cs typeface="Segoe UI Semibold" panose="020B0502040204020203" pitchFamily="34" charset="0"/>
              </a:endParaRPr>
            </a:p>
          </p:txBody>
        </p:sp>
        <p:sp>
          <p:nvSpPr>
            <p:cNvPr id="90" name="Rounded Rectangle 13">
              <a:extLst>
                <a:ext uri="{FF2B5EF4-FFF2-40B4-BE49-F238E27FC236}">
                  <a16:creationId xmlns:a16="http://schemas.microsoft.com/office/drawing/2014/main" id="{3822819A-847A-9AED-F33E-2333AFD31723}"/>
                </a:ext>
                <a:ext uri="{C183D7F6-B498-43B3-948B-1728B52AA6E4}">
                  <adec:decorative xmlns:adec="http://schemas.microsoft.com/office/drawing/2017/decorative" val="1"/>
                </a:ext>
              </a:extLst>
            </p:cNvPr>
            <p:cNvSpPr/>
            <p:nvPr/>
          </p:nvSpPr>
          <p:spPr>
            <a:xfrm>
              <a:off x="7251866" y="1128194"/>
              <a:ext cx="1330037" cy="712752"/>
            </a:xfrm>
            <a:prstGeom prst="roundRect">
              <a:avLst>
                <a:gd name="adj" fmla="val 15207"/>
              </a:avLst>
            </a:prstGeom>
            <a:solidFill>
              <a:srgbClr val="FFFFFF"/>
            </a:solidFill>
            <a:ln w="31750" cap="flat">
              <a:gradFill flip="none" rotWithShape="1">
                <a:gsLst>
                  <a:gs pos="0">
                    <a:srgbClr val="49C5B1"/>
                  </a:gs>
                  <a:gs pos="100000">
                    <a:srgbClr val="C03BC3"/>
                  </a:gs>
                </a:gsLst>
                <a:lin ang="2700000" scaled="1"/>
                <a:tileRect/>
              </a:gradFill>
              <a:prstDash val="solid"/>
              <a:miter/>
            </a:ln>
            <a:effectLst>
              <a:outerShdw blurRad="254000" dist="38100" dir="2700000" algn="ctr" rotWithShape="0">
                <a:srgbClr val="454142">
                  <a:alpha val="20000"/>
                </a:srgbClr>
              </a:outerShdw>
            </a:effectLst>
          </p:spPr>
          <p:txBody>
            <a:bodyPr lIns="73152" rIns="73152" rtlCol="0" anchor="ctr"/>
            <a:lstStyle/>
            <a:p>
              <a:pPr algn="ctr">
                <a:defRPr/>
              </a:pPr>
              <a:r>
                <a:rPr lang="en-US" sz="1200" b="1" kern="0">
                  <a:solidFill>
                    <a:schemeClr val="bg1"/>
                  </a:solidFill>
                  <a:latin typeface="Segoe Sans Display Semibold" pitchFamily="2" charset="0"/>
                  <a:cs typeface="Segoe Sans Display Semibold" pitchFamily="2" charset="0"/>
                </a:rPr>
                <a:t>SQL Frontend</a:t>
              </a:r>
            </a:p>
          </p:txBody>
        </p:sp>
        <p:sp>
          <p:nvSpPr>
            <p:cNvPr id="91" name="Rectangle: Rounded Corners 5">
              <a:extLst>
                <a:ext uri="{FF2B5EF4-FFF2-40B4-BE49-F238E27FC236}">
                  <a16:creationId xmlns:a16="http://schemas.microsoft.com/office/drawing/2014/main" id="{8AF6C6F0-88D2-6DD8-678E-33F426A809ED}"/>
                </a:ext>
              </a:extLst>
            </p:cNvPr>
            <p:cNvSpPr>
              <a:spLocks noChangeAspect="1"/>
            </p:cNvSpPr>
            <p:nvPr/>
          </p:nvSpPr>
          <p:spPr>
            <a:xfrm>
              <a:off x="6793513" y="2574468"/>
              <a:ext cx="681232" cy="680899"/>
            </a:xfrm>
            <a:prstGeom prst="roundRect">
              <a:avLst/>
            </a:prstGeom>
            <a:solidFill>
              <a:srgbClr val="FFFFFF"/>
            </a:solidFill>
            <a:ln w="15875" cap="flat" cmpd="sng" algn="ctr">
              <a:solidFill>
                <a:srgbClr val="2AAC9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80808"/>
                </a:solidFill>
                <a:effectLst/>
                <a:uLnTx/>
                <a:uFillTx/>
                <a:latin typeface="Segoe Sans Display"/>
              </a:endParaRPr>
            </a:p>
          </p:txBody>
        </p:sp>
        <p:pic>
          <p:nvPicPr>
            <p:cNvPr id="92" name="Graphic 91" descr="Single gear">
              <a:extLst>
                <a:ext uri="{FF2B5EF4-FFF2-40B4-BE49-F238E27FC236}">
                  <a16:creationId xmlns:a16="http://schemas.microsoft.com/office/drawing/2014/main" id="{DB139BC0-5D8D-7E40-FE8D-9EDACCEAF0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93602" y="2548751"/>
              <a:ext cx="681232" cy="680899"/>
            </a:xfrm>
            <a:prstGeom prst="rect">
              <a:avLst/>
            </a:prstGeom>
          </p:spPr>
        </p:pic>
        <p:sp>
          <p:nvSpPr>
            <p:cNvPr id="93" name="Rectangle: Rounded Corners 8">
              <a:extLst>
                <a:ext uri="{FF2B5EF4-FFF2-40B4-BE49-F238E27FC236}">
                  <a16:creationId xmlns:a16="http://schemas.microsoft.com/office/drawing/2014/main" id="{70910C15-AE67-9FEB-F169-9B6E62D60360}"/>
                </a:ext>
              </a:extLst>
            </p:cNvPr>
            <p:cNvSpPr>
              <a:spLocks noChangeAspect="1"/>
            </p:cNvSpPr>
            <p:nvPr/>
          </p:nvSpPr>
          <p:spPr>
            <a:xfrm>
              <a:off x="7518774" y="2574468"/>
              <a:ext cx="681232" cy="680899"/>
            </a:xfrm>
            <a:prstGeom prst="roundRect">
              <a:avLst/>
            </a:prstGeom>
            <a:solidFill>
              <a:srgbClr val="FFFFFF"/>
            </a:solidFill>
            <a:ln w="15875" cap="flat" cmpd="sng" algn="ctr">
              <a:solidFill>
                <a:srgbClr val="2AAC9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80808"/>
                </a:solidFill>
                <a:effectLst/>
                <a:uLnTx/>
                <a:uFillTx/>
                <a:latin typeface="Segoe Sans Display"/>
              </a:endParaRPr>
            </a:p>
          </p:txBody>
        </p:sp>
        <p:pic>
          <p:nvPicPr>
            <p:cNvPr id="94" name="Graphic 93" descr="Single gear">
              <a:extLst>
                <a:ext uri="{FF2B5EF4-FFF2-40B4-BE49-F238E27FC236}">
                  <a16:creationId xmlns:a16="http://schemas.microsoft.com/office/drawing/2014/main" id="{46AE8103-3B49-C680-D30D-6B120AD6271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23020" y="2548751"/>
              <a:ext cx="681232" cy="680899"/>
            </a:xfrm>
            <a:prstGeom prst="rect">
              <a:avLst/>
            </a:prstGeom>
          </p:spPr>
        </p:pic>
        <p:sp>
          <p:nvSpPr>
            <p:cNvPr id="95" name="Rectangle: Rounded Corners 12">
              <a:extLst>
                <a:ext uri="{FF2B5EF4-FFF2-40B4-BE49-F238E27FC236}">
                  <a16:creationId xmlns:a16="http://schemas.microsoft.com/office/drawing/2014/main" id="{0074429F-81EF-E237-926A-09D537C1840C}"/>
                </a:ext>
              </a:extLst>
            </p:cNvPr>
            <p:cNvSpPr>
              <a:spLocks noChangeAspect="1"/>
            </p:cNvSpPr>
            <p:nvPr/>
          </p:nvSpPr>
          <p:spPr>
            <a:xfrm>
              <a:off x="8244035" y="2574468"/>
              <a:ext cx="681232" cy="680899"/>
            </a:xfrm>
            <a:prstGeom prst="roundRect">
              <a:avLst/>
            </a:prstGeom>
            <a:solidFill>
              <a:srgbClr val="FFFFFF"/>
            </a:solidFill>
            <a:ln w="15875" cap="flat" cmpd="sng" algn="ctr">
              <a:solidFill>
                <a:srgbClr val="2AAC9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80808"/>
                </a:solidFill>
                <a:effectLst/>
                <a:uLnTx/>
                <a:uFillTx/>
                <a:latin typeface="Segoe Sans Display"/>
              </a:endParaRPr>
            </a:p>
          </p:txBody>
        </p:sp>
        <p:pic>
          <p:nvPicPr>
            <p:cNvPr id="96" name="Graphic 95" descr="Single gear">
              <a:extLst>
                <a:ext uri="{FF2B5EF4-FFF2-40B4-BE49-F238E27FC236}">
                  <a16:creationId xmlns:a16="http://schemas.microsoft.com/office/drawing/2014/main" id="{7786E4A7-1670-F07A-766E-351C853A924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44037" y="2548751"/>
              <a:ext cx="681232" cy="680899"/>
            </a:xfrm>
            <a:prstGeom prst="rect">
              <a:avLst/>
            </a:prstGeom>
          </p:spPr>
        </p:pic>
        <p:sp>
          <p:nvSpPr>
            <p:cNvPr id="97" name="Cylinder 14">
              <a:extLst>
                <a:ext uri="{FF2B5EF4-FFF2-40B4-BE49-F238E27FC236}">
                  <a16:creationId xmlns:a16="http://schemas.microsoft.com/office/drawing/2014/main" id="{C064D36E-8094-76B9-D845-7BE3C2944648}"/>
                </a:ext>
              </a:extLst>
            </p:cNvPr>
            <p:cNvSpPr/>
            <p:nvPr/>
          </p:nvSpPr>
          <p:spPr>
            <a:xfrm>
              <a:off x="6878242" y="3152805"/>
              <a:ext cx="511774" cy="272359"/>
            </a:xfrm>
            <a:prstGeom prst="can">
              <a:avLst/>
            </a:prstGeom>
            <a:solidFill>
              <a:srgbClr val="FFFFFF"/>
            </a:solidFill>
            <a:ln w="12700" cap="flat" cmpd="sng" algn="ctr">
              <a:solidFill>
                <a:srgbClr val="2AAC9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prstClr val="black"/>
                </a:solidFill>
                <a:effectLst/>
                <a:uLnTx/>
                <a:uFillTx/>
                <a:latin typeface="Segoe Sans Display"/>
              </a:endParaRPr>
            </a:p>
          </p:txBody>
        </p:sp>
        <p:sp>
          <p:nvSpPr>
            <p:cNvPr id="98" name="Cylinder 15">
              <a:extLst>
                <a:ext uri="{FF2B5EF4-FFF2-40B4-BE49-F238E27FC236}">
                  <a16:creationId xmlns:a16="http://schemas.microsoft.com/office/drawing/2014/main" id="{836E6709-835A-33CE-C67E-1DC909791810}"/>
                </a:ext>
              </a:extLst>
            </p:cNvPr>
            <p:cNvSpPr/>
            <p:nvPr/>
          </p:nvSpPr>
          <p:spPr>
            <a:xfrm>
              <a:off x="7615433" y="3152805"/>
              <a:ext cx="511774" cy="272359"/>
            </a:xfrm>
            <a:prstGeom prst="can">
              <a:avLst/>
            </a:prstGeom>
            <a:solidFill>
              <a:srgbClr val="FFFFFF"/>
            </a:solidFill>
            <a:ln w="12700" cap="flat" cmpd="sng" algn="ctr">
              <a:solidFill>
                <a:srgbClr val="2AAC9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prstClr val="black"/>
                </a:solidFill>
                <a:effectLst/>
                <a:uLnTx/>
                <a:uFillTx/>
                <a:latin typeface="Segoe Sans Display"/>
              </a:endParaRPr>
            </a:p>
          </p:txBody>
        </p:sp>
        <p:sp>
          <p:nvSpPr>
            <p:cNvPr id="99" name="Cylinder 16">
              <a:extLst>
                <a:ext uri="{FF2B5EF4-FFF2-40B4-BE49-F238E27FC236}">
                  <a16:creationId xmlns:a16="http://schemas.microsoft.com/office/drawing/2014/main" id="{7E67C580-1267-BA3F-7CA4-0327C9027C78}"/>
                </a:ext>
              </a:extLst>
            </p:cNvPr>
            <p:cNvSpPr/>
            <p:nvPr/>
          </p:nvSpPr>
          <p:spPr>
            <a:xfrm>
              <a:off x="8326009" y="3152805"/>
              <a:ext cx="511774" cy="272359"/>
            </a:xfrm>
            <a:prstGeom prst="can">
              <a:avLst/>
            </a:prstGeom>
            <a:solidFill>
              <a:srgbClr val="FFFFFF"/>
            </a:solidFill>
            <a:ln w="12700" cap="flat" cmpd="sng" algn="ctr">
              <a:solidFill>
                <a:srgbClr val="2AAC9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prstClr val="black"/>
                </a:solidFill>
                <a:effectLst/>
                <a:uLnTx/>
                <a:uFillTx/>
                <a:latin typeface="Segoe Sans Display"/>
              </a:endParaRPr>
            </a:p>
          </p:txBody>
        </p:sp>
        <p:sp>
          <p:nvSpPr>
            <p:cNvPr id="100" name="Arrow: Up 18">
              <a:extLst>
                <a:ext uri="{FF2B5EF4-FFF2-40B4-BE49-F238E27FC236}">
                  <a16:creationId xmlns:a16="http://schemas.microsoft.com/office/drawing/2014/main" id="{B7E02139-97A0-79CA-3CA4-0C6C4D48B049}"/>
                </a:ext>
              </a:extLst>
            </p:cNvPr>
            <p:cNvSpPr/>
            <p:nvPr/>
          </p:nvSpPr>
          <p:spPr>
            <a:xfrm>
              <a:off x="7753065" y="4569294"/>
              <a:ext cx="236511" cy="220921"/>
            </a:xfrm>
            <a:prstGeom prst="upArrow">
              <a:avLst/>
            </a:prstGeom>
            <a:gradFill>
              <a:gsLst>
                <a:gs pos="100000">
                  <a:srgbClr val="3ABB9F"/>
                </a:gs>
                <a:gs pos="0">
                  <a:srgbClr val="1F937E"/>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80808"/>
                </a:solidFill>
                <a:effectLst/>
                <a:uLnTx/>
                <a:uFillTx/>
                <a:latin typeface="Segoe Sans Display"/>
              </a:endParaRPr>
            </a:p>
          </p:txBody>
        </p:sp>
        <p:grpSp>
          <p:nvGrpSpPr>
            <p:cNvPr id="101" name="Group 100">
              <a:extLst>
                <a:ext uri="{FF2B5EF4-FFF2-40B4-BE49-F238E27FC236}">
                  <a16:creationId xmlns:a16="http://schemas.microsoft.com/office/drawing/2014/main" id="{002F049C-E7F0-443C-57DE-07672DBA2D40}"/>
                </a:ext>
              </a:extLst>
            </p:cNvPr>
            <p:cNvGrpSpPr/>
            <p:nvPr/>
          </p:nvGrpSpPr>
          <p:grpSpPr>
            <a:xfrm>
              <a:off x="7038294" y="3948861"/>
              <a:ext cx="1636735" cy="526748"/>
              <a:chOff x="541638" y="3263573"/>
              <a:chExt cx="3690553" cy="1460981"/>
            </a:xfrm>
          </p:grpSpPr>
          <p:sp>
            <p:nvSpPr>
              <p:cNvPr id="120" name="Rectangle 119">
                <a:extLst>
                  <a:ext uri="{FF2B5EF4-FFF2-40B4-BE49-F238E27FC236}">
                    <a16:creationId xmlns:a16="http://schemas.microsoft.com/office/drawing/2014/main" id="{5B1838E5-3A34-3237-F5A5-06D09AD67CBE}"/>
                  </a:ext>
                </a:extLst>
              </p:cNvPr>
              <p:cNvSpPr/>
              <p:nvPr/>
            </p:nvSpPr>
            <p:spPr>
              <a:xfrm>
                <a:off x="543697" y="3337714"/>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21" name="Rectangle 120">
                <a:extLst>
                  <a:ext uri="{FF2B5EF4-FFF2-40B4-BE49-F238E27FC236}">
                    <a16:creationId xmlns:a16="http://schemas.microsoft.com/office/drawing/2014/main" id="{7CBC2A22-5C4B-E95B-EAFA-8DAE27B86C63}"/>
                  </a:ext>
                </a:extLst>
              </p:cNvPr>
              <p:cNvSpPr/>
              <p:nvPr/>
            </p:nvSpPr>
            <p:spPr>
              <a:xfrm>
                <a:off x="883508" y="3337714"/>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22" name="Rectangle 121">
                <a:extLst>
                  <a:ext uri="{FF2B5EF4-FFF2-40B4-BE49-F238E27FC236}">
                    <a16:creationId xmlns:a16="http://schemas.microsoft.com/office/drawing/2014/main" id="{08F33A49-4F9F-134F-187C-673BC66253B8}"/>
                  </a:ext>
                </a:extLst>
              </p:cNvPr>
              <p:cNvSpPr/>
              <p:nvPr/>
            </p:nvSpPr>
            <p:spPr>
              <a:xfrm>
                <a:off x="1223319" y="3337714"/>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23" name="Rectangle 122">
                <a:extLst>
                  <a:ext uri="{FF2B5EF4-FFF2-40B4-BE49-F238E27FC236}">
                    <a16:creationId xmlns:a16="http://schemas.microsoft.com/office/drawing/2014/main" id="{252A1135-0FF2-7608-0596-D30FA256EDC7}"/>
                  </a:ext>
                </a:extLst>
              </p:cNvPr>
              <p:cNvSpPr/>
              <p:nvPr/>
            </p:nvSpPr>
            <p:spPr>
              <a:xfrm>
                <a:off x="1563130" y="3337714"/>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24" name="Rectangle 123">
                <a:extLst>
                  <a:ext uri="{FF2B5EF4-FFF2-40B4-BE49-F238E27FC236}">
                    <a16:creationId xmlns:a16="http://schemas.microsoft.com/office/drawing/2014/main" id="{E349203F-D161-7FF3-44C2-608C66F31769}"/>
                  </a:ext>
                </a:extLst>
              </p:cNvPr>
              <p:cNvSpPr/>
              <p:nvPr/>
            </p:nvSpPr>
            <p:spPr>
              <a:xfrm>
                <a:off x="1902941" y="3337714"/>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25" name="Rectangle 124">
                <a:extLst>
                  <a:ext uri="{FF2B5EF4-FFF2-40B4-BE49-F238E27FC236}">
                    <a16:creationId xmlns:a16="http://schemas.microsoft.com/office/drawing/2014/main" id="{8F7BBCE5-F5D9-38CA-9EB3-7ACF6D889CFD}"/>
                  </a:ext>
                </a:extLst>
              </p:cNvPr>
              <p:cNvSpPr/>
              <p:nvPr/>
            </p:nvSpPr>
            <p:spPr>
              <a:xfrm>
                <a:off x="543697" y="3737249"/>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26" name="Rectangle 125">
                <a:extLst>
                  <a:ext uri="{FF2B5EF4-FFF2-40B4-BE49-F238E27FC236}">
                    <a16:creationId xmlns:a16="http://schemas.microsoft.com/office/drawing/2014/main" id="{AE481148-D043-AB2E-6764-54D7A6D9743B}"/>
                  </a:ext>
                </a:extLst>
              </p:cNvPr>
              <p:cNvSpPr/>
              <p:nvPr/>
            </p:nvSpPr>
            <p:spPr>
              <a:xfrm>
                <a:off x="883508" y="3737249"/>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27" name="Rectangle 126">
                <a:extLst>
                  <a:ext uri="{FF2B5EF4-FFF2-40B4-BE49-F238E27FC236}">
                    <a16:creationId xmlns:a16="http://schemas.microsoft.com/office/drawing/2014/main" id="{7DD758AE-DEF1-E546-012A-FBC1B61C1D4D}"/>
                  </a:ext>
                </a:extLst>
              </p:cNvPr>
              <p:cNvSpPr/>
              <p:nvPr/>
            </p:nvSpPr>
            <p:spPr>
              <a:xfrm>
                <a:off x="1223319" y="3737249"/>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28" name="Rectangle 127">
                <a:extLst>
                  <a:ext uri="{FF2B5EF4-FFF2-40B4-BE49-F238E27FC236}">
                    <a16:creationId xmlns:a16="http://schemas.microsoft.com/office/drawing/2014/main" id="{CC6BC661-7B01-14C9-642A-4DCE47FD18C1}"/>
                  </a:ext>
                </a:extLst>
              </p:cNvPr>
              <p:cNvSpPr/>
              <p:nvPr/>
            </p:nvSpPr>
            <p:spPr>
              <a:xfrm>
                <a:off x="1563130" y="3737249"/>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29" name="Rectangle 128">
                <a:extLst>
                  <a:ext uri="{FF2B5EF4-FFF2-40B4-BE49-F238E27FC236}">
                    <a16:creationId xmlns:a16="http://schemas.microsoft.com/office/drawing/2014/main" id="{973B6ED8-D9D2-44A7-6323-131A1F772C1A}"/>
                  </a:ext>
                </a:extLst>
              </p:cNvPr>
              <p:cNvSpPr/>
              <p:nvPr/>
            </p:nvSpPr>
            <p:spPr>
              <a:xfrm>
                <a:off x="1902941" y="3737249"/>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30" name="Rectangle 129">
                <a:extLst>
                  <a:ext uri="{FF2B5EF4-FFF2-40B4-BE49-F238E27FC236}">
                    <a16:creationId xmlns:a16="http://schemas.microsoft.com/office/drawing/2014/main" id="{4BDDB068-65B7-E9C8-3C07-A54D73421E97}"/>
                  </a:ext>
                </a:extLst>
              </p:cNvPr>
              <p:cNvSpPr/>
              <p:nvPr/>
            </p:nvSpPr>
            <p:spPr>
              <a:xfrm>
                <a:off x="541638" y="4355087"/>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31" name="Rectangle 130">
                <a:extLst>
                  <a:ext uri="{FF2B5EF4-FFF2-40B4-BE49-F238E27FC236}">
                    <a16:creationId xmlns:a16="http://schemas.microsoft.com/office/drawing/2014/main" id="{E2240DD3-5D50-0A6C-5BD3-F504090494E9}"/>
                  </a:ext>
                </a:extLst>
              </p:cNvPr>
              <p:cNvSpPr/>
              <p:nvPr/>
            </p:nvSpPr>
            <p:spPr>
              <a:xfrm>
                <a:off x="881449" y="4355087"/>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32" name="Rectangle 131">
                <a:extLst>
                  <a:ext uri="{FF2B5EF4-FFF2-40B4-BE49-F238E27FC236}">
                    <a16:creationId xmlns:a16="http://schemas.microsoft.com/office/drawing/2014/main" id="{3932141B-06AF-C9B1-F1B1-3DDA68E9D2A9}"/>
                  </a:ext>
                </a:extLst>
              </p:cNvPr>
              <p:cNvSpPr/>
              <p:nvPr/>
            </p:nvSpPr>
            <p:spPr>
              <a:xfrm>
                <a:off x="1221260" y="4355087"/>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33" name="Rectangle 132">
                <a:extLst>
                  <a:ext uri="{FF2B5EF4-FFF2-40B4-BE49-F238E27FC236}">
                    <a16:creationId xmlns:a16="http://schemas.microsoft.com/office/drawing/2014/main" id="{68DE2810-BB27-8F7B-8BAA-B58B3CB668C6}"/>
                  </a:ext>
                </a:extLst>
              </p:cNvPr>
              <p:cNvSpPr/>
              <p:nvPr/>
            </p:nvSpPr>
            <p:spPr>
              <a:xfrm>
                <a:off x="1561071" y="4355087"/>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34" name="Rectangle 133">
                <a:extLst>
                  <a:ext uri="{FF2B5EF4-FFF2-40B4-BE49-F238E27FC236}">
                    <a16:creationId xmlns:a16="http://schemas.microsoft.com/office/drawing/2014/main" id="{835B1123-4108-47D1-14F1-D2034FC9015C}"/>
                  </a:ext>
                </a:extLst>
              </p:cNvPr>
              <p:cNvSpPr/>
              <p:nvPr/>
            </p:nvSpPr>
            <p:spPr>
              <a:xfrm>
                <a:off x="1900882" y="4355087"/>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35" name="TextBox 134">
                <a:extLst>
                  <a:ext uri="{FF2B5EF4-FFF2-40B4-BE49-F238E27FC236}">
                    <a16:creationId xmlns:a16="http://schemas.microsoft.com/office/drawing/2014/main" id="{5B989446-86E4-4C71-EBE0-402AB67529A8}"/>
                  </a:ext>
                </a:extLst>
              </p:cNvPr>
              <p:cNvSpPr txBox="1"/>
              <p:nvPr/>
            </p:nvSpPr>
            <p:spPr>
              <a:xfrm>
                <a:off x="2213916" y="3263573"/>
                <a:ext cx="358346" cy="102437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78D4"/>
                    </a:solidFill>
                    <a:effectLst/>
                    <a:uLnTx/>
                    <a:uFillTx/>
                    <a:latin typeface="Segoe Sans Display"/>
                  </a:rPr>
                  <a:t>…</a:t>
                </a:r>
              </a:p>
            </p:txBody>
          </p:sp>
          <p:sp>
            <p:nvSpPr>
              <p:cNvPr id="136" name="TextBox 135">
                <a:extLst>
                  <a:ext uri="{FF2B5EF4-FFF2-40B4-BE49-F238E27FC236}">
                    <a16:creationId xmlns:a16="http://schemas.microsoft.com/office/drawing/2014/main" id="{B2CFBD7B-A253-A438-94AF-1C5EF3E80507}"/>
                  </a:ext>
                </a:extLst>
              </p:cNvPr>
              <p:cNvSpPr txBox="1"/>
              <p:nvPr/>
            </p:nvSpPr>
            <p:spPr>
              <a:xfrm>
                <a:off x="2213916" y="3700180"/>
                <a:ext cx="358346" cy="102437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78D4"/>
                    </a:solidFill>
                    <a:effectLst/>
                    <a:uLnTx/>
                    <a:uFillTx/>
                    <a:latin typeface="Segoe Sans Display"/>
                  </a:rPr>
                  <a:t>…</a:t>
                </a:r>
              </a:p>
            </p:txBody>
          </p:sp>
          <p:sp>
            <p:nvSpPr>
              <p:cNvPr id="137" name="Rectangle 136">
                <a:extLst>
                  <a:ext uri="{FF2B5EF4-FFF2-40B4-BE49-F238E27FC236}">
                    <a16:creationId xmlns:a16="http://schemas.microsoft.com/office/drawing/2014/main" id="{4117718C-7271-6E09-00CE-7F21A4B850FB}"/>
                  </a:ext>
                </a:extLst>
              </p:cNvPr>
              <p:cNvSpPr/>
              <p:nvPr/>
            </p:nvSpPr>
            <p:spPr>
              <a:xfrm>
                <a:off x="2574328" y="3341830"/>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38" name="Rectangle 137">
                <a:extLst>
                  <a:ext uri="{FF2B5EF4-FFF2-40B4-BE49-F238E27FC236}">
                    <a16:creationId xmlns:a16="http://schemas.microsoft.com/office/drawing/2014/main" id="{2C6D2402-C702-5F1B-9650-BA30A54DA355}"/>
                  </a:ext>
                </a:extLst>
              </p:cNvPr>
              <p:cNvSpPr/>
              <p:nvPr/>
            </p:nvSpPr>
            <p:spPr>
              <a:xfrm>
                <a:off x="2914139" y="3341830"/>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39" name="Rectangle 138">
                <a:extLst>
                  <a:ext uri="{FF2B5EF4-FFF2-40B4-BE49-F238E27FC236}">
                    <a16:creationId xmlns:a16="http://schemas.microsoft.com/office/drawing/2014/main" id="{3ED144DC-72CB-4A1B-942B-AF2A1C0993BB}"/>
                  </a:ext>
                </a:extLst>
              </p:cNvPr>
              <p:cNvSpPr/>
              <p:nvPr/>
            </p:nvSpPr>
            <p:spPr>
              <a:xfrm>
                <a:off x="3253950" y="3341830"/>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40" name="Rectangle 139">
                <a:extLst>
                  <a:ext uri="{FF2B5EF4-FFF2-40B4-BE49-F238E27FC236}">
                    <a16:creationId xmlns:a16="http://schemas.microsoft.com/office/drawing/2014/main" id="{23C9BE06-8A40-25C3-E5E1-C11D38CA5954}"/>
                  </a:ext>
                </a:extLst>
              </p:cNvPr>
              <p:cNvSpPr/>
              <p:nvPr/>
            </p:nvSpPr>
            <p:spPr>
              <a:xfrm>
                <a:off x="3593761" y="3341830"/>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41" name="Rectangle 140">
                <a:extLst>
                  <a:ext uri="{FF2B5EF4-FFF2-40B4-BE49-F238E27FC236}">
                    <a16:creationId xmlns:a16="http://schemas.microsoft.com/office/drawing/2014/main" id="{197C484E-2475-FF90-12A7-8A0552280925}"/>
                  </a:ext>
                </a:extLst>
              </p:cNvPr>
              <p:cNvSpPr/>
              <p:nvPr/>
            </p:nvSpPr>
            <p:spPr>
              <a:xfrm>
                <a:off x="3933572" y="3341830"/>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42" name="Rectangle 141">
                <a:extLst>
                  <a:ext uri="{FF2B5EF4-FFF2-40B4-BE49-F238E27FC236}">
                    <a16:creationId xmlns:a16="http://schemas.microsoft.com/office/drawing/2014/main" id="{F9D3773F-23E2-7CD5-F249-DE3C7F94C35D}"/>
                  </a:ext>
                </a:extLst>
              </p:cNvPr>
              <p:cNvSpPr/>
              <p:nvPr/>
            </p:nvSpPr>
            <p:spPr>
              <a:xfrm>
                <a:off x="2574328" y="3741365"/>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43" name="Rectangle 142">
                <a:extLst>
                  <a:ext uri="{FF2B5EF4-FFF2-40B4-BE49-F238E27FC236}">
                    <a16:creationId xmlns:a16="http://schemas.microsoft.com/office/drawing/2014/main" id="{0A1C220F-BD5D-1159-E696-FDA21FF4EA04}"/>
                  </a:ext>
                </a:extLst>
              </p:cNvPr>
              <p:cNvSpPr/>
              <p:nvPr/>
            </p:nvSpPr>
            <p:spPr>
              <a:xfrm>
                <a:off x="2914139" y="3741365"/>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44" name="Rectangle 143">
                <a:extLst>
                  <a:ext uri="{FF2B5EF4-FFF2-40B4-BE49-F238E27FC236}">
                    <a16:creationId xmlns:a16="http://schemas.microsoft.com/office/drawing/2014/main" id="{BC9E1633-51DF-F5D1-9BEB-579C095C2C5A}"/>
                  </a:ext>
                </a:extLst>
              </p:cNvPr>
              <p:cNvSpPr/>
              <p:nvPr/>
            </p:nvSpPr>
            <p:spPr>
              <a:xfrm>
                <a:off x="3253950" y="3741365"/>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45" name="Rectangle 144">
                <a:extLst>
                  <a:ext uri="{FF2B5EF4-FFF2-40B4-BE49-F238E27FC236}">
                    <a16:creationId xmlns:a16="http://schemas.microsoft.com/office/drawing/2014/main" id="{8D00554B-F2A6-E47E-F4D7-1F12F92E5BE4}"/>
                  </a:ext>
                </a:extLst>
              </p:cNvPr>
              <p:cNvSpPr/>
              <p:nvPr/>
            </p:nvSpPr>
            <p:spPr>
              <a:xfrm>
                <a:off x="3593761" y="3741365"/>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46" name="Rectangle 145">
                <a:extLst>
                  <a:ext uri="{FF2B5EF4-FFF2-40B4-BE49-F238E27FC236}">
                    <a16:creationId xmlns:a16="http://schemas.microsoft.com/office/drawing/2014/main" id="{5462A65F-50C7-19EF-8C01-0F976FBBC1D5}"/>
                  </a:ext>
                </a:extLst>
              </p:cNvPr>
              <p:cNvSpPr/>
              <p:nvPr/>
            </p:nvSpPr>
            <p:spPr>
              <a:xfrm>
                <a:off x="3933572" y="3741365"/>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47" name="Rectangle 146">
                <a:extLst>
                  <a:ext uri="{FF2B5EF4-FFF2-40B4-BE49-F238E27FC236}">
                    <a16:creationId xmlns:a16="http://schemas.microsoft.com/office/drawing/2014/main" id="{147EA41E-4E0F-0A9E-0266-EE7DB5F611F0}"/>
                  </a:ext>
                </a:extLst>
              </p:cNvPr>
              <p:cNvSpPr/>
              <p:nvPr/>
            </p:nvSpPr>
            <p:spPr>
              <a:xfrm>
                <a:off x="2578444" y="4355087"/>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48" name="Rectangle 147">
                <a:extLst>
                  <a:ext uri="{FF2B5EF4-FFF2-40B4-BE49-F238E27FC236}">
                    <a16:creationId xmlns:a16="http://schemas.microsoft.com/office/drawing/2014/main" id="{E70DA847-4991-D563-BC6D-0D73BD804DF1}"/>
                  </a:ext>
                </a:extLst>
              </p:cNvPr>
              <p:cNvSpPr/>
              <p:nvPr/>
            </p:nvSpPr>
            <p:spPr>
              <a:xfrm>
                <a:off x="2918255" y="4355087"/>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49" name="Rectangle 148">
                <a:extLst>
                  <a:ext uri="{FF2B5EF4-FFF2-40B4-BE49-F238E27FC236}">
                    <a16:creationId xmlns:a16="http://schemas.microsoft.com/office/drawing/2014/main" id="{E655F956-7B9C-88F6-33B9-C575047F4878}"/>
                  </a:ext>
                </a:extLst>
              </p:cNvPr>
              <p:cNvSpPr/>
              <p:nvPr/>
            </p:nvSpPr>
            <p:spPr>
              <a:xfrm>
                <a:off x="3258066" y="4355087"/>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50" name="Rectangle 149">
                <a:extLst>
                  <a:ext uri="{FF2B5EF4-FFF2-40B4-BE49-F238E27FC236}">
                    <a16:creationId xmlns:a16="http://schemas.microsoft.com/office/drawing/2014/main" id="{B13E0C78-6E92-F64C-703C-51B960B62786}"/>
                  </a:ext>
                </a:extLst>
              </p:cNvPr>
              <p:cNvSpPr/>
              <p:nvPr/>
            </p:nvSpPr>
            <p:spPr>
              <a:xfrm>
                <a:off x="3597877" y="4355087"/>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sp>
            <p:nvSpPr>
              <p:cNvPr id="151" name="Rectangle 150">
                <a:extLst>
                  <a:ext uri="{FF2B5EF4-FFF2-40B4-BE49-F238E27FC236}">
                    <a16:creationId xmlns:a16="http://schemas.microsoft.com/office/drawing/2014/main" id="{38C6CC4E-E6C3-91CC-2D67-D3394B357F29}"/>
                  </a:ext>
                </a:extLst>
              </p:cNvPr>
              <p:cNvSpPr/>
              <p:nvPr/>
            </p:nvSpPr>
            <p:spPr>
              <a:xfrm>
                <a:off x="3937688" y="4355087"/>
                <a:ext cx="294503" cy="234779"/>
              </a:xfrm>
              <a:prstGeom prst="rect">
                <a:avLst/>
              </a:prstGeom>
              <a:solidFill>
                <a:srgbClr val="FFFFFF"/>
              </a:solidFill>
              <a:ln w="28575" cap="flat" cmpd="sng" algn="ctr">
                <a:solidFill>
                  <a:srgbClr val="11786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Sans Display"/>
                </a:endParaRPr>
              </a:p>
            </p:txBody>
          </p:sp>
        </p:grpSp>
        <p:pic>
          <p:nvPicPr>
            <p:cNvPr id="102" name="Graphic 101" descr="Document with solid fill">
              <a:extLst>
                <a:ext uri="{FF2B5EF4-FFF2-40B4-BE49-F238E27FC236}">
                  <a16:creationId xmlns:a16="http://schemas.microsoft.com/office/drawing/2014/main" id="{2CA59FD3-4A52-78EB-1A8C-5018869B73C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27429" y="5203712"/>
              <a:ext cx="334895" cy="334895"/>
            </a:xfrm>
            <a:prstGeom prst="rect">
              <a:avLst/>
            </a:prstGeom>
          </p:spPr>
        </p:pic>
        <p:pic>
          <p:nvPicPr>
            <p:cNvPr id="103" name="Graphic 102" descr="Document with solid fill">
              <a:extLst>
                <a:ext uri="{FF2B5EF4-FFF2-40B4-BE49-F238E27FC236}">
                  <a16:creationId xmlns:a16="http://schemas.microsoft.com/office/drawing/2014/main" id="{1238648D-08BE-93D9-81C6-533E985B9F2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83177" y="5203712"/>
              <a:ext cx="334895" cy="334895"/>
            </a:xfrm>
            <a:prstGeom prst="rect">
              <a:avLst/>
            </a:prstGeom>
          </p:spPr>
        </p:pic>
        <p:pic>
          <p:nvPicPr>
            <p:cNvPr id="104" name="Graphic 103" descr="Document with solid fill">
              <a:extLst>
                <a:ext uri="{FF2B5EF4-FFF2-40B4-BE49-F238E27FC236}">
                  <a16:creationId xmlns:a16="http://schemas.microsoft.com/office/drawing/2014/main" id="{1938AED6-FD34-84AC-570F-9AF8766A5CB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38925" y="5203712"/>
              <a:ext cx="334895" cy="334895"/>
            </a:xfrm>
            <a:prstGeom prst="rect">
              <a:avLst/>
            </a:prstGeom>
          </p:spPr>
        </p:pic>
        <p:pic>
          <p:nvPicPr>
            <p:cNvPr id="105" name="Graphic 104" descr="Document with solid fill">
              <a:extLst>
                <a:ext uri="{FF2B5EF4-FFF2-40B4-BE49-F238E27FC236}">
                  <a16:creationId xmlns:a16="http://schemas.microsoft.com/office/drawing/2014/main" id="{AD8A5421-628B-5D52-4CA4-39A4993AB92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94673" y="5203712"/>
              <a:ext cx="334895" cy="334895"/>
            </a:xfrm>
            <a:prstGeom prst="rect">
              <a:avLst/>
            </a:prstGeom>
          </p:spPr>
        </p:pic>
        <p:pic>
          <p:nvPicPr>
            <p:cNvPr id="106" name="Graphic 105" descr="Document with solid fill">
              <a:extLst>
                <a:ext uri="{FF2B5EF4-FFF2-40B4-BE49-F238E27FC236}">
                  <a16:creationId xmlns:a16="http://schemas.microsoft.com/office/drawing/2014/main" id="{72601879-4EB9-1AFE-A438-446F2C32F66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50421" y="5203712"/>
              <a:ext cx="334895" cy="334895"/>
            </a:xfrm>
            <a:prstGeom prst="rect">
              <a:avLst/>
            </a:prstGeom>
          </p:spPr>
        </p:pic>
        <p:pic>
          <p:nvPicPr>
            <p:cNvPr id="107" name="Graphic 106" descr="Document with solid fill">
              <a:extLst>
                <a:ext uri="{FF2B5EF4-FFF2-40B4-BE49-F238E27FC236}">
                  <a16:creationId xmlns:a16="http://schemas.microsoft.com/office/drawing/2014/main" id="{1193605E-CC02-C4B0-B351-4D03247FD4D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06169" y="5203712"/>
              <a:ext cx="334895" cy="334895"/>
            </a:xfrm>
            <a:prstGeom prst="rect">
              <a:avLst/>
            </a:prstGeom>
          </p:spPr>
        </p:pic>
        <p:pic>
          <p:nvPicPr>
            <p:cNvPr id="108" name="Graphic 107" descr="Document with solid fill">
              <a:extLst>
                <a:ext uri="{FF2B5EF4-FFF2-40B4-BE49-F238E27FC236}">
                  <a16:creationId xmlns:a16="http://schemas.microsoft.com/office/drawing/2014/main" id="{F91761B1-E3DD-B153-25F2-8442F51FB5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61917" y="5203712"/>
              <a:ext cx="334895" cy="334895"/>
            </a:xfrm>
            <a:prstGeom prst="rect">
              <a:avLst/>
            </a:prstGeom>
          </p:spPr>
        </p:pic>
        <p:pic>
          <p:nvPicPr>
            <p:cNvPr id="109" name="Graphic 108" descr="Document with solid fill">
              <a:extLst>
                <a:ext uri="{FF2B5EF4-FFF2-40B4-BE49-F238E27FC236}">
                  <a16:creationId xmlns:a16="http://schemas.microsoft.com/office/drawing/2014/main" id="{68EB7B1A-CDC9-1E30-34DD-1BD6234213B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17663" y="5203712"/>
              <a:ext cx="334895" cy="334895"/>
            </a:xfrm>
            <a:prstGeom prst="rect">
              <a:avLst/>
            </a:prstGeom>
          </p:spPr>
        </p:pic>
        <p:sp>
          <p:nvSpPr>
            <p:cNvPr id="110" name="TextBox 109">
              <a:extLst>
                <a:ext uri="{FF2B5EF4-FFF2-40B4-BE49-F238E27FC236}">
                  <a16:creationId xmlns:a16="http://schemas.microsoft.com/office/drawing/2014/main" id="{CA072FDD-CB21-3D33-44FA-437A504BE018}"/>
                </a:ext>
              </a:extLst>
            </p:cNvPr>
            <p:cNvSpPr txBox="1"/>
            <p:nvPr/>
          </p:nvSpPr>
          <p:spPr>
            <a:xfrm>
              <a:off x="8226217" y="5203712"/>
              <a:ext cx="655341" cy="38306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80808"/>
                  </a:solidFill>
                  <a:effectLst/>
                  <a:uLnTx/>
                  <a:uFillTx/>
                  <a:latin typeface="Segoe Sans Display"/>
                </a:rPr>
                <a:t>……</a:t>
              </a:r>
            </a:p>
          </p:txBody>
        </p:sp>
        <p:pic>
          <p:nvPicPr>
            <p:cNvPr id="111" name="Graphic 110" descr="Document with solid fill">
              <a:extLst>
                <a:ext uri="{FF2B5EF4-FFF2-40B4-BE49-F238E27FC236}">
                  <a16:creationId xmlns:a16="http://schemas.microsoft.com/office/drawing/2014/main" id="{A282E9EE-AF12-BE83-F8F6-CF917E1702D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712686" y="5203712"/>
              <a:ext cx="334895" cy="334895"/>
            </a:xfrm>
            <a:prstGeom prst="rect">
              <a:avLst/>
            </a:prstGeom>
          </p:spPr>
        </p:pic>
        <p:pic>
          <p:nvPicPr>
            <p:cNvPr id="112" name="Graphic 111" descr="Document with solid fill">
              <a:extLst>
                <a:ext uri="{FF2B5EF4-FFF2-40B4-BE49-F238E27FC236}">
                  <a16:creationId xmlns:a16="http://schemas.microsoft.com/office/drawing/2014/main" id="{3E026562-869C-742B-32BE-1F0C4D311D4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98780" y="5199644"/>
              <a:ext cx="334895" cy="334895"/>
            </a:xfrm>
            <a:prstGeom prst="rect">
              <a:avLst/>
            </a:prstGeom>
          </p:spPr>
        </p:pic>
        <p:pic>
          <p:nvPicPr>
            <p:cNvPr id="113" name="Graphic 112" descr="Document with solid fill">
              <a:extLst>
                <a:ext uri="{FF2B5EF4-FFF2-40B4-BE49-F238E27FC236}">
                  <a16:creationId xmlns:a16="http://schemas.microsoft.com/office/drawing/2014/main" id="{6C2AC114-5CED-53F5-9FAB-45CA1F9604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54528" y="5199644"/>
              <a:ext cx="334895" cy="334895"/>
            </a:xfrm>
            <a:prstGeom prst="rect">
              <a:avLst/>
            </a:prstGeom>
          </p:spPr>
        </p:pic>
        <p:cxnSp>
          <p:nvCxnSpPr>
            <p:cNvPr id="114" name="Straight Connector 113">
              <a:extLst>
                <a:ext uri="{FF2B5EF4-FFF2-40B4-BE49-F238E27FC236}">
                  <a16:creationId xmlns:a16="http://schemas.microsoft.com/office/drawing/2014/main" id="{D4CEA4E7-9E31-5B63-184C-CEA77966CD04}"/>
                </a:ext>
              </a:extLst>
            </p:cNvPr>
            <p:cNvCxnSpPr>
              <a:cxnSpLocks/>
            </p:cNvCxnSpPr>
            <p:nvPr/>
          </p:nvCxnSpPr>
          <p:spPr>
            <a:xfrm>
              <a:off x="9676950" y="4827557"/>
              <a:ext cx="0" cy="845399"/>
            </a:xfrm>
            <a:prstGeom prst="line">
              <a:avLst/>
            </a:prstGeom>
            <a:noFill/>
            <a:ln w="12700" cap="flat" cmpd="sng" algn="ctr">
              <a:solidFill>
                <a:srgbClr val="2AAC93"/>
              </a:solidFill>
              <a:prstDash val="dash"/>
              <a:miter lim="800000"/>
            </a:ln>
            <a:effectLst/>
          </p:spPr>
        </p:cxnSp>
        <p:sp>
          <p:nvSpPr>
            <p:cNvPr id="115" name="TextBox 114">
              <a:extLst>
                <a:ext uri="{FF2B5EF4-FFF2-40B4-BE49-F238E27FC236}">
                  <a16:creationId xmlns:a16="http://schemas.microsoft.com/office/drawing/2014/main" id="{856878F2-D572-169E-9950-6C424FEE805A}"/>
                </a:ext>
              </a:extLst>
            </p:cNvPr>
            <p:cNvSpPr txBox="1"/>
            <p:nvPr/>
          </p:nvSpPr>
          <p:spPr>
            <a:xfrm>
              <a:off x="8853487" y="1315293"/>
              <a:ext cx="901777" cy="338554"/>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chemeClr val="bg1"/>
                  </a:solidFill>
                  <a:effectLst/>
                  <a:uLnTx/>
                  <a:uFillTx/>
                </a:rPr>
                <a:t>Result Set Caching</a:t>
              </a:r>
            </a:p>
          </p:txBody>
        </p:sp>
        <p:cxnSp>
          <p:nvCxnSpPr>
            <p:cNvPr id="116" name="Connector: Elbow 68">
              <a:extLst>
                <a:ext uri="{FF2B5EF4-FFF2-40B4-BE49-F238E27FC236}">
                  <a16:creationId xmlns:a16="http://schemas.microsoft.com/office/drawing/2014/main" id="{1883453C-F312-D890-0E6E-288272376370}"/>
                </a:ext>
              </a:extLst>
            </p:cNvPr>
            <p:cNvCxnSpPr>
              <a:cxnSpLocks/>
              <a:stCxn id="115" idx="3"/>
            </p:cNvCxnSpPr>
            <p:nvPr/>
          </p:nvCxnSpPr>
          <p:spPr>
            <a:xfrm>
              <a:off x="9755264" y="1484570"/>
              <a:ext cx="456726" cy="3271410"/>
            </a:xfrm>
            <a:prstGeom prst="bentConnector2">
              <a:avLst/>
            </a:prstGeom>
            <a:noFill/>
            <a:ln w="38100" cap="flat" cmpd="sng" algn="ctr">
              <a:solidFill>
                <a:srgbClr val="0C6959"/>
              </a:solidFill>
              <a:prstDash val="solid"/>
              <a:miter lim="800000"/>
              <a:headEnd type="triangle" w="med" len="med"/>
              <a:tailEnd type="triangle" w="med" len="med"/>
            </a:ln>
            <a:effectLst/>
          </p:spPr>
        </p:cxnSp>
        <p:sp>
          <p:nvSpPr>
            <p:cNvPr id="117" name="TextBox 116">
              <a:extLst>
                <a:ext uri="{FF2B5EF4-FFF2-40B4-BE49-F238E27FC236}">
                  <a16:creationId xmlns:a16="http://schemas.microsoft.com/office/drawing/2014/main" id="{B4853F40-FFFC-1030-AF3F-B1B259E335ED}"/>
                </a:ext>
              </a:extLst>
            </p:cNvPr>
            <p:cNvSpPr txBox="1"/>
            <p:nvPr/>
          </p:nvSpPr>
          <p:spPr>
            <a:xfrm>
              <a:off x="6460681" y="2244623"/>
              <a:ext cx="2737365" cy="276999"/>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1"/>
                  </a:solidFill>
                  <a:effectLst/>
                  <a:uLnTx/>
                  <a:uFillTx/>
                  <a:latin typeface="Segoe Sans Display Semibold" pitchFamily="2" charset="0"/>
                  <a:cs typeface="Segoe Sans Display Semibold" pitchFamily="2" charset="0"/>
                </a:rPr>
                <a:t>Backend Compute Pool</a:t>
              </a:r>
            </a:p>
          </p:txBody>
        </p:sp>
        <p:sp>
          <p:nvSpPr>
            <p:cNvPr id="118" name="Arrow: Up 18">
              <a:extLst>
                <a:ext uri="{FF2B5EF4-FFF2-40B4-BE49-F238E27FC236}">
                  <a16:creationId xmlns:a16="http://schemas.microsoft.com/office/drawing/2014/main" id="{2FAF7980-1837-D542-9437-16D72C2495B8}"/>
                </a:ext>
              </a:extLst>
            </p:cNvPr>
            <p:cNvSpPr/>
            <p:nvPr/>
          </p:nvSpPr>
          <p:spPr>
            <a:xfrm>
              <a:off x="7753065" y="3593350"/>
              <a:ext cx="236511" cy="220921"/>
            </a:xfrm>
            <a:prstGeom prst="upArrow">
              <a:avLst/>
            </a:prstGeom>
            <a:gradFill>
              <a:gsLst>
                <a:gs pos="100000">
                  <a:srgbClr val="3ABB9F"/>
                </a:gs>
                <a:gs pos="0">
                  <a:srgbClr val="1F937E"/>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80808"/>
                </a:solidFill>
                <a:effectLst/>
                <a:uLnTx/>
                <a:uFillTx/>
                <a:latin typeface="Segoe Sans Display"/>
              </a:endParaRPr>
            </a:p>
          </p:txBody>
        </p:sp>
        <p:sp>
          <p:nvSpPr>
            <p:cNvPr id="119" name="TextBox 118">
              <a:extLst>
                <a:ext uri="{FF2B5EF4-FFF2-40B4-BE49-F238E27FC236}">
                  <a16:creationId xmlns:a16="http://schemas.microsoft.com/office/drawing/2014/main" id="{23C611A8-C27F-243F-CCEC-04E3D67CEDCF}"/>
                </a:ext>
              </a:extLst>
            </p:cNvPr>
            <p:cNvSpPr txBox="1"/>
            <p:nvPr/>
          </p:nvSpPr>
          <p:spPr>
            <a:xfrm>
              <a:off x="6460681" y="4883087"/>
              <a:ext cx="2737365" cy="276999"/>
            </a:xfrm>
            <a:prstGeom prst="rect">
              <a:avLst/>
            </a:prstGeom>
            <a:noFill/>
          </p:spPr>
          <p:txBody>
            <a:bodyPr wrap="square">
              <a:spAutoFit/>
            </a:bodyPr>
            <a:lstStyle/>
            <a:p>
              <a:pPr algn="ctr">
                <a:defRPr/>
              </a:pPr>
              <a:r>
                <a:rPr lang="en-US" sz="1200" b="1" kern="0" err="1">
                  <a:solidFill>
                    <a:schemeClr val="bg1"/>
                  </a:solidFill>
                  <a:latin typeface="Segoe Sans Display Semibold" pitchFamily="2" charset="0"/>
                  <a:cs typeface="Segoe Sans Display Semibold" pitchFamily="2" charset="0"/>
                </a:rPr>
                <a:t>OneLake</a:t>
              </a:r>
              <a:endParaRPr lang="en-US" sz="1200" b="1" kern="0">
                <a:solidFill>
                  <a:schemeClr val="bg1"/>
                </a:solidFill>
                <a:latin typeface="Segoe Sans Display Semibold" pitchFamily="2" charset="0"/>
                <a:cs typeface="Segoe Sans Display Semibold" pitchFamily="2" charset="0"/>
              </a:endParaRPr>
            </a:p>
          </p:txBody>
        </p:sp>
      </p:grpSp>
      <p:sp>
        <p:nvSpPr>
          <p:cNvPr id="10" name="Slide Number Placeholder 5">
            <a:extLst>
              <a:ext uri="{FF2B5EF4-FFF2-40B4-BE49-F238E27FC236}">
                <a16:creationId xmlns:a16="http://schemas.microsoft.com/office/drawing/2014/main" id="{26E7684A-EE79-C1DB-CD11-AC92FE15FAAF}"/>
              </a:ext>
            </a:extLst>
          </p:cNvPr>
          <p:cNvSpPr txBox="1">
            <a:spLocks/>
          </p:cNvSpPr>
          <p:nvPr/>
        </p:nvSpPr>
        <p:spPr>
          <a:xfrm>
            <a:off x="607809" y="6311900"/>
            <a:ext cx="399288"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356FBF-028C-F74E-A7B4-9B8ED246DD1B}" type="slidenum">
              <a:rPr lang="en-US" smtClean="0">
                <a:solidFill>
                  <a:srgbClr val="FFFEFB"/>
                </a:solidFill>
                <a:latin typeface="Segoe Sans Display"/>
              </a:rPr>
              <a:pPr/>
              <a:t>15</a:t>
            </a:fld>
            <a:endParaRPr lang="en-US">
              <a:solidFill>
                <a:srgbClr val="FFFEFB"/>
              </a:solidFill>
              <a:latin typeface="Segoe Sans Display"/>
            </a:endParaRPr>
          </a:p>
        </p:txBody>
      </p:sp>
      <p:sp>
        <p:nvSpPr>
          <p:cNvPr id="8" name="Footer Placeholder 4">
            <a:extLst>
              <a:ext uri="{FF2B5EF4-FFF2-40B4-BE49-F238E27FC236}">
                <a16:creationId xmlns:a16="http://schemas.microsoft.com/office/drawing/2014/main" id="{1E1F50B1-F2C6-4927-2A59-357E3CEE76C8}"/>
              </a:ext>
            </a:extLst>
          </p:cNvPr>
          <p:cNvSpPr txBox="1">
            <a:spLocks/>
          </p:cNvSpPr>
          <p:nvPr/>
        </p:nvSpPr>
        <p:spPr>
          <a:xfrm>
            <a:off x="1007097" y="6311900"/>
            <a:ext cx="2078736"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FFFEFB"/>
                </a:solidFill>
                <a:latin typeface="Segoe Sans Display"/>
              </a:rPr>
              <a:t>Microsoft Fabric</a:t>
            </a:r>
          </a:p>
        </p:txBody>
      </p:sp>
    </p:spTree>
    <p:extLst>
      <p:ext uri="{BB962C8B-B14F-4D97-AF65-F5344CB8AC3E}">
        <p14:creationId xmlns:p14="http://schemas.microsoft.com/office/powerpoint/2010/main" val="202621463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E38F-4E0C-5344-51AB-9CBE58DC7757}"/>
            </a:ext>
          </a:extLst>
        </p:cNvPr>
        <p:cNvGrpSpPr/>
        <p:nvPr/>
      </p:nvGrpSpPr>
      <p:grpSpPr>
        <a:xfrm>
          <a:off x="0" y="0"/>
          <a:ext cx="0" cy="0"/>
          <a:chOff x="0" y="0"/>
          <a:chExt cx="0" cy="0"/>
        </a:xfrm>
      </p:grpSpPr>
      <p:sp>
        <p:nvSpPr>
          <p:cNvPr id="48" name="Rectangle 47">
            <a:extLst>
              <a:ext uri="{FF2B5EF4-FFF2-40B4-BE49-F238E27FC236}">
                <a16:creationId xmlns:a16="http://schemas.microsoft.com/office/drawing/2014/main" id="{A2E3A32F-BFD2-5D39-ABCE-C84EB2EED217}"/>
              </a:ext>
              <a:ext uri="{C183D7F6-B498-43B3-948B-1728B52AA6E4}">
                <adec:decorative xmlns:adec="http://schemas.microsoft.com/office/drawing/2017/decorative" val="1"/>
              </a:ext>
            </a:extLst>
          </p:cNvPr>
          <p:cNvSpPr/>
          <p:nvPr/>
        </p:nvSpPr>
        <p:spPr>
          <a:xfrm>
            <a:off x="1"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itle 51">
            <a:extLst>
              <a:ext uri="{FF2B5EF4-FFF2-40B4-BE49-F238E27FC236}">
                <a16:creationId xmlns:a16="http://schemas.microsoft.com/office/drawing/2014/main" id="{11AA0C65-9E0B-81D0-CA40-6197E5E28B1F}"/>
              </a:ext>
            </a:extLst>
          </p:cNvPr>
          <p:cNvSpPr>
            <a:spLocks noGrp="1"/>
          </p:cNvSpPr>
          <p:nvPr>
            <p:ph type="title"/>
          </p:nvPr>
        </p:nvSpPr>
        <p:spPr>
          <a:xfrm>
            <a:off x="581025" y="365125"/>
            <a:ext cx="11029950" cy="549275"/>
          </a:xfrm>
        </p:spPr>
        <p:txBody>
          <a:bodyPr anchor="t"/>
          <a:lstStyle/>
          <a:p>
            <a:pPr lvl="0"/>
            <a:r>
              <a:rPr lang="en-US" noProof="0">
                <a:solidFill>
                  <a:srgbClr val="FFFDF9"/>
                </a:solidFill>
              </a:rPr>
              <a:t>Unified query</a:t>
            </a:r>
            <a:br>
              <a:rPr lang="en-US" noProof="0">
                <a:solidFill>
                  <a:srgbClr val="FFFDF9"/>
                </a:solidFill>
              </a:rPr>
            </a:br>
            <a:r>
              <a:rPr lang="en-US" noProof="0">
                <a:solidFill>
                  <a:srgbClr val="FFFDF9"/>
                </a:solidFill>
              </a:rPr>
              <a:t>optimization</a:t>
            </a:r>
          </a:p>
        </p:txBody>
      </p:sp>
      <p:sp>
        <p:nvSpPr>
          <p:cNvPr id="2" name="Rectangle: Rounded Corners 19">
            <a:extLst>
              <a:ext uri="{FF2B5EF4-FFF2-40B4-BE49-F238E27FC236}">
                <a16:creationId xmlns:a16="http://schemas.microsoft.com/office/drawing/2014/main" id="{AD3F3AD7-DC82-9B60-24F4-86232FFB8784}"/>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rgbClr val="8661C5">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Sans Display"/>
              <a:ea typeface="+mn-ea"/>
              <a:cs typeface="+mn-cs"/>
            </a:endParaRPr>
          </a:p>
        </p:txBody>
      </p:sp>
      <p:sp>
        <p:nvSpPr>
          <p:cNvPr id="3" name="Graphic 51">
            <a:extLst>
              <a:ext uri="{FF2B5EF4-FFF2-40B4-BE49-F238E27FC236}">
                <a16:creationId xmlns:a16="http://schemas.microsoft.com/office/drawing/2014/main" id="{A475C46D-C021-EEB8-7FD3-D08841F5C694}"/>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rgbClr val="49C5B1">
              <a:lumMod val="60000"/>
              <a:lumOff val="40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25B61"/>
              </a:solidFill>
              <a:effectLst/>
              <a:uLnTx/>
              <a:uFillTx/>
              <a:latin typeface="Segoe Sans Display"/>
            </a:endParaRPr>
          </a:p>
        </p:txBody>
      </p:sp>
      <p:sp>
        <p:nvSpPr>
          <p:cNvPr id="10" name="Rectangle: Rounded Corners 8">
            <a:extLst>
              <a:ext uri="{FF2B5EF4-FFF2-40B4-BE49-F238E27FC236}">
                <a16:creationId xmlns:a16="http://schemas.microsoft.com/office/drawing/2014/main" id="{32750A54-20E7-934C-8D41-7FA576C1BFDD}"/>
              </a:ext>
              <a:ext uri="{C183D7F6-B498-43B3-948B-1728B52AA6E4}">
                <adec:decorative xmlns:adec="http://schemas.microsoft.com/office/drawing/2017/decorative" val="1"/>
              </a:ext>
            </a:extLst>
          </p:cNvPr>
          <p:cNvSpPr/>
          <p:nvPr/>
        </p:nvSpPr>
        <p:spPr>
          <a:xfrm>
            <a:off x="4930444" y="543430"/>
            <a:ext cx="6694322" cy="5971670"/>
          </a:xfrm>
          <a:prstGeom prst="roundRect">
            <a:avLst>
              <a:gd name="adj" fmla="val 5180"/>
            </a:avLst>
          </a:prstGeom>
          <a:solidFill>
            <a:srgbClr val="F9F9F9">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endPar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Sans Display"/>
              <a:ea typeface="+mn-ea"/>
              <a:cs typeface="+mn-cs"/>
            </a:endParaRPr>
          </a:p>
        </p:txBody>
      </p:sp>
      <p:pic>
        <p:nvPicPr>
          <p:cNvPr id="44" name="Picture 43" descr="Data warehouse logo">
            <a:extLst>
              <a:ext uri="{FF2B5EF4-FFF2-40B4-BE49-F238E27FC236}">
                <a16:creationId xmlns:a16="http://schemas.microsoft.com/office/drawing/2014/main" id="{0A6C464A-F60D-461C-BBE3-9FCEB5C950FC}"/>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617785" y="131716"/>
            <a:ext cx="410912" cy="411714"/>
          </a:xfrm>
          <a:prstGeom prst="rect">
            <a:avLst/>
          </a:prstGeom>
          <a:noFill/>
        </p:spPr>
      </p:pic>
      <p:sp>
        <p:nvSpPr>
          <p:cNvPr id="43" name="TextBox 42">
            <a:extLst>
              <a:ext uri="{FF2B5EF4-FFF2-40B4-BE49-F238E27FC236}">
                <a16:creationId xmlns:a16="http://schemas.microsoft.com/office/drawing/2014/main" id="{A432000E-B2D9-83AF-EC5D-11BC9F87398C}"/>
              </a:ext>
            </a:extLst>
          </p:cNvPr>
          <p:cNvSpPr txBox="1"/>
          <p:nvPr/>
        </p:nvSpPr>
        <p:spPr>
          <a:xfrm>
            <a:off x="581025" y="1488727"/>
            <a:ext cx="3472915" cy="1015663"/>
          </a:xfrm>
          <a:prstGeom prst="rect">
            <a:avLst/>
          </a:prstGeom>
          <a:noFill/>
        </p:spPr>
        <p:txBody>
          <a:bodyPr wrap="square" lIns="0" tIns="0" rIns="0" bIns="0">
            <a:spAutoFit/>
          </a:bodyPr>
          <a:lstStyle/>
          <a:p>
            <a:pPr defTabSz="914367">
              <a:spcAft>
                <a:spcPts val="1200"/>
              </a:spcAft>
              <a:defRPr/>
            </a:pPr>
            <a:r>
              <a:rPr lang="en-US" sz="1400">
                <a:solidFill>
                  <a:srgbClr val="FFFFFF"/>
                </a:solidFill>
                <a:cs typeface="Segoe Sans Text" pitchFamily="2" charset="0"/>
              </a:rPr>
              <a:t>Get best performance out-of-the-box at lowest cost</a:t>
            </a:r>
          </a:p>
          <a:p>
            <a:pPr defTabSz="914367">
              <a:spcAft>
                <a:spcPts val="1200"/>
              </a:spcAft>
              <a:defRPr/>
            </a:pPr>
            <a:r>
              <a:rPr lang="en-US" sz="1400">
                <a:solidFill>
                  <a:srgbClr val="FFFFFF"/>
                </a:solidFill>
                <a:cs typeface="Segoe Sans Text" pitchFamily="2" charset="0"/>
              </a:rPr>
              <a:t>Query plan provides top performance for queries out-of-the-box at cheapest cost</a:t>
            </a:r>
          </a:p>
        </p:txBody>
      </p:sp>
      <p:cxnSp>
        <p:nvCxnSpPr>
          <p:cNvPr id="12" name="Straight Connector 11">
            <a:extLst>
              <a:ext uri="{FF2B5EF4-FFF2-40B4-BE49-F238E27FC236}">
                <a16:creationId xmlns:a16="http://schemas.microsoft.com/office/drawing/2014/main" id="{56CB2DDD-64D4-EBB2-0676-E9DC2B8006A0}"/>
              </a:ext>
              <a:ext uri="{C183D7F6-B498-43B3-948B-1728B52AA6E4}">
                <adec:decorative xmlns:adec="http://schemas.microsoft.com/office/drawing/2017/decorative" val="1"/>
              </a:ext>
            </a:extLst>
          </p:cNvPr>
          <p:cNvCxnSpPr>
            <a:cxnSpLocks/>
          </p:cNvCxnSpPr>
          <p:nvPr/>
        </p:nvCxnSpPr>
        <p:spPr>
          <a:xfrm>
            <a:off x="581025" y="2689976"/>
            <a:ext cx="3472915" cy="0"/>
          </a:xfrm>
          <a:prstGeom prst="line">
            <a:avLst/>
          </a:prstGeom>
          <a:noFill/>
          <a:ln w="12700" cap="flat" cmpd="sng" algn="ctr">
            <a:solidFill>
              <a:srgbClr val="FFFEF9"/>
            </a:solidFill>
            <a:prstDash val="solid"/>
            <a:miter lim="800000"/>
          </a:ln>
          <a:effectLst/>
        </p:spPr>
      </p:cxnSp>
      <p:sp>
        <p:nvSpPr>
          <p:cNvPr id="42" name="TextBox 41">
            <a:extLst>
              <a:ext uri="{FF2B5EF4-FFF2-40B4-BE49-F238E27FC236}">
                <a16:creationId xmlns:a16="http://schemas.microsoft.com/office/drawing/2014/main" id="{722F2ED5-12FB-21E2-D3E4-C3C7956F1647}"/>
              </a:ext>
            </a:extLst>
          </p:cNvPr>
          <p:cNvSpPr txBox="1"/>
          <p:nvPr/>
        </p:nvSpPr>
        <p:spPr>
          <a:xfrm>
            <a:off x="581025" y="2875562"/>
            <a:ext cx="3472915" cy="2157514"/>
          </a:xfrm>
          <a:prstGeom prst="rect">
            <a:avLst/>
          </a:prstGeom>
          <a:noFill/>
        </p:spPr>
        <p:txBody>
          <a:bodyPr wrap="square" lIns="0" tIns="0" rIns="0" bIns="0" rtlCol="0" anchor="t">
            <a:spAutoFit/>
          </a:bodyPr>
          <a:lstStyle/>
          <a:p>
            <a:pPr defTabSz="914367">
              <a:lnSpc>
                <a:spcPct val="105000"/>
              </a:lnSpc>
              <a:spcAft>
                <a:spcPts val="300"/>
              </a:spcAft>
              <a:defRPr/>
            </a:pPr>
            <a:r>
              <a:rPr lang="en-US" sz="1400" i="1">
                <a:solidFill>
                  <a:srgbClr val="FFFFFF"/>
                </a:solidFill>
                <a:latin typeface="Segoe Sans Display Semibold" pitchFamily="2" charset="0"/>
                <a:cs typeface="Segoe Sans Display Semibold" pitchFamily="2" charset="0"/>
              </a:rPr>
              <a:t>Key Capabilities: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Query plan with optimal # of nodes for each step with efficient resource consumption automatically created</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Ability to create user-defined statistics manually</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Auto-create statistics ensures optimal query performance by creating statistics as needed by the query optimizer</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Auto-update statistics feature (pending) ensures optimal query performance maintenance free</a:t>
            </a:r>
          </a:p>
        </p:txBody>
      </p:sp>
      <p:grpSp>
        <p:nvGrpSpPr>
          <p:cNvPr id="13" name="Group 12" descr="visual of a chart showcasing the unified query optimization feature. There are 5 rectangles containing text in a vertical row. At the bottom is a 14x5 table shaded in two different colors of green. The left side of the table if labeled as steps 1-5">
            <a:extLst>
              <a:ext uri="{FF2B5EF4-FFF2-40B4-BE49-F238E27FC236}">
                <a16:creationId xmlns:a16="http://schemas.microsoft.com/office/drawing/2014/main" id="{DA365D8D-D3CE-F583-C8AE-0161A72E7046}"/>
              </a:ext>
            </a:extLst>
          </p:cNvPr>
          <p:cNvGrpSpPr/>
          <p:nvPr/>
        </p:nvGrpSpPr>
        <p:grpSpPr>
          <a:xfrm>
            <a:off x="5158765" y="730614"/>
            <a:ext cx="6218273" cy="5441729"/>
            <a:chOff x="5158765" y="730614"/>
            <a:chExt cx="6218273" cy="5441729"/>
          </a:xfrm>
        </p:grpSpPr>
        <p:sp>
          <p:nvSpPr>
            <p:cNvPr id="14" name="Rounded Rectangle 56">
              <a:extLst>
                <a:ext uri="{FF2B5EF4-FFF2-40B4-BE49-F238E27FC236}">
                  <a16:creationId xmlns:a16="http://schemas.microsoft.com/office/drawing/2014/main" id="{14CDE80F-ED2B-BCBF-A34D-2AA0E426C9D1}"/>
                </a:ext>
                <a:ext uri="{C183D7F6-B498-43B3-948B-1728B52AA6E4}">
                  <adec:decorative xmlns:adec="http://schemas.microsoft.com/office/drawing/2017/decorative" val="1"/>
                </a:ext>
              </a:extLst>
            </p:cNvPr>
            <p:cNvSpPr/>
            <p:nvPr/>
          </p:nvSpPr>
          <p:spPr bwMode="auto">
            <a:xfrm>
              <a:off x="5158765" y="4411622"/>
              <a:ext cx="6218273" cy="1760721"/>
            </a:xfrm>
            <a:prstGeom prst="roundRect">
              <a:avLst>
                <a:gd name="adj" fmla="val 3305"/>
              </a:avLst>
            </a:prstGeom>
            <a:solidFill>
              <a:srgbClr val="FFFFFF"/>
            </a:solidFill>
            <a:ln w="38100" cap="flat" cmpd="sng" algn="ctr">
              <a:gradFill flip="none" rotWithShape="1">
                <a:gsLst>
                  <a:gs pos="0">
                    <a:srgbClr val="49C5B1"/>
                  </a:gs>
                  <a:gs pos="100000">
                    <a:srgbClr val="C03BC3"/>
                  </a:gs>
                </a:gsLst>
                <a:lin ang="2700000" scaled="1"/>
                <a:tileRect/>
              </a:gradFill>
              <a:prstDash val="solid"/>
              <a:round/>
              <a:headEnd type="none" w="med" len="med"/>
              <a:tailEnd type="none" w="med" len="med"/>
            </a:ln>
            <a:effectLst>
              <a:outerShdw blurRad="254000" dist="381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CA" sz="2000" b="0" i="0" u="none" strike="noStrike" kern="0" cap="none" spc="0" normalizeH="0" baseline="0" noProof="0" err="1">
                <a:ln>
                  <a:noFill/>
                </a:ln>
                <a:solidFill>
                  <a:srgbClr val="243A5E"/>
                </a:solidFill>
                <a:effectLst/>
                <a:uLnTx/>
                <a:uFillTx/>
                <a:latin typeface="Segoe Sans Display"/>
                <a:ea typeface="Segoe UI" pitchFamily="34" charset="0"/>
                <a:cs typeface="Segoe UI" pitchFamily="34" charset="0"/>
              </a:endParaRPr>
            </a:p>
          </p:txBody>
        </p:sp>
        <p:pic>
          <p:nvPicPr>
            <p:cNvPr id="17" name="Graphic 16" descr="Decision chart outline">
              <a:extLst>
                <a:ext uri="{FF2B5EF4-FFF2-40B4-BE49-F238E27FC236}">
                  <a16:creationId xmlns:a16="http://schemas.microsoft.com/office/drawing/2014/main" id="{51EC7314-8998-DB0D-5879-43C9DF79B16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62752" y="4504728"/>
              <a:ext cx="355308" cy="355308"/>
            </a:xfrm>
            <a:prstGeom prst="rect">
              <a:avLst/>
            </a:prstGeom>
          </p:spPr>
        </p:pic>
        <p:sp>
          <p:nvSpPr>
            <p:cNvPr id="18" name="Rectangle 8">
              <a:extLst>
                <a:ext uri="{FF2B5EF4-FFF2-40B4-BE49-F238E27FC236}">
                  <a16:creationId xmlns:a16="http://schemas.microsoft.com/office/drawing/2014/main" id="{DF135D58-5E92-7001-6DD0-A5E4926DB11B}"/>
                </a:ext>
                <a:ext uri="{C183D7F6-B498-43B3-948B-1728B52AA6E4}">
                  <adec:decorative xmlns:adec="http://schemas.microsoft.com/office/drawing/2017/decorative" val="1"/>
                </a:ext>
              </a:extLst>
            </p:cNvPr>
            <p:cNvSpPr>
              <a:spLocks noChangeArrowheads="1"/>
            </p:cNvSpPr>
            <p:nvPr/>
          </p:nvSpPr>
          <p:spPr bwMode="auto">
            <a:xfrm>
              <a:off x="5982340" y="2473983"/>
              <a:ext cx="4554319" cy="723918"/>
            </a:xfrm>
            <a:prstGeom prst="rect">
              <a:avLst/>
            </a:prstGeom>
            <a:solidFill>
              <a:srgbClr val="0C6959"/>
            </a:solidFill>
            <a:ln w="9525">
              <a:noFill/>
              <a:miter lim="800000"/>
              <a:headEnd/>
              <a:tailEnd/>
            </a:ln>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en-US" sz="1200" b="0" i="0" u="none" strike="noStrike" kern="0" cap="none" spc="0" normalizeH="0" baseline="0" noProof="0">
                  <a:ln>
                    <a:noFill/>
                  </a:ln>
                  <a:solidFill>
                    <a:srgbClr val="FFFFFF"/>
                  </a:solidFill>
                  <a:effectLst/>
                  <a:uLnTx/>
                  <a:uFillTx/>
                </a:rPr>
                <a:t>Cost-based optimization </a:t>
              </a:r>
            </a:p>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en-US" sz="1200" b="0" i="0" u="none" strike="noStrike" kern="0" cap="none" spc="0" normalizeH="0" baseline="0" noProof="0">
                  <a:ln>
                    <a:noFill/>
                  </a:ln>
                  <a:solidFill>
                    <a:srgbClr val="FFFFFF"/>
                  </a:solidFill>
                  <a:effectLst/>
                  <a:uLnTx/>
                  <a:uFillTx/>
                </a:rPr>
                <a:t>(alternatives, cost estimation)</a:t>
              </a:r>
            </a:p>
          </p:txBody>
        </p:sp>
        <p:sp>
          <p:nvSpPr>
            <p:cNvPr id="19" name="Rectangle 8">
              <a:extLst>
                <a:ext uri="{FF2B5EF4-FFF2-40B4-BE49-F238E27FC236}">
                  <a16:creationId xmlns:a16="http://schemas.microsoft.com/office/drawing/2014/main" id="{F862CF8F-3592-0ADF-5207-A142A743A64E}"/>
                </a:ext>
              </a:extLst>
            </p:cNvPr>
            <p:cNvSpPr>
              <a:spLocks noChangeArrowheads="1"/>
            </p:cNvSpPr>
            <p:nvPr/>
          </p:nvSpPr>
          <p:spPr bwMode="auto">
            <a:xfrm>
              <a:off x="5982340" y="1644202"/>
              <a:ext cx="4554319" cy="334057"/>
            </a:xfrm>
            <a:prstGeom prst="rect">
              <a:avLst/>
            </a:prstGeom>
            <a:solidFill>
              <a:srgbClr val="0C6959"/>
            </a:solidFill>
            <a:ln w="9525">
              <a:no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rPr>
                <a:t>Create missing statistics</a:t>
              </a:r>
            </a:p>
          </p:txBody>
        </p:sp>
        <p:sp>
          <p:nvSpPr>
            <p:cNvPr id="32" name="Rectangle 8">
              <a:extLst>
                <a:ext uri="{FF2B5EF4-FFF2-40B4-BE49-F238E27FC236}">
                  <a16:creationId xmlns:a16="http://schemas.microsoft.com/office/drawing/2014/main" id="{471CF8C3-31B4-538C-C6A6-DCCC84811B2A}"/>
                </a:ext>
              </a:extLst>
            </p:cNvPr>
            <p:cNvSpPr>
              <a:spLocks noChangeArrowheads="1"/>
            </p:cNvSpPr>
            <p:nvPr/>
          </p:nvSpPr>
          <p:spPr bwMode="auto">
            <a:xfrm>
              <a:off x="5982340" y="1187408"/>
              <a:ext cx="4554319" cy="334057"/>
            </a:xfrm>
            <a:prstGeom prst="rect">
              <a:avLst/>
            </a:prstGeom>
            <a:solidFill>
              <a:srgbClr val="0C6959"/>
            </a:solidFill>
            <a:ln w="9525">
              <a:no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rPr>
                <a:t>Simplify query</a:t>
              </a:r>
            </a:p>
          </p:txBody>
        </p:sp>
        <p:sp>
          <p:nvSpPr>
            <p:cNvPr id="36" name="Rectangle 8">
              <a:extLst>
                <a:ext uri="{FF2B5EF4-FFF2-40B4-BE49-F238E27FC236}">
                  <a16:creationId xmlns:a16="http://schemas.microsoft.com/office/drawing/2014/main" id="{C8279721-C5DC-2A5B-0B36-0744A03419B2}"/>
                </a:ext>
              </a:extLst>
            </p:cNvPr>
            <p:cNvSpPr>
              <a:spLocks noChangeArrowheads="1"/>
            </p:cNvSpPr>
            <p:nvPr/>
          </p:nvSpPr>
          <p:spPr bwMode="auto">
            <a:xfrm>
              <a:off x="5981038" y="730614"/>
              <a:ext cx="4556954" cy="334057"/>
            </a:xfrm>
            <a:prstGeom prst="rect">
              <a:avLst/>
            </a:prstGeom>
            <a:solidFill>
              <a:srgbClr val="0C6959"/>
            </a:solidFill>
            <a:ln w="9525">
              <a:no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rPr>
                <a:t>Pull relevant metadata</a:t>
              </a:r>
            </a:p>
          </p:txBody>
        </p:sp>
        <p:sp>
          <p:nvSpPr>
            <p:cNvPr id="37" name="TextBox 36">
              <a:extLst>
                <a:ext uri="{FF2B5EF4-FFF2-40B4-BE49-F238E27FC236}">
                  <a16:creationId xmlns:a16="http://schemas.microsoft.com/office/drawing/2014/main" id="{9EC14764-4C54-AF63-D0DA-CCB9341C6859}"/>
                </a:ext>
              </a:extLst>
            </p:cNvPr>
            <p:cNvSpPr txBox="1"/>
            <p:nvPr/>
          </p:nvSpPr>
          <p:spPr>
            <a:xfrm>
              <a:off x="5970559" y="3700226"/>
              <a:ext cx="4578128" cy="461665"/>
            </a:xfrm>
            <a:prstGeom prst="rect">
              <a:avLst/>
            </a:prstGeom>
            <a:solidFill>
              <a:srgbClr val="0C6959"/>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rPr>
                <a:t>Plan of high quality in reasonable time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rPr>
                <a:t>(size of search space, accuracy of estimation)</a:t>
              </a:r>
            </a:p>
          </p:txBody>
        </p:sp>
        <p:sp>
          <p:nvSpPr>
            <p:cNvPr id="39" name="Arrow: Down 14">
              <a:extLst>
                <a:ext uri="{FF2B5EF4-FFF2-40B4-BE49-F238E27FC236}">
                  <a16:creationId xmlns:a16="http://schemas.microsoft.com/office/drawing/2014/main" id="{C00C7DB1-F640-8D5C-10CA-988629D2996B}"/>
                </a:ext>
              </a:extLst>
            </p:cNvPr>
            <p:cNvSpPr/>
            <p:nvPr/>
          </p:nvSpPr>
          <p:spPr>
            <a:xfrm>
              <a:off x="8141146" y="2076681"/>
              <a:ext cx="190715" cy="290324"/>
            </a:xfrm>
            <a:prstGeom prst="downArrow">
              <a:avLst/>
            </a:prstGeom>
            <a:solidFill>
              <a:srgbClr val="033F38"/>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Segoe Sans Display"/>
              </a:endParaRPr>
            </a:p>
          </p:txBody>
        </p:sp>
        <p:sp>
          <p:nvSpPr>
            <p:cNvPr id="40" name="Arrow: Down 15">
              <a:extLst>
                <a:ext uri="{FF2B5EF4-FFF2-40B4-BE49-F238E27FC236}">
                  <a16:creationId xmlns:a16="http://schemas.microsoft.com/office/drawing/2014/main" id="{80562638-BC7E-193B-5230-D4A570D72D42}"/>
                </a:ext>
              </a:extLst>
            </p:cNvPr>
            <p:cNvSpPr/>
            <p:nvPr/>
          </p:nvSpPr>
          <p:spPr>
            <a:xfrm>
              <a:off x="8141146" y="3311481"/>
              <a:ext cx="190715" cy="290324"/>
            </a:xfrm>
            <a:prstGeom prst="downArrow">
              <a:avLst/>
            </a:prstGeom>
            <a:solidFill>
              <a:srgbClr val="033F38"/>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Segoe Sans Display"/>
              </a:endParaRPr>
            </a:p>
          </p:txBody>
        </p:sp>
      </p:grpSp>
      <p:sp>
        <p:nvSpPr>
          <p:cNvPr id="9" name="Slide Number Placeholder 5">
            <a:extLst>
              <a:ext uri="{FF2B5EF4-FFF2-40B4-BE49-F238E27FC236}">
                <a16:creationId xmlns:a16="http://schemas.microsoft.com/office/drawing/2014/main" id="{E7F99C15-3DD2-2FEC-D9EB-A3760E8F51CA}"/>
              </a:ext>
            </a:extLst>
          </p:cNvPr>
          <p:cNvSpPr txBox="1">
            <a:spLocks/>
          </p:cNvSpPr>
          <p:nvPr/>
        </p:nvSpPr>
        <p:spPr>
          <a:xfrm>
            <a:off x="607809" y="6311900"/>
            <a:ext cx="399288"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356FBF-028C-F74E-A7B4-9B8ED246DD1B}" type="slidenum">
              <a:rPr lang="en-US" smtClean="0">
                <a:solidFill>
                  <a:srgbClr val="FFFEFB"/>
                </a:solidFill>
                <a:latin typeface="Segoe Sans Display"/>
              </a:rPr>
              <a:pPr/>
              <a:t>16</a:t>
            </a:fld>
            <a:endParaRPr lang="en-US">
              <a:solidFill>
                <a:srgbClr val="FFFEFB"/>
              </a:solidFill>
              <a:latin typeface="Segoe Sans Display"/>
            </a:endParaRPr>
          </a:p>
        </p:txBody>
      </p:sp>
      <p:sp>
        <p:nvSpPr>
          <p:cNvPr id="8" name="Footer Placeholder 4">
            <a:extLst>
              <a:ext uri="{FF2B5EF4-FFF2-40B4-BE49-F238E27FC236}">
                <a16:creationId xmlns:a16="http://schemas.microsoft.com/office/drawing/2014/main" id="{EC99F2A3-C1D2-BE4E-6D48-8349B426E50E}"/>
              </a:ext>
            </a:extLst>
          </p:cNvPr>
          <p:cNvSpPr txBox="1">
            <a:spLocks/>
          </p:cNvSpPr>
          <p:nvPr/>
        </p:nvSpPr>
        <p:spPr>
          <a:xfrm>
            <a:off x="1007097" y="6311900"/>
            <a:ext cx="2078736"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FFFEFB"/>
                </a:solidFill>
                <a:latin typeface="Segoe Sans Display"/>
              </a:rPr>
              <a:t>Microsoft Fabric</a:t>
            </a:r>
          </a:p>
        </p:txBody>
      </p:sp>
      <p:graphicFrame>
        <p:nvGraphicFramePr>
          <p:cNvPr id="41" name="Table 40">
            <a:extLst>
              <a:ext uri="{FF2B5EF4-FFF2-40B4-BE49-F238E27FC236}">
                <a16:creationId xmlns:a16="http://schemas.microsoft.com/office/drawing/2014/main" id="{E727BDB9-84A2-2B2A-CE41-458C08390E54}"/>
              </a:ext>
              <a:ext uri="{C183D7F6-B498-43B3-948B-1728B52AA6E4}">
                <adec:decorative xmlns:adec="http://schemas.microsoft.com/office/drawing/2017/decorative" val="1"/>
              </a:ext>
            </a:extLst>
          </p:cNvPr>
          <p:cNvGraphicFramePr>
            <a:graphicFrameLocks noGrp="1"/>
          </p:cNvGraphicFramePr>
          <p:nvPr/>
        </p:nvGraphicFramePr>
        <p:xfrm>
          <a:off x="5791200" y="4607213"/>
          <a:ext cx="5273949" cy="1369540"/>
        </p:xfrm>
        <a:graphic>
          <a:graphicData uri="http://schemas.openxmlformats.org/drawingml/2006/table">
            <a:tbl>
              <a:tblPr firstRow="1" firstCol="1"/>
              <a:tblGrid>
                <a:gridCol w="988863">
                  <a:extLst>
                    <a:ext uri="{9D8B030D-6E8A-4147-A177-3AD203B41FA5}">
                      <a16:colId xmlns:a16="http://schemas.microsoft.com/office/drawing/2014/main" val="3660389534"/>
                    </a:ext>
                  </a:extLst>
                </a:gridCol>
                <a:gridCol w="329622">
                  <a:extLst>
                    <a:ext uri="{9D8B030D-6E8A-4147-A177-3AD203B41FA5}">
                      <a16:colId xmlns:a16="http://schemas.microsoft.com/office/drawing/2014/main" val="2635532953"/>
                    </a:ext>
                  </a:extLst>
                </a:gridCol>
                <a:gridCol w="329622">
                  <a:extLst>
                    <a:ext uri="{9D8B030D-6E8A-4147-A177-3AD203B41FA5}">
                      <a16:colId xmlns:a16="http://schemas.microsoft.com/office/drawing/2014/main" val="3750169862"/>
                    </a:ext>
                  </a:extLst>
                </a:gridCol>
                <a:gridCol w="329622">
                  <a:extLst>
                    <a:ext uri="{9D8B030D-6E8A-4147-A177-3AD203B41FA5}">
                      <a16:colId xmlns:a16="http://schemas.microsoft.com/office/drawing/2014/main" val="2955213685"/>
                    </a:ext>
                  </a:extLst>
                </a:gridCol>
                <a:gridCol w="329622">
                  <a:extLst>
                    <a:ext uri="{9D8B030D-6E8A-4147-A177-3AD203B41FA5}">
                      <a16:colId xmlns:a16="http://schemas.microsoft.com/office/drawing/2014/main" val="574406613"/>
                    </a:ext>
                  </a:extLst>
                </a:gridCol>
                <a:gridCol w="329622">
                  <a:extLst>
                    <a:ext uri="{9D8B030D-6E8A-4147-A177-3AD203B41FA5}">
                      <a16:colId xmlns:a16="http://schemas.microsoft.com/office/drawing/2014/main" val="417084073"/>
                    </a:ext>
                  </a:extLst>
                </a:gridCol>
                <a:gridCol w="329622">
                  <a:extLst>
                    <a:ext uri="{9D8B030D-6E8A-4147-A177-3AD203B41FA5}">
                      <a16:colId xmlns:a16="http://schemas.microsoft.com/office/drawing/2014/main" val="3833710230"/>
                    </a:ext>
                  </a:extLst>
                </a:gridCol>
                <a:gridCol w="329622">
                  <a:extLst>
                    <a:ext uri="{9D8B030D-6E8A-4147-A177-3AD203B41FA5}">
                      <a16:colId xmlns:a16="http://schemas.microsoft.com/office/drawing/2014/main" val="3190118261"/>
                    </a:ext>
                  </a:extLst>
                </a:gridCol>
                <a:gridCol w="329622">
                  <a:extLst>
                    <a:ext uri="{9D8B030D-6E8A-4147-A177-3AD203B41FA5}">
                      <a16:colId xmlns:a16="http://schemas.microsoft.com/office/drawing/2014/main" val="1835814879"/>
                    </a:ext>
                  </a:extLst>
                </a:gridCol>
                <a:gridCol w="329622">
                  <a:extLst>
                    <a:ext uri="{9D8B030D-6E8A-4147-A177-3AD203B41FA5}">
                      <a16:colId xmlns:a16="http://schemas.microsoft.com/office/drawing/2014/main" val="850968146"/>
                    </a:ext>
                  </a:extLst>
                </a:gridCol>
                <a:gridCol w="329622">
                  <a:extLst>
                    <a:ext uri="{9D8B030D-6E8A-4147-A177-3AD203B41FA5}">
                      <a16:colId xmlns:a16="http://schemas.microsoft.com/office/drawing/2014/main" val="1223726835"/>
                    </a:ext>
                  </a:extLst>
                </a:gridCol>
                <a:gridCol w="329622">
                  <a:extLst>
                    <a:ext uri="{9D8B030D-6E8A-4147-A177-3AD203B41FA5}">
                      <a16:colId xmlns:a16="http://schemas.microsoft.com/office/drawing/2014/main" val="555489958"/>
                    </a:ext>
                  </a:extLst>
                </a:gridCol>
                <a:gridCol w="329622">
                  <a:extLst>
                    <a:ext uri="{9D8B030D-6E8A-4147-A177-3AD203B41FA5}">
                      <a16:colId xmlns:a16="http://schemas.microsoft.com/office/drawing/2014/main" val="3826704577"/>
                    </a:ext>
                  </a:extLst>
                </a:gridCol>
                <a:gridCol w="329622">
                  <a:extLst>
                    <a:ext uri="{9D8B030D-6E8A-4147-A177-3AD203B41FA5}">
                      <a16:colId xmlns:a16="http://schemas.microsoft.com/office/drawing/2014/main" val="528163356"/>
                    </a:ext>
                  </a:extLst>
                </a:gridCol>
              </a:tblGrid>
              <a:tr h="273908">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r>
                        <a:rPr lang="en-US" sz="1000" b="1" i="0">
                          <a:solidFill>
                            <a:schemeClr val="tx1"/>
                          </a:solidFill>
                          <a:latin typeface="Segoe Sans Display Semibold" pitchFamily="2" charset="0"/>
                          <a:cs typeface="Segoe Sans Display Semibold" pitchFamily="2" charset="0"/>
                        </a:rPr>
                        <a:t>Step 1</a:t>
                      </a: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ap="flat" cmpd="sng" algn="ctr">
                      <a:solidFill>
                        <a:srgbClr val="001919"/>
                      </a:solidFill>
                      <a:prstDash val="solid"/>
                      <a:round/>
                      <a:headEnd type="none" w="med" len="med"/>
                      <a:tailEnd type="none" w="med" len="med"/>
                    </a:lnL>
                    <a:lnR w="12700" cap="flat" cmpd="sng" algn="ctr">
                      <a:solidFill>
                        <a:srgbClr val="001919"/>
                      </a:solidFill>
                      <a:prstDash val="solid"/>
                      <a:round/>
                      <a:headEnd type="none" w="med" len="med"/>
                      <a:tailEnd type="none" w="med" len="med"/>
                    </a:lnR>
                    <a:lnT w="12700" cap="flat" cmpd="sng" algn="ctr">
                      <a:solidFill>
                        <a:srgbClr val="001919"/>
                      </a:solidFill>
                      <a:prstDash val="solid"/>
                      <a:round/>
                      <a:headEnd type="none" w="med" len="med"/>
                      <a:tailEnd type="none" w="med" len="med"/>
                    </a:lnT>
                    <a:lnB w="12700" cap="flat" cmpd="sng" algn="ctr">
                      <a:solidFill>
                        <a:srgbClr val="001919"/>
                      </a:solidFill>
                      <a:prstDash val="solid"/>
                      <a:round/>
                      <a:headEnd type="none" w="med" len="med"/>
                      <a:tailEnd type="none" w="med" len="med"/>
                    </a:lnB>
                    <a:lnTlToBr w="12700" cmpd="sng">
                      <a:noFill/>
                      <a:prstDash val="solid"/>
                    </a:lnTlToBr>
                    <a:lnBlToTr w="12700" cmpd="sng">
                      <a:noFill/>
                      <a:prstDash val="solid"/>
                    </a:lnBlToTr>
                    <a:solidFill>
                      <a:srgbClr val="033F38"/>
                    </a:solidFill>
                  </a:tcPr>
                </a:tc>
                <a:extLst>
                  <a:ext uri="{0D108BD9-81ED-4DB2-BD59-A6C34878D82A}">
                    <a16:rowId xmlns:a16="http://schemas.microsoft.com/office/drawing/2014/main" val="4113425870"/>
                  </a:ext>
                </a:extLst>
              </a:tr>
              <a:tr h="273908">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r>
                        <a:rPr lang="en-US" sz="1000" b="1" i="0">
                          <a:solidFill>
                            <a:schemeClr val="tx1"/>
                          </a:solidFill>
                          <a:latin typeface="Segoe Sans Display Semibold" pitchFamily="2" charset="0"/>
                          <a:cs typeface="Segoe Sans Display Semibold" pitchFamily="2" charset="0"/>
                        </a:rPr>
                        <a:t>Step 2</a:t>
                      </a: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l" defTabSz="914400" rtl="0" eaLnBrk="1" latinLnBrk="0" hangingPunct="1"/>
                      <a:endParaRPr lang="en-US" sz="100" b="1" i="0" kern="1200">
                        <a:solidFill>
                          <a:schemeClr val="tx1"/>
                        </a:solidFill>
                        <a:latin typeface="Segoe Sans Display Semibold" pitchFamily="2" charset="0"/>
                        <a:ea typeface="+mn-ea"/>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ap="flat" cmpd="sng" algn="ctr">
                      <a:solidFill>
                        <a:srgbClr val="001919"/>
                      </a:solidFill>
                      <a:prstDash val="solid"/>
                      <a:round/>
                      <a:headEnd type="none" w="med" len="med"/>
                      <a:tailEnd type="none" w="med" len="med"/>
                    </a:lnT>
                    <a:lnB w="12700" cmpd="sng">
                      <a:solidFill>
                        <a:srgbClr val="0C6959"/>
                      </a:solidFill>
                    </a:lnB>
                    <a:lnTlToBr w="12700" cmpd="sng">
                      <a:noFill/>
                      <a:prstDash val="solid"/>
                    </a:lnTlToBr>
                    <a:lnBlToTr w="12700" cmpd="sng">
                      <a:noFill/>
                      <a:prstDash val="solid"/>
                    </a:lnBlToTr>
                    <a:solidFill>
                      <a:srgbClr val="033F38"/>
                    </a:solidFill>
                  </a:tcPr>
                </a:tc>
                <a:extLst>
                  <a:ext uri="{0D108BD9-81ED-4DB2-BD59-A6C34878D82A}">
                    <a16:rowId xmlns:a16="http://schemas.microsoft.com/office/drawing/2014/main" val="2928272149"/>
                  </a:ext>
                </a:extLst>
              </a:tr>
              <a:tr h="273908">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r>
                        <a:rPr lang="en-US" sz="1000" b="1" i="0">
                          <a:solidFill>
                            <a:schemeClr val="tx1"/>
                          </a:solidFill>
                          <a:latin typeface="Segoe Sans Display Semibold" pitchFamily="2" charset="0"/>
                          <a:cs typeface="Segoe Sans Display Semibold" pitchFamily="2" charset="0"/>
                        </a:rPr>
                        <a:t>Step 3</a:t>
                      </a: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l" defTabSz="914400" rtl="0" eaLnBrk="1" latinLnBrk="0" hangingPunct="1"/>
                      <a:endParaRPr lang="en-US" sz="100" b="1" i="0" kern="1200">
                        <a:solidFill>
                          <a:schemeClr val="tx1"/>
                        </a:solidFill>
                        <a:latin typeface="Segoe Sans Display Semibold" pitchFamily="2" charset="0"/>
                        <a:ea typeface="+mn-ea"/>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extLst>
                  <a:ext uri="{0D108BD9-81ED-4DB2-BD59-A6C34878D82A}">
                    <a16:rowId xmlns:a16="http://schemas.microsoft.com/office/drawing/2014/main" val="246708460"/>
                  </a:ext>
                </a:extLst>
              </a:tr>
              <a:tr h="273908">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r>
                        <a:rPr lang="en-US" sz="1000" b="1" i="0">
                          <a:solidFill>
                            <a:schemeClr val="tx1"/>
                          </a:solidFill>
                          <a:latin typeface="Segoe Sans Display Semibold" pitchFamily="2" charset="0"/>
                          <a:cs typeface="Segoe Sans Display Semibold" pitchFamily="2" charset="0"/>
                        </a:rPr>
                        <a:t>Step 4</a:t>
                      </a: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l" defTabSz="914400" rtl="0" eaLnBrk="1" latinLnBrk="0" hangingPunct="1"/>
                      <a:endParaRPr lang="en-US" sz="100" b="1" i="0" kern="1200">
                        <a:solidFill>
                          <a:schemeClr val="tx1"/>
                        </a:solidFill>
                        <a:latin typeface="Segoe Sans Display Semibold" pitchFamily="2" charset="0"/>
                        <a:ea typeface="+mn-ea"/>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extLst>
                  <a:ext uri="{0D108BD9-81ED-4DB2-BD59-A6C34878D82A}">
                    <a16:rowId xmlns:a16="http://schemas.microsoft.com/office/drawing/2014/main" val="2561361454"/>
                  </a:ext>
                </a:extLst>
              </a:tr>
              <a:tr h="273908">
                <a:tc>
                  <a:txBody>
                    <a:bodyPr/>
                    <a:lstStyle>
                      <a:lvl1pPr marL="0" algn="l" defTabSz="914400" rtl="0" eaLnBrk="1" latinLnBrk="0" hangingPunct="1">
                        <a:defRPr sz="1800" b="1" kern="1200">
                          <a:solidFill>
                            <a:schemeClr val="tx1"/>
                          </a:solidFill>
                          <a:latin typeface="Calibri" panose="020F0502020204030204"/>
                        </a:defRPr>
                      </a:lvl1pPr>
                      <a:lvl2pPr marL="457200" algn="l" defTabSz="914400" rtl="0" eaLnBrk="1" latinLnBrk="0" hangingPunct="1">
                        <a:defRPr sz="1800" b="1" kern="1200">
                          <a:solidFill>
                            <a:schemeClr val="tx1"/>
                          </a:solidFill>
                          <a:latin typeface="Calibri" panose="020F0502020204030204"/>
                        </a:defRPr>
                      </a:lvl2pPr>
                      <a:lvl3pPr marL="914400" algn="l" defTabSz="914400" rtl="0" eaLnBrk="1" latinLnBrk="0" hangingPunct="1">
                        <a:defRPr sz="1800" b="1" kern="1200">
                          <a:solidFill>
                            <a:schemeClr val="tx1"/>
                          </a:solidFill>
                          <a:latin typeface="Calibri" panose="020F0502020204030204"/>
                        </a:defRPr>
                      </a:lvl3pPr>
                      <a:lvl4pPr marL="1371600" algn="l" defTabSz="914400" rtl="0" eaLnBrk="1" latinLnBrk="0" hangingPunct="1">
                        <a:defRPr sz="1800" b="1" kern="1200">
                          <a:solidFill>
                            <a:schemeClr val="tx1"/>
                          </a:solidFill>
                          <a:latin typeface="Calibri" panose="020F0502020204030204"/>
                        </a:defRPr>
                      </a:lvl4pPr>
                      <a:lvl5pPr marL="1828800" algn="l" defTabSz="914400" rtl="0" eaLnBrk="1" latinLnBrk="0" hangingPunct="1">
                        <a:defRPr sz="1800" b="1" kern="1200">
                          <a:solidFill>
                            <a:schemeClr val="tx1"/>
                          </a:solidFill>
                          <a:latin typeface="Calibri" panose="020F0502020204030204"/>
                        </a:defRPr>
                      </a:lvl5pPr>
                      <a:lvl6pPr marL="2286000" algn="l" defTabSz="914400" rtl="0" eaLnBrk="1" latinLnBrk="0" hangingPunct="1">
                        <a:defRPr sz="1800" b="1" kern="1200">
                          <a:solidFill>
                            <a:schemeClr val="tx1"/>
                          </a:solidFill>
                          <a:latin typeface="Calibri" panose="020F0502020204030204"/>
                        </a:defRPr>
                      </a:lvl6pPr>
                      <a:lvl7pPr marL="2743200" algn="l" defTabSz="914400" rtl="0" eaLnBrk="1" latinLnBrk="0" hangingPunct="1">
                        <a:defRPr sz="1800" b="1" kern="1200">
                          <a:solidFill>
                            <a:schemeClr val="tx1"/>
                          </a:solidFill>
                          <a:latin typeface="Calibri" panose="020F0502020204030204"/>
                        </a:defRPr>
                      </a:lvl7pPr>
                      <a:lvl8pPr marL="3200400" algn="l" defTabSz="914400" rtl="0" eaLnBrk="1" latinLnBrk="0" hangingPunct="1">
                        <a:defRPr sz="1800" b="1" kern="1200">
                          <a:solidFill>
                            <a:schemeClr val="tx1"/>
                          </a:solidFill>
                          <a:latin typeface="Calibri" panose="020F0502020204030204"/>
                        </a:defRPr>
                      </a:lvl8pPr>
                      <a:lvl9pPr marL="3657600" algn="l" defTabSz="914400" rtl="0" eaLnBrk="1" latinLnBrk="0" hangingPunct="1">
                        <a:defRPr sz="1800" b="1" kern="1200">
                          <a:solidFill>
                            <a:schemeClr val="tx1"/>
                          </a:solidFill>
                          <a:latin typeface="Calibri" panose="020F0502020204030204"/>
                        </a:defRPr>
                      </a:lvl9pPr>
                    </a:lstStyle>
                    <a:p>
                      <a:r>
                        <a:rPr lang="en-US" sz="1000" b="1" i="0">
                          <a:solidFill>
                            <a:schemeClr val="tx1"/>
                          </a:solidFill>
                          <a:latin typeface="Segoe Sans Display Semibold" pitchFamily="2" charset="0"/>
                          <a:cs typeface="Segoe Sans Display Semibold" pitchFamily="2" charset="0"/>
                        </a:rPr>
                        <a:t>Step 5</a:t>
                      </a: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l" defTabSz="914400" rtl="0" eaLnBrk="1" latinLnBrk="0" hangingPunct="1"/>
                      <a:endParaRPr lang="en-US" sz="100" b="1" i="0" kern="1200">
                        <a:solidFill>
                          <a:schemeClr val="tx1"/>
                        </a:solidFill>
                        <a:latin typeface="Segoe Sans Display Semibold" pitchFamily="2" charset="0"/>
                        <a:ea typeface="+mn-ea"/>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3ABB9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00" b="1" i="0">
                        <a:solidFill>
                          <a:schemeClr val="tx1"/>
                        </a:solidFill>
                        <a:latin typeface="Segoe Sans Display Semibold" pitchFamily="2" charset="0"/>
                        <a:cs typeface="Segoe Sans Display Semibold" pitchFamily="2" charset="0"/>
                      </a:endParaRPr>
                    </a:p>
                  </a:txBody>
                  <a:tcPr>
                    <a:lnL w="12700" cmpd="sng">
                      <a:solidFill>
                        <a:srgbClr val="0C6959"/>
                      </a:solidFill>
                    </a:lnL>
                    <a:lnR w="12700" cmpd="sng">
                      <a:solidFill>
                        <a:srgbClr val="0C6959"/>
                      </a:solidFill>
                    </a:lnR>
                    <a:lnT w="12700" cmpd="sng">
                      <a:solidFill>
                        <a:srgbClr val="0C6959"/>
                      </a:solidFill>
                    </a:lnT>
                    <a:lnB w="12700" cmpd="sng">
                      <a:solidFill>
                        <a:srgbClr val="0C6959"/>
                      </a:solidFill>
                    </a:lnB>
                    <a:lnTlToBr w="12700" cmpd="sng">
                      <a:noFill/>
                      <a:prstDash val="solid"/>
                    </a:lnTlToBr>
                    <a:lnBlToTr w="12700" cmpd="sng">
                      <a:noFill/>
                      <a:prstDash val="solid"/>
                    </a:lnBlToTr>
                    <a:solidFill>
                      <a:srgbClr val="033F38"/>
                    </a:solidFill>
                  </a:tcPr>
                </a:tc>
                <a:extLst>
                  <a:ext uri="{0D108BD9-81ED-4DB2-BD59-A6C34878D82A}">
                    <a16:rowId xmlns:a16="http://schemas.microsoft.com/office/drawing/2014/main" val="3349306424"/>
                  </a:ext>
                </a:extLst>
              </a:tr>
            </a:tbl>
          </a:graphicData>
        </a:graphic>
      </p:graphicFrame>
    </p:spTree>
    <p:extLst>
      <p:ext uri="{BB962C8B-B14F-4D97-AF65-F5344CB8AC3E}">
        <p14:creationId xmlns:p14="http://schemas.microsoft.com/office/powerpoint/2010/main" val="59825627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E7042-E6B9-5B0C-0EC1-97775C594D18}"/>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82CFD298-3419-F026-48B3-F86725BCD01B}"/>
              </a:ext>
              <a:ext uri="{C183D7F6-B498-43B3-948B-1728B52AA6E4}">
                <adec:decorative xmlns:adec="http://schemas.microsoft.com/office/drawing/2017/decorative" val="1"/>
              </a:ext>
            </a:extLst>
          </p:cNvPr>
          <p:cNvSpPr/>
          <p:nvPr/>
        </p:nvSpPr>
        <p:spPr>
          <a:xfrm>
            <a:off x="0"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19">
            <a:extLst>
              <a:ext uri="{FF2B5EF4-FFF2-40B4-BE49-F238E27FC236}">
                <a16:creationId xmlns:a16="http://schemas.microsoft.com/office/drawing/2014/main" id="{9E657B55-DB63-2094-2611-2AA2F147F160}"/>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rgbClr val="8661C5">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Sans Text"/>
              <a:ea typeface="+mn-ea"/>
              <a:cs typeface="+mn-cs"/>
            </a:endParaRPr>
          </a:p>
        </p:txBody>
      </p:sp>
      <p:sp>
        <p:nvSpPr>
          <p:cNvPr id="7" name="Graphic 51">
            <a:extLst>
              <a:ext uri="{FF2B5EF4-FFF2-40B4-BE49-F238E27FC236}">
                <a16:creationId xmlns:a16="http://schemas.microsoft.com/office/drawing/2014/main" id="{12AD2160-AE8E-8C5A-6A1C-1FA2FDD95856}"/>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rgbClr val="49C5B1">
              <a:lumMod val="60000"/>
              <a:lumOff val="40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25B61"/>
              </a:solidFill>
              <a:effectLst/>
              <a:uLnTx/>
              <a:uFillTx/>
              <a:latin typeface="Segoe Sans Text"/>
            </a:endParaRPr>
          </a:p>
        </p:txBody>
      </p:sp>
      <p:sp>
        <p:nvSpPr>
          <p:cNvPr id="12" name="Rectangle: Rounded Corners 8">
            <a:extLst>
              <a:ext uri="{FF2B5EF4-FFF2-40B4-BE49-F238E27FC236}">
                <a16:creationId xmlns:a16="http://schemas.microsoft.com/office/drawing/2014/main" id="{57C8FA4F-CFBF-0C2F-003D-697753F41596}"/>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endPar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sp>
        <p:nvSpPr>
          <p:cNvPr id="23" name="Rectangle 22">
            <a:extLst>
              <a:ext uri="{FF2B5EF4-FFF2-40B4-BE49-F238E27FC236}">
                <a16:creationId xmlns:a16="http://schemas.microsoft.com/office/drawing/2014/main" id="{F4F4D587-4393-80B9-3DF3-A0BF3C3A97E9}"/>
              </a:ext>
              <a:ext uri="{C183D7F6-B498-43B3-948B-1728B52AA6E4}">
                <adec:decorative xmlns:adec="http://schemas.microsoft.com/office/drawing/2017/decorative" val="1"/>
              </a:ext>
            </a:extLst>
          </p:cNvPr>
          <p:cNvSpPr/>
          <p:nvPr/>
        </p:nvSpPr>
        <p:spPr bwMode="auto">
          <a:xfrm>
            <a:off x="5158766" y="1663843"/>
            <a:ext cx="6237870" cy="3566839"/>
          </a:xfrm>
          <a:prstGeom prst="rect">
            <a:avLst/>
          </a:prstGeom>
          <a:solidFill>
            <a:srgbClr val="FFFFFF"/>
          </a:solidFill>
          <a:ln w="101600" cap="rnd" cmpd="sng" algn="ctr">
            <a:gradFill flip="none" rotWithShape="1">
              <a:gsLst>
                <a:gs pos="0">
                  <a:srgbClr val="49C5B1"/>
                </a:gs>
                <a:gs pos="100000">
                  <a:srgbClr val="C03BC3"/>
                </a:gs>
              </a:gsLst>
              <a:lin ang="2700000" scaled="1"/>
              <a:tileRect/>
            </a:gradFill>
            <a:prstDash val="solid"/>
            <a:round/>
            <a:headEnd type="none" w="med" len="med"/>
            <a:tailEnd type="none" w="med" len="med"/>
          </a:ln>
          <a:effectLst>
            <a:outerShdw blurRad="254000" dist="381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sp>
        <p:nvSpPr>
          <p:cNvPr id="42" name="Title 41">
            <a:extLst>
              <a:ext uri="{FF2B5EF4-FFF2-40B4-BE49-F238E27FC236}">
                <a16:creationId xmlns:a16="http://schemas.microsoft.com/office/drawing/2014/main" id="{797627AA-2614-1469-1432-B388EE401D8A}"/>
              </a:ext>
            </a:extLst>
          </p:cNvPr>
          <p:cNvSpPr>
            <a:spLocks noGrp="1"/>
          </p:cNvSpPr>
          <p:nvPr>
            <p:ph type="title"/>
          </p:nvPr>
        </p:nvSpPr>
        <p:spPr>
          <a:xfrm>
            <a:off x="581025" y="365125"/>
            <a:ext cx="11029950" cy="549275"/>
          </a:xfrm>
        </p:spPr>
        <p:txBody>
          <a:bodyPr anchor="t"/>
          <a:lstStyle/>
          <a:p>
            <a:pPr lvl="0"/>
            <a:r>
              <a:rPr lang="en-US" sz="2800" noProof="0">
                <a:solidFill>
                  <a:srgbClr val="FFFDF9"/>
                </a:solidFill>
              </a:rPr>
              <a:t>Monitoring through</a:t>
            </a:r>
            <a:br>
              <a:rPr lang="en-US" sz="2800" noProof="0">
                <a:solidFill>
                  <a:srgbClr val="FFFDF9"/>
                </a:solidFill>
              </a:rPr>
            </a:br>
            <a:r>
              <a:rPr lang="en-US" sz="2800" noProof="0">
                <a:solidFill>
                  <a:srgbClr val="FFFDF9"/>
                </a:solidFill>
              </a:rPr>
              <a:t>dynamics management</a:t>
            </a:r>
            <a:br>
              <a:rPr lang="en-US" sz="2800" noProof="0">
                <a:solidFill>
                  <a:srgbClr val="FFFDF9"/>
                </a:solidFill>
              </a:rPr>
            </a:br>
            <a:r>
              <a:rPr lang="en-US" sz="2800" noProof="0">
                <a:solidFill>
                  <a:srgbClr val="FFFDF9"/>
                </a:solidFill>
              </a:rPr>
              <a:t>views</a:t>
            </a:r>
          </a:p>
        </p:txBody>
      </p:sp>
      <p:pic>
        <p:nvPicPr>
          <p:cNvPr id="14" name="Picture 13" descr="Data warehouse logo">
            <a:extLst>
              <a:ext uri="{FF2B5EF4-FFF2-40B4-BE49-F238E27FC236}">
                <a16:creationId xmlns:a16="http://schemas.microsoft.com/office/drawing/2014/main" id="{564641EF-57A7-6F67-40F5-91651CC94BC8}"/>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617785" y="131716"/>
            <a:ext cx="410912" cy="411714"/>
          </a:xfrm>
          <a:prstGeom prst="rect">
            <a:avLst/>
          </a:prstGeom>
          <a:noFill/>
        </p:spPr>
      </p:pic>
      <p:sp>
        <p:nvSpPr>
          <p:cNvPr id="30" name="TextBox 29">
            <a:extLst>
              <a:ext uri="{FF2B5EF4-FFF2-40B4-BE49-F238E27FC236}">
                <a16:creationId xmlns:a16="http://schemas.microsoft.com/office/drawing/2014/main" id="{0E6A604D-AB8D-3402-DE06-599F9500FFC0}"/>
              </a:ext>
            </a:extLst>
          </p:cNvPr>
          <p:cNvSpPr txBox="1"/>
          <p:nvPr/>
        </p:nvSpPr>
        <p:spPr>
          <a:xfrm>
            <a:off x="581025" y="1702951"/>
            <a:ext cx="3472915" cy="800219"/>
          </a:xfrm>
          <a:prstGeom prst="rect">
            <a:avLst/>
          </a:prstGeom>
          <a:noFill/>
        </p:spPr>
        <p:txBody>
          <a:bodyPr wrap="square" lIns="0" tIns="0" rIns="0" bIns="0">
            <a:spAutoFit/>
          </a:bodyPr>
          <a:lstStyle/>
          <a:p>
            <a:pPr defTabSz="914367">
              <a:spcAft>
                <a:spcPts val="1200"/>
              </a:spcAft>
              <a:defRPr/>
            </a:pPr>
            <a:r>
              <a:rPr lang="en-US" sz="1400">
                <a:solidFill>
                  <a:srgbClr val="FFFFFF"/>
                </a:solidFill>
                <a:cs typeface="Segoe Sans Text" pitchFamily="2" charset="0"/>
              </a:rPr>
              <a:t>Get insights into SQL query lifecycle</a:t>
            </a:r>
          </a:p>
          <a:p>
            <a:pPr defTabSz="914367">
              <a:spcAft>
                <a:spcPts val="1200"/>
              </a:spcAft>
              <a:defRPr/>
            </a:pPr>
            <a:r>
              <a:rPr lang="en-US" sz="1400">
                <a:solidFill>
                  <a:srgbClr val="FFFFFF"/>
                </a:solidFill>
                <a:cs typeface="Segoe Sans Text" pitchFamily="2" charset="0"/>
              </a:rPr>
              <a:t>Customers can view query performance and easily terminate any noisy or costly queries </a:t>
            </a:r>
          </a:p>
        </p:txBody>
      </p:sp>
      <p:cxnSp>
        <p:nvCxnSpPr>
          <p:cNvPr id="13" name="Straight Connector 12">
            <a:extLst>
              <a:ext uri="{FF2B5EF4-FFF2-40B4-BE49-F238E27FC236}">
                <a16:creationId xmlns:a16="http://schemas.microsoft.com/office/drawing/2014/main" id="{292BB747-CB2C-1D7A-2D9E-3EBEFC6DD710}"/>
              </a:ext>
              <a:ext uri="{C183D7F6-B498-43B3-948B-1728B52AA6E4}">
                <adec:decorative xmlns:adec="http://schemas.microsoft.com/office/drawing/2017/decorative" val="1"/>
              </a:ext>
            </a:extLst>
          </p:cNvPr>
          <p:cNvCxnSpPr>
            <a:cxnSpLocks/>
          </p:cNvCxnSpPr>
          <p:nvPr/>
        </p:nvCxnSpPr>
        <p:spPr>
          <a:xfrm>
            <a:off x="581025" y="2701699"/>
            <a:ext cx="3472915" cy="0"/>
          </a:xfrm>
          <a:prstGeom prst="line">
            <a:avLst/>
          </a:prstGeom>
          <a:noFill/>
          <a:ln w="12700" cap="flat" cmpd="sng" algn="ctr">
            <a:solidFill>
              <a:srgbClr val="FFFEF9"/>
            </a:solidFill>
            <a:prstDash val="solid"/>
            <a:miter lim="800000"/>
          </a:ln>
          <a:effectLst/>
        </p:spPr>
      </p:cxnSp>
      <p:sp>
        <p:nvSpPr>
          <p:cNvPr id="29" name="TextBox 28">
            <a:extLst>
              <a:ext uri="{FF2B5EF4-FFF2-40B4-BE49-F238E27FC236}">
                <a16:creationId xmlns:a16="http://schemas.microsoft.com/office/drawing/2014/main" id="{F7809480-0ECB-61B9-312A-8CEAEC9BAF75}"/>
              </a:ext>
            </a:extLst>
          </p:cNvPr>
          <p:cNvSpPr txBox="1"/>
          <p:nvPr/>
        </p:nvSpPr>
        <p:spPr>
          <a:xfrm>
            <a:off x="581025" y="2887285"/>
            <a:ext cx="3345916" cy="1749710"/>
          </a:xfrm>
          <a:prstGeom prst="rect">
            <a:avLst/>
          </a:prstGeom>
          <a:noFill/>
        </p:spPr>
        <p:txBody>
          <a:bodyPr wrap="square" lIns="0" tIns="0" rIns="0" bIns="0" rtlCol="0" anchor="t">
            <a:spAutoFit/>
          </a:bodyPr>
          <a:lstStyle/>
          <a:p>
            <a:pPr defTabSz="914367">
              <a:lnSpc>
                <a:spcPct val="105000"/>
              </a:lnSpc>
              <a:spcAft>
                <a:spcPts val="300"/>
              </a:spcAft>
              <a:defRPr/>
            </a:pPr>
            <a:r>
              <a:rPr lang="en-US" sz="1400" i="1">
                <a:solidFill>
                  <a:srgbClr val="FFFFFF"/>
                </a:solidFill>
                <a:latin typeface="Segoe Sans Display Semibold" pitchFamily="2" charset="0"/>
                <a:cs typeface="Segoe Sans Display Semibold" pitchFamily="2" charset="0"/>
              </a:rPr>
              <a:t>Key Capabilities: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Use Dynamic Management Views (DMVs) to:</a:t>
            </a:r>
          </a:p>
          <a:p>
            <a:pPr marL="571500" lvl="1" indent="-228600" defTabSz="914367">
              <a:spcAft>
                <a:spcPts val="400"/>
              </a:spcAft>
              <a:buFont typeface="Segoe UI" panose="020B0502040204020203" pitchFamily="34" charset="0"/>
              <a:buChar char="–"/>
              <a:defRPr/>
            </a:pPr>
            <a:r>
              <a:rPr lang="en-US" sz="1100">
                <a:solidFill>
                  <a:srgbClr val="FFFEFB"/>
                </a:solidFill>
                <a:cs typeface="Segoe Sans Text" pitchFamily="2" charset="0"/>
              </a:rPr>
              <a:t>Find open connections through </a:t>
            </a:r>
            <a:r>
              <a:rPr lang="en-US" sz="1100" err="1">
                <a:solidFill>
                  <a:srgbClr val="FFFEFB"/>
                </a:solidFill>
                <a:cs typeface="Segoe Sans Text" pitchFamily="2" charset="0"/>
              </a:rPr>
              <a:t>Sys.dm_exec_connections</a:t>
            </a:r>
            <a:endParaRPr lang="en-US" sz="1100">
              <a:solidFill>
                <a:srgbClr val="FFFEFB"/>
              </a:solidFill>
              <a:cs typeface="Segoe Sans Text" pitchFamily="2" charset="0"/>
            </a:endParaRPr>
          </a:p>
          <a:p>
            <a:pPr marL="571500" lvl="1" indent="-228600" defTabSz="914367">
              <a:spcAft>
                <a:spcPts val="400"/>
              </a:spcAft>
              <a:buFont typeface="Segoe UI" panose="020B0502040204020203" pitchFamily="34" charset="0"/>
              <a:buChar char="–"/>
              <a:defRPr/>
            </a:pPr>
            <a:r>
              <a:rPr lang="en-US" sz="1100">
                <a:solidFill>
                  <a:srgbClr val="FFFEFB"/>
                </a:solidFill>
                <a:cs typeface="Segoe Sans Text" pitchFamily="2" charset="0"/>
              </a:rPr>
              <a:t>Find users through </a:t>
            </a:r>
            <a:r>
              <a:rPr lang="en-US" sz="1100" err="1">
                <a:solidFill>
                  <a:srgbClr val="FFFEFB"/>
                </a:solidFill>
                <a:cs typeface="Segoe Sans Text" pitchFamily="2" charset="0"/>
              </a:rPr>
              <a:t>Sys.dm_exec_sessions</a:t>
            </a:r>
            <a:endParaRPr lang="en-US" sz="1100">
              <a:solidFill>
                <a:srgbClr val="FFFEFB"/>
              </a:solidFill>
              <a:cs typeface="Segoe Sans Text" pitchFamily="2" charset="0"/>
            </a:endParaRPr>
          </a:p>
          <a:p>
            <a:pPr marL="571500" lvl="1" indent="-228600" defTabSz="914367">
              <a:spcAft>
                <a:spcPts val="400"/>
              </a:spcAft>
              <a:buFont typeface="Segoe UI" panose="020B0502040204020203" pitchFamily="34" charset="0"/>
              <a:buChar char="–"/>
              <a:defRPr/>
            </a:pPr>
            <a:r>
              <a:rPr lang="en-US" sz="1100">
                <a:solidFill>
                  <a:srgbClr val="FFFEFB"/>
                </a:solidFill>
                <a:cs typeface="Segoe Sans Text" pitchFamily="2" charset="0"/>
              </a:rPr>
              <a:t>Fine queries executed by user through </a:t>
            </a:r>
            <a:r>
              <a:rPr lang="en-US" sz="1100" err="1">
                <a:solidFill>
                  <a:srgbClr val="FFFEFB"/>
                </a:solidFill>
                <a:cs typeface="Segoe Sans Text" pitchFamily="2" charset="0"/>
              </a:rPr>
              <a:t>Sys.dm_exec_requests</a:t>
            </a:r>
            <a:endParaRPr lang="en-US" sz="1100">
              <a:solidFill>
                <a:srgbClr val="FFFEFB"/>
              </a:solidFill>
              <a:cs typeface="Segoe Sans Text" pitchFamily="2" charset="0"/>
            </a:endParaRPr>
          </a:p>
          <a:p>
            <a:pPr marL="285750" indent="-184150" defTabSz="914367">
              <a:spcBef>
                <a:spcPts val="300"/>
              </a:spcBef>
              <a:spcAft>
                <a:spcPts val="600"/>
              </a:spcAft>
              <a:buFont typeface="Arial" panose="020B0604020202020204" pitchFamily="34" charset="0"/>
              <a:buChar char="•"/>
              <a:defRPr/>
            </a:pPr>
            <a:r>
              <a:rPr lang="en-US" sz="1200">
                <a:solidFill>
                  <a:srgbClr val="FFFFFF"/>
                </a:solidFill>
                <a:cs typeface="Segoe Sans Text" pitchFamily="2" charset="0"/>
              </a:rPr>
              <a:t>Use KILL command to terminate session</a:t>
            </a:r>
          </a:p>
        </p:txBody>
      </p:sp>
      <p:grpSp>
        <p:nvGrpSpPr>
          <p:cNvPr id="2" name="Group 1" descr="Screenshot of &#10;&#10;Use Dynamic Management Views (DMVs) to:&#10;Find open connections through Sys.dm_exec_connections&#10;Find users through Sys.dm_exec_sessions&#10;Fine queries executed by user through Sys.dm_exec_requests&#10;Use KILL command to terminate session&#10;">
            <a:extLst>
              <a:ext uri="{FF2B5EF4-FFF2-40B4-BE49-F238E27FC236}">
                <a16:creationId xmlns:a16="http://schemas.microsoft.com/office/drawing/2014/main" id="{122F2E33-06D9-5D6E-4149-9DCE119E2A2B}"/>
              </a:ext>
            </a:extLst>
          </p:cNvPr>
          <p:cNvGrpSpPr/>
          <p:nvPr/>
        </p:nvGrpSpPr>
        <p:grpSpPr>
          <a:xfrm>
            <a:off x="5576041" y="1871326"/>
            <a:ext cx="4908959" cy="3095535"/>
            <a:chOff x="5576041" y="1871326"/>
            <a:chExt cx="4908959" cy="3095535"/>
          </a:xfrm>
        </p:grpSpPr>
        <p:sp>
          <p:nvSpPr>
            <p:cNvPr id="26" name="Content Placeholder 4">
              <a:extLst>
                <a:ext uri="{FF2B5EF4-FFF2-40B4-BE49-F238E27FC236}">
                  <a16:creationId xmlns:a16="http://schemas.microsoft.com/office/drawing/2014/main" id="{2A1E91E3-DFF4-29D8-1565-B2A3598A5FC1}"/>
                </a:ext>
              </a:extLst>
            </p:cNvPr>
            <p:cNvSpPr txBox="1">
              <a:spLocks/>
            </p:cNvSpPr>
            <p:nvPr/>
          </p:nvSpPr>
          <p:spPr>
            <a:xfrm>
              <a:off x="5664211" y="1871326"/>
              <a:ext cx="4791218" cy="475634"/>
            </a:xfrm>
            <a:prstGeom prst="rect">
              <a:avLst/>
            </a:prstGeom>
          </p:spPr>
          <p:txBody>
            <a:bodyPr vert="horz" lIns="0" tIns="45720" rIns="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200">
                  <a:solidFill>
                    <a:srgbClr val="107C10"/>
                  </a:solidFill>
                  <a:latin typeface="Segoe UI"/>
                </a:rPr>
                <a:t>-- Identifies long-running queries in order of which query has taken the longest since it has arrived, and which user executed the request.    </a:t>
              </a:r>
              <a:endParaRPr lang="en-US" sz="1200">
                <a:solidFill>
                  <a:srgbClr val="107C10"/>
                </a:solidFill>
                <a:latin typeface="Segoe UI"/>
                <a:cs typeface="Segoe UI"/>
              </a:endParaRPr>
            </a:p>
          </p:txBody>
        </p:sp>
        <p:sp>
          <p:nvSpPr>
            <p:cNvPr id="25" name="TextBox 24">
              <a:extLst>
                <a:ext uri="{FF2B5EF4-FFF2-40B4-BE49-F238E27FC236}">
                  <a16:creationId xmlns:a16="http://schemas.microsoft.com/office/drawing/2014/main" id="{2FB44EBC-CE2D-49ED-4B28-80314467D823}"/>
                </a:ext>
              </a:extLst>
            </p:cNvPr>
            <p:cNvSpPr txBox="1"/>
            <p:nvPr/>
          </p:nvSpPr>
          <p:spPr>
            <a:xfrm>
              <a:off x="5576041" y="2349256"/>
              <a:ext cx="3920284" cy="1569660"/>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200">
                  <a:solidFill>
                    <a:srgbClr val="0070C0"/>
                  </a:solidFill>
                  <a:latin typeface="Consolas"/>
                  <a:ea typeface="Times New Roman" panose="02020603050405020304" pitchFamily="18" charset="0"/>
                  <a:cs typeface="Times New Roman"/>
                </a:rPr>
                <a:t>SELECT</a:t>
              </a:r>
              <a:r>
                <a:rPr lang="en-US" sz="1200">
                  <a:solidFill>
                    <a:srgbClr val="000000"/>
                  </a:solidFill>
                  <a:latin typeface="Consolas"/>
                  <a:ea typeface="Times New Roman" panose="02020603050405020304" pitchFamily="18" charset="0"/>
                  <a:cs typeface="Times New Roman"/>
                </a:rPr>
                <a:t> </a:t>
              </a:r>
              <a:r>
                <a:rPr lang="en-US" sz="1200" err="1">
                  <a:solidFill>
                    <a:srgbClr val="000000"/>
                  </a:solidFill>
                  <a:latin typeface="Consolas"/>
                  <a:ea typeface="Times New Roman" panose="02020603050405020304" pitchFamily="18" charset="0"/>
                  <a:cs typeface="Times New Roman"/>
                </a:rPr>
                <a:t>r.request_id</a:t>
              </a:r>
              <a:r>
                <a:rPr lang="en-US" sz="1200">
                  <a:solidFill>
                    <a:srgbClr val="000000"/>
                  </a:solidFill>
                  <a:latin typeface="Consolas"/>
                  <a:ea typeface="Times New Roman" panose="02020603050405020304" pitchFamily="18" charset="0"/>
                  <a:cs typeface="Times New Roman"/>
                </a:rPr>
                <a:t>, </a:t>
              </a:r>
              <a:r>
                <a:rPr lang="en-US" sz="1200" err="1">
                  <a:solidFill>
                    <a:srgbClr val="000000"/>
                  </a:solidFill>
                  <a:latin typeface="Consolas"/>
                  <a:ea typeface="Times New Roman" panose="02020603050405020304" pitchFamily="18" charset="0"/>
                  <a:cs typeface="Times New Roman"/>
                </a:rPr>
                <a:t>r.session_id</a:t>
              </a:r>
              <a:r>
                <a:rPr lang="en-US" sz="1200">
                  <a:solidFill>
                    <a:srgbClr val="000000"/>
                  </a:solidFill>
                  <a:latin typeface="Consolas"/>
                  <a:ea typeface="Times New Roman" panose="02020603050405020304" pitchFamily="18" charset="0"/>
                  <a:cs typeface="Times New Roman"/>
                </a:rPr>
                <a:t>, </a:t>
              </a:r>
              <a:r>
                <a:rPr lang="en-US" sz="1200" err="1">
                  <a:solidFill>
                    <a:srgbClr val="000000"/>
                  </a:solidFill>
                  <a:latin typeface="Consolas"/>
                  <a:ea typeface="Times New Roman" panose="02020603050405020304" pitchFamily="18" charset="0"/>
                  <a:cs typeface="Times New Roman"/>
                </a:rPr>
                <a:t>r.start_time</a:t>
              </a:r>
              <a:r>
                <a:rPr lang="en-US" sz="1200">
                  <a:solidFill>
                    <a:srgbClr val="000000"/>
                  </a:solidFill>
                  <a:latin typeface="Consolas"/>
                  <a:ea typeface="Times New Roman" panose="02020603050405020304" pitchFamily="18" charset="0"/>
                  <a:cs typeface="Times New Roman"/>
                </a:rPr>
                <a:t>, </a:t>
              </a:r>
              <a:r>
                <a:rPr lang="en-US" sz="1200" err="1">
                  <a:solidFill>
                    <a:srgbClr val="000000"/>
                  </a:solidFill>
                  <a:latin typeface="Consolas"/>
                  <a:ea typeface="Times New Roman" panose="02020603050405020304" pitchFamily="18" charset="0"/>
                  <a:cs typeface="Times New Roman"/>
                </a:rPr>
                <a:t>r.total_elapsed_time</a:t>
              </a:r>
              <a:r>
                <a:rPr lang="en-US" sz="1200">
                  <a:solidFill>
                    <a:srgbClr val="000000"/>
                  </a:solidFill>
                  <a:latin typeface="Consolas"/>
                  <a:ea typeface="Times New Roman" panose="02020603050405020304" pitchFamily="18" charset="0"/>
                  <a:cs typeface="Times New Roman"/>
                </a:rPr>
                <a:t>, </a:t>
              </a:r>
              <a:r>
                <a:rPr lang="en-US" sz="1200" err="1">
                  <a:solidFill>
                    <a:srgbClr val="000000"/>
                  </a:solidFill>
                  <a:latin typeface="Consolas"/>
                  <a:ea typeface="Times New Roman" panose="02020603050405020304" pitchFamily="18" charset="0"/>
                  <a:cs typeface="Times New Roman"/>
                </a:rPr>
                <a:t>s.login_name</a:t>
              </a:r>
              <a:endParaRPr lang="en-US" sz="1200">
                <a:solidFill>
                  <a:srgbClr val="000000"/>
                </a:solidFill>
                <a:latin typeface="Consolas" panose="020B0609020204030204" pitchFamily="49" charset="0"/>
                <a:ea typeface="Times New Roman" panose="02020603050405020304" pitchFamily="18" charset="0"/>
                <a:cs typeface="Times New Roman"/>
              </a:endParaRPr>
            </a:p>
            <a:p>
              <a:pPr>
                <a:defRPr/>
              </a:pPr>
              <a:r>
                <a:rPr lang="en-US" sz="1200">
                  <a:solidFill>
                    <a:srgbClr val="0070C0"/>
                  </a:solidFill>
                  <a:latin typeface="Consolas"/>
                  <a:ea typeface="Times New Roman" panose="02020603050405020304" pitchFamily="18" charset="0"/>
                  <a:cs typeface="Times New Roman"/>
                </a:rPr>
                <a:t>FROM</a:t>
              </a:r>
              <a:r>
                <a:rPr lang="en-US" sz="1200">
                  <a:solidFill>
                    <a:srgbClr val="000000"/>
                  </a:solidFill>
                  <a:latin typeface="Consolas"/>
                  <a:ea typeface="Times New Roman" panose="02020603050405020304" pitchFamily="18" charset="0"/>
                  <a:cs typeface="Times New Roman"/>
                </a:rPr>
                <a:t> </a:t>
              </a:r>
              <a:r>
                <a:rPr lang="en-US" sz="1200" err="1">
                  <a:solidFill>
                    <a:srgbClr val="000000"/>
                  </a:solidFill>
                  <a:latin typeface="Consolas"/>
                  <a:ea typeface="Times New Roman" panose="02020603050405020304" pitchFamily="18" charset="0"/>
                  <a:cs typeface="Times New Roman"/>
                </a:rPr>
                <a:t>sys.dm_exec_requests</a:t>
              </a:r>
              <a:r>
                <a:rPr lang="en-US" sz="1200">
                  <a:solidFill>
                    <a:srgbClr val="000000"/>
                  </a:solidFill>
                  <a:latin typeface="Consolas"/>
                  <a:ea typeface="Times New Roman" panose="02020603050405020304" pitchFamily="18" charset="0"/>
                  <a:cs typeface="Times New Roman"/>
                </a:rPr>
                <a:t> </a:t>
              </a:r>
              <a:r>
                <a:rPr lang="en-US" sz="1200">
                  <a:solidFill>
                    <a:srgbClr val="0070C0"/>
                  </a:solidFill>
                  <a:latin typeface="Consolas"/>
                  <a:ea typeface="Times New Roman" panose="02020603050405020304" pitchFamily="18" charset="0"/>
                  <a:cs typeface="Times New Roman"/>
                </a:rPr>
                <a:t>AS</a:t>
              </a:r>
              <a:r>
                <a:rPr lang="en-US" sz="1200">
                  <a:solidFill>
                    <a:srgbClr val="000000"/>
                  </a:solidFill>
                  <a:latin typeface="Consolas"/>
                  <a:ea typeface="Times New Roman" panose="02020603050405020304" pitchFamily="18" charset="0"/>
                  <a:cs typeface="Times New Roman"/>
                </a:rPr>
                <a:t> r</a:t>
              </a:r>
            </a:p>
            <a:p>
              <a:pPr>
                <a:defRPr/>
              </a:pPr>
              <a:r>
                <a:rPr lang="en-US" sz="1200">
                  <a:solidFill>
                    <a:srgbClr val="0070C0"/>
                  </a:solidFill>
                  <a:latin typeface="Consolas"/>
                  <a:ea typeface="Times New Roman" panose="02020603050405020304" pitchFamily="18" charset="0"/>
                  <a:cs typeface="Times New Roman"/>
                </a:rPr>
                <a:t>JOIN</a:t>
              </a:r>
              <a:r>
                <a:rPr lang="en-US" sz="1200">
                  <a:solidFill>
                    <a:srgbClr val="000000"/>
                  </a:solidFill>
                  <a:latin typeface="Consolas"/>
                  <a:ea typeface="Times New Roman" panose="02020603050405020304" pitchFamily="18" charset="0"/>
                  <a:cs typeface="Times New Roman"/>
                </a:rPr>
                <a:t> </a:t>
              </a:r>
              <a:r>
                <a:rPr lang="en-US" sz="1200" err="1">
                  <a:solidFill>
                    <a:srgbClr val="000000"/>
                  </a:solidFill>
                  <a:latin typeface="Consolas"/>
                  <a:ea typeface="Times New Roman" panose="02020603050405020304" pitchFamily="18" charset="0"/>
                  <a:cs typeface="Times New Roman"/>
                </a:rPr>
                <a:t>sys.dm_exec_sessions</a:t>
              </a:r>
              <a:r>
                <a:rPr lang="en-US" sz="1200">
                  <a:solidFill>
                    <a:srgbClr val="000000"/>
                  </a:solidFill>
                  <a:latin typeface="Consolas"/>
                  <a:ea typeface="Times New Roman" panose="02020603050405020304" pitchFamily="18" charset="0"/>
                  <a:cs typeface="Times New Roman"/>
                </a:rPr>
                <a:t> </a:t>
              </a:r>
              <a:r>
                <a:rPr lang="en-US" sz="1200">
                  <a:solidFill>
                    <a:srgbClr val="0070C0"/>
                  </a:solidFill>
                  <a:latin typeface="Consolas"/>
                  <a:ea typeface="Times New Roman" panose="02020603050405020304" pitchFamily="18" charset="0"/>
                  <a:cs typeface="Times New Roman"/>
                </a:rPr>
                <a:t>AS</a:t>
              </a:r>
              <a:r>
                <a:rPr lang="en-US" sz="1200">
                  <a:solidFill>
                    <a:srgbClr val="000000"/>
                  </a:solidFill>
                  <a:latin typeface="Consolas"/>
                  <a:ea typeface="Times New Roman" panose="02020603050405020304" pitchFamily="18" charset="0"/>
                  <a:cs typeface="Times New Roman"/>
                </a:rPr>
                <a:t> s</a:t>
              </a:r>
            </a:p>
            <a:p>
              <a:pPr>
                <a:defRPr/>
              </a:pPr>
              <a:r>
                <a:rPr lang="en-US" sz="1200">
                  <a:solidFill>
                    <a:srgbClr val="0070C0"/>
                  </a:solidFill>
                  <a:latin typeface="Consolas"/>
                  <a:ea typeface="Times New Roman" panose="02020603050405020304" pitchFamily="18" charset="0"/>
                  <a:cs typeface="Times New Roman"/>
                </a:rPr>
                <a:t>ON</a:t>
              </a:r>
              <a:r>
                <a:rPr lang="en-US" sz="1200">
                  <a:solidFill>
                    <a:srgbClr val="000000"/>
                  </a:solidFill>
                  <a:latin typeface="Consolas"/>
                  <a:ea typeface="Times New Roman" panose="02020603050405020304" pitchFamily="18" charset="0"/>
                  <a:cs typeface="Times New Roman"/>
                </a:rPr>
                <a:t> </a:t>
              </a:r>
              <a:r>
                <a:rPr lang="en-US" sz="1200" err="1">
                  <a:solidFill>
                    <a:srgbClr val="000000"/>
                  </a:solidFill>
                  <a:latin typeface="Consolas"/>
                  <a:ea typeface="Times New Roman" panose="02020603050405020304" pitchFamily="18" charset="0"/>
                  <a:cs typeface="Times New Roman"/>
                </a:rPr>
                <a:t>s.session_id</a:t>
              </a:r>
              <a:r>
                <a:rPr lang="en-US" sz="1200">
                  <a:solidFill>
                    <a:srgbClr val="000000"/>
                  </a:solidFill>
                  <a:latin typeface="Consolas"/>
                  <a:ea typeface="Times New Roman" panose="02020603050405020304" pitchFamily="18" charset="0"/>
                  <a:cs typeface="Times New Roman"/>
                </a:rPr>
                <a:t> = </a:t>
              </a:r>
              <a:r>
                <a:rPr lang="en-US" sz="1200" err="1">
                  <a:solidFill>
                    <a:srgbClr val="000000"/>
                  </a:solidFill>
                  <a:latin typeface="Consolas"/>
                  <a:ea typeface="Times New Roman" panose="02020603050405020304" pitchFamily="18" charset="0"/>
                  <a:cs typeface="Times New Roman"/>
                </a:rPr>
                <a:t>r.session_id</a:t>
              </a:r>
              <a:endParaRPr lang="en-US" sz="1200">
                <a:solidFill>
                  <a:srgbClr val="000000"/>
                </a:solidFill>
                <a:latin typeface="Consolas"/>
                <a:ea typeface="Times New Roman" panose="02020603050405020304" pitchFamily="18" charset="0"/>
                <a:cs typeface="Times New Roman"/>
              </a:endParaRPr>
            </a:p>
            <a:p>
              <a:pPr>
                <a:defRPr/>
              </a:pPr>
              <a:r>
                <a:rPr lang="en-US" sz="1200">
                  <a:solidFill>
                    <a:srgbClr val="0070C0"/>
                  </a:solidFill>
                  <a:latin typeface="Consolas"/>
                  <a:ea typeface="Times New Roman" panose="02020603050405020304" pitchFamily="18" charset="0"/>
                  <a:cs typeface="Times New Roman"/>
                </a:rPr>
                <a:t>WHERE</a:t>
              </a:r>
              <a:r>
                <a:rPr lang="en-US" sz="1200">
                  <a:solidFill>
                    <a:srgbClr val="000000"/>
                  </a:solidFill>
                  <a:latin typeface="Consolas"/>
                  <a:ea typeface="Times New Roman" panose="02020603050405020304" pitchFamily="18" charset="0"/>
                  <a:cs typeface="Times New Roman"/>
                </a:rPr>
                <a:t> </a:t>
              </a:r>
              <a:r>
                <a:rPr lang="en-US" sz="1200" err="1">
                  <a:solidFill>
                    <a:srgbClr val="000000"/>
                  </a:solidFill>
                  <a:latin typeface="Consolas"/>
                  <a:ea typeface="Times New Roman" panose="02020603050405020304" pitchFamily="18" charset="0"/>
                  <a:cs typeface="Times New Roman"/>
                </a:rPr>
                <a:t>r.status</a:t>
              </a:r>
              <a:r>
                <a:rPr lang="en-US" sz="1200">
                  <a:solidFill>
                    <a:srgbClr val="000000"/>
                  </a:solidFill>
                  <a:latin typeface="Consolas"/>
                  <a:ea typeface="Times New Roman" panose="02020603050405020304" pitchFamily="18" charset="0"/>
                  <a:cs typeface="Times New Roman"/>
                </a:rPr>
                <a:t> = ‘running’</a:t>
              </a:r>
            </a:p>
            <a:p>
              <a:pPr>
                <a:defRPr/>
              </a:pPr>
              <a:r>
                <a:rPr lang="en-US" sz="1200">
                  <a:solidFill>
                    <a:srgbClr val="0070C0"/>
                  </a:solidFill>
                  <a:latin typeface="Consolas"/>
                  <a:ea typeface="Times New Roman" panose="02020603050405020304" pitchFamily="18" charset="0"/>
                  <a:cs typeface="Times New Roman"/>
                </a:rPr>
                <a:t>ORDER BY</a:t>
              </a:r>
              <a:r>
                <a:rPr lang="en-US" sz="1200">
                  <a:solidFill>
                    <a:srgbClr val="000000"/>
                  </a:solidFill>
                  <a:latin typeface="Consolas"/>
                  <a:ea typeface="Times New Roman" panose="02020603050405020304" pitchFamily="18" charset="0"/>
                  <a:cs typeface="Times New Roman"/>
                </a:rPr>
                <a:t> </a:t>
              </a:r>
              <a:r>
                <a:rPr lang="en-US" sz="1200" err="1">
                  <a:solidFill>
                    <a:srgbClr val="000000"/>
                  </a:solidFill>
                  <a:latin typeface="Consolas"/>
                  <a:ea typeface="Times New Roman" panose="02020603050405020304" pitchFamily="18" charset="0"/>
                  <a:cs typeface="Times New Roman"/>
                </a:rPr>
                <a:t>r.total_elapsed_time</a:t>
              </a:r>
              <a:r>
                <a:rPr lang="en-US" sz="1200">
                  <a:solidFill>
                    <a:srgbClr val="000000"/>
                  </a:solidFill>
                  <a:latin typeface="Consolas"/>
                  <a:ea typeface="Times New Roman" panose="02020603050405020304" pitchFamily="18" charset="0"/>
                  <a:cs typeface="Times New Roman"/>
                </a:rPr>
                <a:t> </a:t>
              </a:r>
              <a:r>
                <a:rPr lang="en-US" sz="1200">
                  <a:solidFill>
                    <a:srgbClr val="0070C0"/>
                  </a:solidFill>
                  <a:latin typeface="Consolas"/>
                  <a:ea typeface="Times New Roman" panose="02020603050405020304" pitchFamily="18" charset="0"/>
                  <a:cs typeface="Times New Roman"/>
                </a:rPr>
                <a:t>DESC</a:t>
              </a:r>
              <a:endParaRPr lang="en-US" sz="1200">
                <a:solidFill>
                  <a:srgbClr val="0070C0"/>
                </a:solidFill>
                <a:latin typeface="Consolas" panose="020B0609020204030204" pitchFamily="49" charset="0"/>
                <a:ea typeface="Times New Roman" panose="02020603050405020304" pitchFamily="18" charset="0"/>
                <a:cs typeface="Times New Roman"/>
              </a:endParaRPr>
            </a:p>
          </p:txBody>
        </p:sp>
        <p:sp>
          <p:nvSpPr>
            <p:cNvPr id="28" name="Content Placeholder 4">
              <a:extLst>
                <a:ext uri="{FF2B5EF4-FFF2-40B4-BE49-F238E27FC236}">
                  <a16:creationId xmlns:a16="http://schemas.microsoft.com/office/drawing/2014/main" id="{D0977E1F-9C53-9093-7518-2EA969262C30}"/>
                </a:ext>
              </a:extLst>
            </p:cNvPr>
            <p:cNvSpPr txBox="1">
              <a:spLocks/>
            </p:cNvSpPr>
            <p:nvPr/>
          </p:nvSpPr>
          <p:spPr>
            <a:xfrm>
              <a:off x="5693782" y="4129273"/>
              <a:ext cx="4791218" cy="257375"/>
            </a:xfrm>
            <a:prstGeom prst="rect">
              <a:avLst/>
            </a:prstGeom>
          </p:spPr>
          <p:txBody>
            <a:bodyPr vert="horz" lIns="0" tIns="45720" rIns="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200">
                  <a:solidFill>
                    <a:srgbClr val="107C10"/>
                  </a:solidFill>
                  <a:latin typeface="Segoe UI"/>
                  <a:cs typeface="Segoe UI"/>
                </a:rPr>
                <a:t>-- Use the KILL command on the session with the long-running query.</a:t>
              </a:r>
              <a:endParaRPr lang="en-US" sz="1200">
                <a:solidFill>
                  <a:srgbClr val="107C10"/>
                </a:solidFill>
                <a:latin typeface="Segoe UI"/>
              </a:endParaRPr>
            </a:p>
          </p:txBody>
        </p:sp>
        <p:sp>
          <p:nvSpPr>
            <p:cNvPr id="27" name="TextBox 5">
              <a:extLst>
                <a:ext uri="{FF2B5EF4-FFF2-40B4-BE49-F238E27FC236}">
                  <a16:creationId xmlns:a16="http://schemas.microsoft.com/office/drawing/2014/main" id="{3442BE1B-6DB6-8727-621C-4E891539FC0C}"/>
                </a:ext>
              </a:extLst>
            </p:cNvPr>
            <p:cNvSpPr txBox="1"/>
            <p:nvPr/>
          </p:nvSpPr>
          <p:spPr>
            <a:xfrm>
              <a:off x="5664211" y="4505196"/>
              <a:ext cx="3378284" cy="461665"/>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200">
                  <a:solidFill>
                    <a:srgbClr val="0070C0"/>
                  </a:solidFill>
                  <a:latin typeface="Consolas"/>
                  <a:ea typeface="Times New Roman" panose="02020603050405020304" pitchFamily="18" charset="0"/>
                  <a:cs typeface="Times New Roman"/>
                </a:rPr>
                <a:t>KILL</a:t>
              </a:r>
              <a:r>
                <a:rPr lang="en-US" sz="1200">
                  <a:solidFill>
                    <a:srgbClr val="000000"/>
                  </a:solidFill>
                  <a:latin typeface="Consolas"/>
                  <a:ea typeface="Times New Roman" panose="02020603050405020304" pitchFamily="18" charset="0"/>
                  <a:cs typeface="Times New Roman"/>
                </a:rPr>
                <a:t> ‘[SESSION_ID WITH LONG-RUNNING QUERY]’</a:t>
              </a:r>
              <a:endParaRPr lang="en-US" sz="1200">
                <a:solidFill>
                  <a:srgbClr val="000000"/>
                </a:solidFill>
                <a:latin typeface="Consolas" panose="020B0609020204030204" pitchFamily="49" charset="0"/>
                <a:ea typeface="Times New Roman" panose="02020603050405020304" pitchFamily="18" charset="0"/>
                <a:cs typeface="Times New Roman"/>
              </a:endParaRPr>
            </a:p>
          </p:txBody>
        </p:sp>
      </p:grpSp>
      <p:sp>
        <p:nvSpPr>
          <p:cNvPr id="10" name="Slide Number Placeholder 5">
            <a:extLst>
              <a:ext uri="{FF2B5EF4-FFF2-40B4-BE49-F238E27FC236}">
                <a16:creationId xmlns:a16="http://schemas.microsoft.com/office/drawing/2014/main" id="{D27EDAF5-2E4F-3D8F-1742-642631B8FB0A}"/>
              </a:ext>
            </a:extLst>
          </p:cNvPr>
          <p:cNvSpPr txBox="1">
            <a:spLocks/>
          </p:cNvSpPr>
          <p:nvPr/>
        </p:nvSpPr>
        <p:spPr>
          <a:xfrm>
            <a:off x="607809" y="6311900"/>
            <a:ext cx="399288"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FFFEFB"/>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srgbClr val="FFFEFB"/>
              </a:solidFill>
              <a:effectLst/>
              <a:uLnTx/>
              <a:uFillTx/>
              <a:latin typeface="Segoe Sans Small Semilight" pitchFamily="2" charset="0"/>
              <a:ea typeface="+mn-ea"/>
              <a:cs typeface="Segoe Sans Small Semilight" pitchFamily="2" charset="0"/>
            </a:endParaRPr>
          </a:p>
        </p:txBody>
      </p:sp>
      <p:sp>
        <p:nvSpPr>
          <p:cNvPr id="9" name="Footer Placeholder 4">
            <a:extLst>
              <a:ext uri="{FF2B5EF4-FFF2-40B4-BE49-F238E27FC236}">
                <a16:creationId xmlns:a16="http://schemas.microsoft.com/office/drawing/2014/main" id="{046B4064-977D-0EB8-446C-3FB96594E9B8}"/>
              </a:ext>
            </a:extLst>
          </p:cNvPr>
          <p:cNvSpPr txBox="1">
            <a:spLocks/>
          </p:cNvSpPr>
          <p:nvPr/>
        </p:nvSpPr>
        <p:spPr>
          <a:xfrm>
            <a:off x="1007097" y="6311900"/>
            <a:ext cx="2078736"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EFB"/>
                </a:solidFill>
                <a:effectLst/>
                <a:uLnTx/>
                <a:uFillTx/>
                <a:latin typeface="Segoe Sans Small Semilight" pitchFamily="2" charset="0"/>
                <a:ea typeface="+mn-ea"/>
                <a:cs typeface="Segoe Sans Small Semilight" pitchFamily="2" charset="0"/>
              </a:rPr>
              <a:t>Microsoft Fabric</a:t>
            </a:r>
          </a:p>
        </p:txBody>
      </p:sp>
    </p:spTree>
    <p:extLst>
      <p:ext uri="{BB962C8B-B14F-4D97-AF65-F5344CB8AC3E}">
        <p14:creationId xmlns:p14="http://schemas.microsoft.com/office/powerpoint/2010/main" val="285010433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4A38A-D6B1-4E11-B26E-617D9D6EB6FB}"/>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5D6C5E33-BB66-6A9C-C4E0-D45C76DD38B4}"/>
              </a:ext>
              <a:ext uri="{C183D7F6-B498-43B3-948B-1728B52AA6E4}">
                <adec:decorative xmlns:adec="http://schemas.microsoft.com/office/drawing/2017/decorative" val="1"/>
              </a:ext>
            </a:extLst>
          </p:cNvPr>
          <p:cNvSpPr/>
          <p:nvPr/>
        </p:nvSpPr>
        <p:spPr>
          <a:xfrm>
            <a:off x="0" y="0"/>
            <a:ext cx="46863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itle 27">
            <a:extLst>
              <a:ext uri="{FF2B5EF4-FFF2-40B4-BE49-F238E27FC236}">
                <a16:creationId xmlns:a16="http://schemas.microsoft.com/office/drawing/2014/main" id="{8F7EA597-B95B-8365-B92E-E662C053271A}"/>
              </a:ext>
            </a:extLst>
          </p:cNvPr>
          <p:cNvSpPr>
            <a:spLocks noGrp="1"/>
          </p:cNvSpPr>
          <p:nvPr>
            <p:ph type="title"/>
          </p:nvPr>
        </p:nvSpPr>
        <p:spPr>
          <a:xfrm>
            <a:off x="581025" y="365125"/>
            <a:ext cx="11029950" cy="549275"/>
          </a:xfrm>
        </p:spPr>
        <p:txBody>
          <a:bodyPr/>
          <a:lstStyle/>
          <a:p>
            <a:pPr lvl="0"/>
            <a:r>
              <a:rPr lang="en-US" noProof="0">
                <a:solidFill>
                  <a:srgbClr val="FFFDF9"/>
                </a:solidFill>
              </a:rPr>
              <a:t>Secure by default</a:t>
            </a:r>
          </a:p>
        </p:txBody>
      </p:sp>
      <p:sp>
        <p:nvSpPr>
          <p:cNvPr id="7" name="Rectangle: Rounded Corners 19">
            <a:extLst>
              <a:ext uri="{FF2B5EF4-FFF2-40B4-BE49-F238E27FC236}">
                <a16:creationId xmlns:a16="http://schemas.microsoft.com/office/drawing/2014/main" id="{C7340385-5C87-F31A-E8F4-EBFFF29B24A7}"/>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rgbClr val="8661C5">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Sans Text"/>
              <a:ea typeface="+mn-ea"/>
              <a:cs typeface="+mn-cs"/>
            </a:endParaRPr>
          </a:p>
        </p:txBody>
      </p:sp>
      <p:sp>
        <p:nvSpPr>
          <p:cNvPr id="8" name="Graphic 51">
            <a:extLst>
              <a:ext uri="{FF2B5EF4-FFF2-40B4-BE49-F238E27FC236}">
                <a16:creationId xmlns:a16="http://schemas.microsoft.com/office/drawing/2014/main" id="{EDF22486-21C6-D2C9-BC1D-5024970B0BDE}"/>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rgbClr val="49C5B1">
              <a:lumMod val="60000"/>
              <a:lumOff val="40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25B61"/>
              </a:solidFill>
              <a:effectLst/>
              <a:uLnTx/>
              <a:uFillTx/>
              <a:latin typeface="Segoe Sans Text"/>
            </a:endParaRPr>
          </a:p>
        </p:txBody>
      </p:sp>
      <p:sp>
        <p:nvSpPr>
          <p:cNvPr id="13" name="Rectangle: Rounded Corners 8">
            <a:extLst>
              <a:ext uri="{FF2B5EF4-FFF2-40B4-BE49-F238E27FC236}">
                <a16:creationId xmlns:a16="http://schemas.microsoft.com/office/drawing/2014/main" id="{762B11E8-AA95-CFB8-E67C-9566936FBA03}"/>
              </a:ext>
              <a:ext uri="{C183D7F6-B498-43B3-948B-1728B52AA6E4}">
                <adec:decorative xmlns:adec="http://schemas.microsoft.com/office/drawing/2017/decorative" val="1"/>
              </a:ext>
            </a:extLst>
          </p:cNvPr>
          <p:cNvSpPr>
            <a:spLocks/>
          </p:cNvSpPr>
          <p:nvPr/>
        </p:nvSpPr>
        <p:spPr>
          <a:xfrm>
            <a:off x="4930636" y="1435713"/>
            <a:ext cx="6694130" cy="4023651"/>
          </a:xfrm>
          <a:prstGeom prst="roundRect">
            <a:avLst>
              <a:gd name="adj" fmla="val 5180"/>
            </a:avLst>
          </a:prstGeom>
          <a:solidFill>
            <a:srgbClr val="F9F9F9">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endPar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20" name="Picture 19" descr="Data warehouse logo">
            <a:extLst>
              <a:ext uri="{FF2B5EF4-FFF2-40B4-BE49-F238E27FC236}">
                <a16:creationId xmlns:a16="http://schemas.microsoft.com/office/drawing/2014/main" id="{CAD97B72-05C3-46F8-2C61-EBD2BF820625}"/>
              </a:ext>
            </a:extLst>
          </p:cNvPr>
          <p:cNvPicPr>
            <a:picLocks noChangeAspect="1"/>
          </p:cNvPicPr>
          <p:nvPr/>
        </p:nvPicPr>
        <p:blipFill>
          <a:blip r:embed="rId2" cstate="screen">
            <a:extLst>
              <a:ext uri="{28A0092B-C50C-407E-A947-70E740481C1C}">
                <a14:useLocalDpi xmlns:a14="http://schemas.microsoft.com/office/drawing/2010/main" val="0"/>
              </a:ext>
            </a:extLst>
          </a:blip>
          <a:stretch/>
        </p:blipFill>
        <p:spPr>
          <a:xfrm>
            <a:off x="11617785" y="131716"/>
            <a:ext cx="410912" cy="411714"/>
          </a:xfrm>
          <a:prstGeom prst="rect">
            <a:avLst/>
          </a:prstGeom>
          <a:noFill/>
        </p:spPr>
      </p:pic>
      <p:sp>
        <p:nvSpPr>
          <p:cNvPr id="19" name="TextBox 18">
            <a:extLst>
              <a:ext uri="{FF2B5EF4-FFF2-40B4-BE49-F238E27FC236}">
                <a16:creationId xmlns:a16="http://schemas.microsoft.com/office/drawing/2014/main" id="{8952260F-F0E0-475F-7D53-B77379FE094F}"/>
              </a:ext>
            </a:extLst>
          </p:cNvPr>
          <p:cNvSpPr txBox="1"/>
          <p:nvPr/>
        </p:nvSpPr>
        <p:spPr>
          <a:xfrm>
            <a:off x="581025" y="1245413"/>
            <a:ext cx="3546475" cy="1231106"/>
          </a:xfrm>
          <a:prstGeom prst="rect">
            <a:avLst/>
          </a:prstGeom>
          <a:noFill/>
        </p:spPr>
        <p:txBody>
          <a:bodyPr wrap="square" lIns="0" tIns="0" rIns="0" bIns="0">
            <a:spAutoFit/>
          </a:bodyPr>
          <a:lstStyle/>
          <a:p>
            <a:pPr defTabSz="914367">
              <a:spcAft>
                <a:spcPts val="1200"/>
              </a:spcAft>
              <a:defRPr/>
            </a:pPr>
            <a:r>
              <a:rPr lang="en-US" sz="1400">
                <a:solidFill>
                  <a:srgbClr val="FFFFFF"/>
                </a:solidFill>
                <a:cs typeface="Segoe Sans Text" pitchFamily="2" charset="0"/>
              </a:rPr>
              <a:t>Keep data secure for any role accessing it and ensure peace of mind</a:t>
            </a:r>
          </a:p>
          <a:p>
            <a:pPr defTabSz="914367">
              <a:spcAft>
                <a:spcPts val="1200"/>
              </a:spcAft>
              <a:defRPr/>
            </a:pPr>
            <a:r>
              <a:rPr lang="en-US" sz="1400">
                <a:solidFill>
                  <a:srgbClr val="FFFFFF"/>
                </a:solidFill>
                <a:cs typeface="Segoe Sans Text" pitchFamily="2" charset="0"/>
              </a:rPr>
              <a:t>Customers can secure their data using familiar constructs and ensure data is only visible to those authorized to do so</a:t>
            </a:r>
          </a:p>
        </p:txBody>
      </p:sp>
      <p:cxnSp>
        <p:nvCxnSpPr>
          <p:cNvPr id="14" name="Straight Connector 13">
            <a:extLst>
              <a:ext uri="{FF2B5EF4-FFF2-40B4-BE49-F238E27FC236}">
                <a16:creationId xmlns:a16="http://schemas.microsoft.com/office/drawing/2014/main" id="{85F166FF-9F56-EFEC-F505-48FD2A5AE576}"/>
              </a:ext>
              <a:ext uri="{C183D7F6-B498-43B3-948B-1728B52AA6E4}">
                <adec:decorative xmlns:adec="http://schemas.microsoft.com/office/drawing/2017/decorative" val="1"/>
              </a:ext>
            </a:extLst>
          </p:cNvPr>
          <p:cNvCxnSpPr>
            <a:cxnSpLocks/>
          </p:cNvCxnSpPr>
          <p:nvPr/>
        </p:nvCxnSpPr>
        <p:spPr>
          <a:xfrm>
            <a:off x="581025" y="2660209"/>
            <a:ext cx="3546475" cy="0"/>
          </a:xfrm>
          <a:prstGeom prst="line">
            <a:avLst/>
          </a:prstGeom>
          <a:noFill/>
          <a:ln w="12700" cap="flat" cmpd="sng" algn="ctr">
            <a:solidFill>
              <a:srgbClr val="FFFEF9"/>
            </a:solidFill>
            <a:prstDash val="solid"/>
            <a:miter lim="800000"/>
          </a:ln>
          <a:effectLst/>
        </p:spPr>
      </p:cxnSp>
      <p:sp>
        <p:nvSpPr>
          <p:cNvPr id="18" name="TextBox 17" descr="Screenshot of sensitivity labels on your Warehouse to classify sensitive data">
            <a:extLst>
              <a:ext uri="{FF2B5EF4-FFF2-40B4-BE49-F238E27FC236}">
                <a16:creationId xmlns:a16="http://schemas.microsoft.com/office/drawing/2014/main" id="{8CC7D211-D6B4-A670-173E-A0DD37739516}"/>
              </a:ext>
            </a:extLst>
          </p:cNvPr>
          <p:cNvSpPr txBox="1"/>
          <p:nvPr/>
        </p:nvSpPr>
        <p:spPr>
          <a:xfrm>
            <a:off x="581025" y="2845795"/>
            <a:ext cx="3772314" cy="3527119"/>
          </a:xfrm>
          <a:prstGeom prst="rect">
            <a:avLst/>
          </a:prstGeom>
          <a:noFill/>
        </p:spPr>
        <p:txBody>
          <a:bodyPr wrap="square" lIns="0" tIns="0" rIns="0" bIns="0" rtlCol="0" anchor="t">
            <a:spAutoFit/>
          </a:bodyPr>
          <a:lstStyle/>
          <a:p>
            <a:pPr defTabSz="914367">
              <a:lnSpc>
                <a:spcPct val="105000"/>
              </a:lnSpc>
              <a:spcAft>
                <a:spcPts val="300"/>
              </a:spcAft>
              <a:defRPr/>
            </a:pPr>
            <a:r>
              <a:rPr lang="en-US" sz="1400" i="1">
                <a:solidFill>
                  <a:srgbClr val="FFFFFF"/>
                </a:solidFill>
                <a:latin typeface="Segoe Sans Display Semibold" pitchFamily="2" charset="0"/>
                <a:cs typeface="Segoe Sans Display Semibold" pitchFamily="2" charset="0"/>
              </a:rPr>
              <a:t>Key Capabilities:</a:t>
            </a:r>
          </a:p>
          <a:p>
            <a:pPr marL="285750" indent="-184150" defTabSz="914367">
              <a:spcAft>
                <a:spcPts val="600"/>
              </a:spcAft>
              <a:buFont typeface="Arial" panose="020B0604020202020204" pitchFamily="34" charset="0"/>
              <a:buChar char="•"/>
              <a:defRPr/>
            </a:pPr>
            <a:r>
              <a:rPr lang="en-US" sz="1200">
                <a:solidFill>
                  <a:srgbClr val="FFFFFF"/>
                </a:solidFill>
                <a:latin typeface="Segoe Sans Display Semibold" pitchFamily="2" charset="0"/>
                <a:cs typeface="Segoe Sans Display Semibold" pitchFamily="2" charset="0"/>
              </a:rPr>
              <a:t>Workspace roles: </a:t>
            </a:r>
            <a:r>
              <a:rPr lang="en-US" sz="1200">
                <a:solidFill>
                  <a:srgbClr val="FFFFFF"/>
                </a:solidFill>
                <a:cs typeface="Segoe Sans Text" pitchFamily="2" charset="0"/>
              </a:rPr>
              <a:t>Workspace roles are used for collaboration with team. Add users to workspace with role assignment of Admin, Member, Contributor, Viewer</a:t>
            </a:r>
          </a:p>
          <a:p>
            <a:pPr marL="285750" indent="-184150" defTabSz="914367">
              <a:spcAft>
                <a:spcPts val="600"/>
              </a:spcAft>
              <a:buFont typeface="Arial" panose="020B0604020202020204" pitchFamily="34" charset="0"/>
              <a:buChar char="•"/>
              <a:defRPr/>
            </a:pPr>
            <a:r>
              <a:rPr lang="en-US" sz="1200">
                <a:solidFill>
                  <a:srgbClr val="FFFFFF"/>
                </a:solidFill>
                <a:latin typeface="Segoe Sans Display Semibold" pitchFamily="2" charset="0"/>
                <a:cs typeface="Segoe Sans Display Semibold" pitchFamily="2" charset="0"/>
              </a:rPr>
              <a:t>Artifact permissions: </a:t>
            </a:r>
            <a:r>
              <a:rPr lang="en-US" sz="1200">
                <a:solidFill>
                  <a:srgbClr val="FFFFFF"/>
                </a:solidFill>
                <a:cs typeface="Segoe Sans Text" pitchFamily="2" charset="0"/>
              </a:rPr>
              <a:t>Artifact permissions are used for sharing for consumption of Warehouses. Provide access and share individual Warehouses with specific permissions</a:t>
            </a:r>
          </a:p>
          <a:p>
            <a:pPr marL="285750" indent="-184150" defTabSz="914367">
              <a:spcAft>
                <a:spcPts val="600"/>
              </a:spcAft>
              <a:buFont typeface="Arial" panose="020B0604020202020204" pitchFamily="34" charset="0"/>
              <a:buChar char="•"/>
              <a:defRPr/>
            </a:pPr>
            <a:r>
              <a:rPr lang="en-US" sz="1200">
                <a:solidFill>
                  <a:srgbClr val="FFFFFF"/>
                </a:solidFill>
                <a:latin typeface="Segoe Sans Display Semibold" pitchFamily="2" charset="0"/>
                <a:cs typeface="Segoe Sans Display Semibold" pitchFamily="2" charset="0"/>
              </a:rPr>
              <a:t>Data security: </a:t>
            </a:r>
            <a:r>
              <a:rPr lang="en-US" sz="1200">
                <a:solidFill>
                  <a:srgbClr val="FFFFFF"/>
                </a:solidFill>
                <a:cs typeface="Segoe Sans Text" pitchFamily="2" charset="0"/>
              </a:rPr>
              <a:t>Use T-SQL, GRANT, REVOKE or DENY to secure any object within Warehouse. Users can be assigned to built-in custom roles.</a:t>
            </a:r>
          </a:p>
          <a:p>
            <a:pPr marL="285750" indent="-184150" defTabSz="914367">
              <a:spcAft>
                <a:spcPts val="600"/>
              </a:spcAft>
              <a:buFont typeface="Arial" panose="020B0604020202020204" pitchFamily="34" charset="0"/>
              <a:buChar char="•"/>
              <a:defRPr/>
            </a:pPr>
            <a:r>
              <a:rPr lang="en-US" sz="1200">
                <a:solidFill>
                  <a:srgbClr val="FFFFFF"/>
                </a:solidFill>
                <a:latin typeface="Segoe Sans Display Semibold" pitchFamily="2" charset="0"/>
                <a:cs typeface="Segoe Sans Display Semibold" pitchFamily="2" charset="0"/>
              </a:rPr>
              <a:t>Sensitivity labels: </a:t>
            </a:r>
            <a:r>
              <a:rPr lang="en-US" sz="1200">
                <a:solidFill>
                  <a:srgbClr val="FFFFFF"/>
                </a:solidFill>
                <a:cs typeface="Segoe Sans Text" pitchFamily="2" charset="0"/>
              </a:rPr>
              <a:t>Apply sensitivity labels on your Warehouse to classify sensitive data.</a:t>
            </a:r>
          </a:p>
          <a:p>
            <a:pPr marL="285750" indent="-184150" defTabSz="914367">
              <a:spcAft>
                <a:spcPts val="600"/>
              </a:spcAft>
              <a:buFont typeface="Arial" panose="020B0604020202020204" pitchFamily="34" charset="0"/>
              <a:buChar char="•"/>
              <a:defRPr/>
            </a:pPr>
            <a:r>
              <a:rPr lang="en-US" sz="1200">
                <a:solidFill>
                  <a:srgbClr val="FFFFFF"/>
                </a:solidFill>
                <a:latin typeface="Segoe Sans Display Semibold" pitchFamily="2" charset="0"/>
                <a:cs typeface="Segoe Sans Display Semibold" pitchFamily="2" charset="0"/>
              </a:rPr>
              <a:t>Granular security: </a:t>
            </a:r>
            <a:r>
              <a:rPr lang="en-US" sz="1200">
                <a:solidFill>
                  <a:srgbClr val="FFFFFF"/>
                </a:solidFill>
                <a:cs typeface="Segoe Sans Text" pitchFamily="2" charset="0"/>
              </a:rPr>
              <a:t>Implement row or column security or Dynamic Data Masking for granular data access control</a:t>
            </a:r>
          </a:p>
        </p:txBody>
      </p:sp>
      <p:pic>
        <p:nvPicPr>
          <p:cNvPr id="17" name="Picture 16" descr="A screen capture of a Onelake data hub platform. The screen is showing existing files under the 'See what already exists' header">
            <a:extLst>
              <a:ext uri="{FF2B5EF4-FFF2-40B4-BE49-F238E27FC236}">
                <a16:creationId xmlns:a16="http://schemas.microsoft.com/office/drawing/2014/main" id="{1E2C3090-EB66-176E-F8F2-7781C9DDFE8F}"/>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l="-1" t="-1" b="-1666"/>
          <a:stretch/>
        </p:blipFill>
        <p:spPr>
          <a:xfrm>
            <a:off x="5158767" y="1663843"/>
            <a:ext cx="6237870" cy="3567391"/>
          </a:xfrm>
          <a:prstGeom prst="roundRect">
            <a:avLst>
              <a:gd name="adj" fmla="val 1914"/>
            </a:avLst>
          </a:prstGeom>
          <a:solidFill>
            <a:srgbClr val="FAF9F7"/>
          </a:solidFill>
        </p:spPr>
      </p:pic>
      <p:sp>
        <p:nvSpPr>
          <p:cNvPr id="12" name="Slide Number Placeholder 5">
            <a:extLst>
              <a:ext uri="{FF2B5EF4-FFF2-40B4-BE49-F238E27FC236}">
                <a16:creationId xmlns:a16="http://schemas.microsoft.com/office/drawing/2014/main" id="{B06AA517-22DC-B84E-5702-4A7E32480EF3}"/>
              </a:ext>
            </a:extLst>
          </p:cNvPr>
          <p:cNvSpPr txBox="1">
            <a:spLocks/>
          </p:cNvSpPr>
          <p:nvPr/>
        </p:nvSpPr>
        <p:spPr>
          <a:xfrm>
            <a:off x="607809" y="6311900"/>
            <a:ext cx="399288"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FFFEFB"/>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FFFEFB"/>
              </a:solidFill>
              <a:effectLst/>
              <a:uLnTx/>
              <a:uFillTx/>
              <a:latin typeface="Segoe Sans Small Semilight" pitchFamily="2" charset="0"/>
              <a:ea typeface="+mn-ea"/>
              <a:cs typeface="Segoe Sans Small Semilight" pitchFamily="2" charset="0"/>
            </a:endParaRPr>
          </a:p>
        </p:txBody>
      </p:sp>
      <p:sp>
        <p:nvSpPr>
          <p:cNvPr id="10" name="Footer Placeholder 4">
            <a:extLst>
              <a:ext uri="{FF2B5EF4-FFF2-40B4-BE49-F238E27FC236}">
                <a16:creationId xmlns:a16="http://schemas.microsoft.com/office/drawing/2014/main" id="{11640348-78AB-538C-85C7-EE78C418E97B}"/>
              </a:ext>
            </a:extLst>
          </p:cNvPr>
          <p:cNvSpPr txBox="1">
            <a:spLocks/>
          </p:cNvSpPr>
          <p:nvPr/>
        </p:nvSpPr>
        <p:spPr>
          <a:xfrm>
            <a:off x="1007097" y="6311900"/>
            <a:ext cx="2078736" cy="365125"/>
          </a:xfrm>
          <a:prstGeom prst="rect">
            <a:avLst/>
          </a:prstGeom>
        </p:spPr>
        <p:txBody>
          <a:bodyPr vert="horz" lIns="91440" tIns="45720" rIns="91440" bIns="45720" rtlCol="0" anchor="ctr"/>
          <a:lstStyle>
            <a:defPPr>
              <a:defRPr lang="en-US"/>
            </a:defPPr>
            <a:lvl1pPr marL="0" algn="l" defTabSz="914400" rtl="0" eaLnBrk="1" latinLnBrk="0" hangingPunct="1">
              <a:defRPr sz="800" b="0" i="0" kern="1200">
                <a:solidFill>
                  <a:schemeClr val="tx1">
                    <a:tint val="75000"/>
                  </a:schemeClr>
                </a:solidFill>
                <a:latin typeface="Segoe Sans Small Semilight" pitchFamily="2" charset="0"/>
                <a:ea typeface="+mn-ea"/>
                <a:cs typeface="Segoe Sans Small Semi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EFB"/>
                </a:solidFill>
                <a:effectLst/>
                <a:uLnTx/>
                <a:uFillTx/>
                <a:latin typeface="Segoe Sans Small Semilight" pitchFamily="2" charset="0"/>
                <a:ea typeface="+mn-ea"/>
                <a:cs typeface="Segoe Sans Small Semilight" pitchFamily="2" charset="0"/>
              </a:rPr>
              <a:t>Microsoft Fabric</a:t>
            </a:r>
          </a:p>
        </p:txBody>
      </p:sp>
    </p:spTree>
    <p:extLst>
      <p:ext uri="{BB962C8B-B14F-4D97-AF65-F5344CB8AC3E}">
        <p14:creationId xmlns:p14="http://schemas.microsoft.com/office/powerpoint/2010/main" val="9590185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049CC1-E8E5-4337-BCAA-FE9B52D91939}"/>
              </a:ext>
            </a:extLst>
          </p:cNvPr>
          <p:cNvSpPr>
            <a:spLocks noGrp="1"/>
          </p:cNvSpPr>
          <p:nvPr>
            <p:ph type="title"/>
          </p:nvPr>
        </p:nvSpPr>
        <p:spPr/>
        <p:txBody>
          <a:bodyPr/>
          <a:lstStyle/>
          <a:p>
            <a:r>
              <a:rPr lang="fr-FR" dirty="0"/>
              <a:t>Merci pour votre attention !</a:t>
            </a:r>
          </a:p>
        </p:txBody>
      </p:sp>
    </p:spTree>
    <p:extLst>
      <p:ext uri="{BB962C8B-B14F-4D97-AF65-F5344CB8AC3E}">
        <p14:creationId xmlns:p14="http://schemas.microsoft.com/office/powerpoint/2010/main" val="1971543346"/>
      </p:ext>
    </p:extLst>
  </p:cSld>
  <p:clrMapOvr>
    <a:masterClrMapping/>
  </p:clrMapOvr>
</p:sld>
</file>

<file path=ppt/theme/theme1.xml><?xml version="1.0" encoding="utf-8"?>
<a:theme xmlns:a="http://schemas.openxmlformats.org/drawingml/2006/main" name="Contenus modifiables - Sans images">
  <a:themeElements>
    <a:clrScheme name="Expertime">
      <a:dk1>
        <a:srgbClr val="02023F"/>
      </a:dk1>
      <a:lt1>
        <a:srgbClr val="FFFFFF"/>
      </a:lt1>
      <a:dk2>
        <a:srgbClr val="474961"/>
      </a:dk2>
      <a:lt2>
        <a:srgbClr val="E8E8EB"/>
      </a:lt2>
      <a:accent1>
        <a:srgbClr val="2987F7"/>
      </a:accent1>
      <a:accent2>
        <a:srgbClr val="F78036"/>
      </a:accent2>
      <a:accent3>
        <a:srgbClr val="757688"/>
      </a:accent3>
      <a:accent4>
        <a:srgbClr val="7FB7FA"/>
      </a:accent4>
      <a:accent5>
        <a:srgbClr val="FAB386"/>
      </a:accent5>
      <a:accent6>
        <a:srgbClr val="A3A4B0"/>
      </a:accent6>
      <a:hlink>
        <a:srgbClr val="2987F7"/>
      </a:hlink>
      <a:folHlink>
        <a:srgbClr val="2987F7"/>
      </a:folHlink>
    </a:clrScheme>
    <a:fontScheme name="Expertime">
      <a:majorFont>
        <a:latin typeface="Segoe UI Semibold"/>
        <a:ea typeface=""/>
        <a:cs typeface=""/>
      </a:majorFont>
      <a:minorFont>
        <a:latin typeface="Segoe UI"/>
        <a:ea typeface=""/>
        <a:cs typeface=""/>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TIME-PowerPoint_2022" id="{C6F1A718-6991-4E1A-9929-DE9E92B26073}" vid="{790055D3-FEA8-465A-B1BC-DB67307BE18F}"/>
    </a:ext>
  </a:extLst>
</a:theme>
</file>

<file path=ppt/theme/theme2.xml><?xml version="1.0" encoding="utf-8"?>
<a:theme xmlns:a="http://schemas.openxmlformats.org/drawingml/2006/main" name="Fond foncé / Case Studies ">
  <a:themeElements>
    <a:clrScheme name="Expertime">
      <a:dk1>
        <a:srgbClr val="02023F"/>
      </a:dk1>
      <a:lt1>
        <a:srgbClr val="FFFFFF"/>
      </a:lt1>
      <a:dk2>
        <a:srgbClr val="474961"/>
      </a:dk2>
      <a:lt2>
        <a:srgbClr val="E8E8EB"/>
      </a:lt2>
      <a:accent1>
        <a:srgbClr val="2987F7"/>
      </a:accent1>
      <a:accent2>
        <a:srgbClr val="F78036"/>
      </a:accent2>
      <a:accent3>
        <a:srgbClr val="757688"/>
      </a:accent3>
      <a:accent4>
        <a:srgbClr val="7FB7FA"/>
      </a:accent4>
      <a:accent5>
        <a:srgbClr val="FAB386"/>
      </a:accent5>
      <a:accent6>
        <a:srgbClr val="A3A4B0"/>
      </a:accent6>
      <a:hlink>
        <a:srgbClr val="2987F7"/>
      </a:hlink>
      <a:folHlink>
        <a:srgbClr val="2987F7"/>
      </a:folHlink>
    </a:clrScheme>
    <a:fontScheme name="Expertime">
      <a:majorFont>
        <a:latin typeface="Segoe UI Semibold"/>
        <a:ea typeface=""/>
        <a:cs typeface=""/>
      </a:majorFont>
      <a:minorFont>
        <a:latin typeface="Segoe UI"/>
        <a:ea typeface=""/>
        <a:cs typeface=""/>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TIME-PowerPoint_2022" id="{C6F1A718-6991-4E1A-9929-DE9E92B26073}" vid="{A3FF9BA3-A5CE-45F6-9F35-44F6F663DE3C}"/>
    </a:ext>
  </a:extLst>
</a:theme>
</file>

<file path=ppt/theme/theme3.xml><?xml version="1.0" encoding="utf-8"?>
<a:theme xmlns:a="http://schemas.openxmlformats.org/drawingml/2006/main" name="Contenus modifiables - Avec images">
  <a:themeElements>
    <a:clrScheme name="Expertime">
      <a:dk1>
        <a:srgbClr val="02023F"/>
      </a:dk1>
      <a:lt1>
        <a:srgbClr val="FFFFFF"/>
      </a:lt1>
      <a:dk2>
        <a:srgbClr val="474961"/>
      </a:dk2>
      <a:lt2>
        <a:srgbClr val="E8E8EB"/>
      </a:lt2>
      <a:accent1>
        <a:srgbClr val="2987F7"/>
      </a:accent1>
      <a:accent2>
        <a:srgbClr val="F78036"/>
      </a:accent2>
      <a:accent3>
        <a:srgbClr val="757688"/>
      </a:accent3>
      <a:accent4>
        <a:srgbClr val="7FB7FA"/>
      </a:accent4>
      <a:accent5>
        <a:srgbClr val="FAB386"/>
      </a:accent5>
      <a:accent6>
        <a:srgbClr val="A3A4B0"/>
      </a:accent6>
      <a:hlink>
        <a:srgbClr val="2987F7"/>
      </a:hlink>
      <a:folHlink>
        <a:srgbClr val="2987F7"/>
      </a:folHlink>
    </a:clrScheme>
    <a:fontScheme name="Expertime">
      <a:majorFont>
        <a:latin typeface="Segoe UI Semibold"/>
        <a:ea typeface=""/>
        <a:cs typeface=""/>
      </a:majorFont>
      <a:minorFont>
        <a:latin typeface="Segoe UI"/>
        <a:ea typeface=""/>
        <a:cs typeface=""/>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TIME-PowerPoint_2022" id="{C6F1A718-6991-4E1A-9929-DE9E92B26073}" vid="{F859637B-3E74-467B-A890-48EA74F544D8}"/>
    </a:ext>
  </a:extLst>
</a:theme>
</file>

<file path=ppt/theme/theme4.xml><?xml version="1.0" encoding="utf-8"?>
<a:theme xmlns:a="http://schemas.openxmlformats.org/drawingml/2006/main" name="Titres et transitions">
  <a:themeElements>
    <a:clrScheme name="Expertime">
      <a:dk1>
        <a:srgbClr val="02023F"/>
      </a:dk1>
      <a:lt1>
        <a:srgbClr val="FFFFFF"/>
      </a:lt1>
      <a:dk2>
        <a:srgbClr val="474961"/>
      </a:dk2>
      <a:lt2>
        <a:srgbClr val="E8E8EB"/>
      </a:lt2>
      <a:accent1>
        <a:srgbClr val="2987F7"/>
      </a:accent1>
      <a:accent2>
        <a:srgbClr val="F78036"/>
      </a:accent2>
      <a:accent3>
        <a:srgbClr val="757688"/>
      </a:accent3>
      <a:accent4>
        <a:srgbClr val="7FB7FA"/>
      </a:accent4>
      <a:accent5>
        <a:srgbClr val="FAB386"/>
      </a:accent5>
      <a:accent6>
        <a:srgbClr val="A3A4B0"/>
      </a:accent6>
      <a:hlink>
        <a:srgbClr val="2987F7"/>
      </a:hlink>
      <a:folHlink>
        <a:srgbClr val="2987F7"/>
      </a:folHlink>
    </a:clrScheme>
    <a:fontScheme name="Expertime">
      <a:majorFont>
        <a:latin typeface="Segoe UI Semibold"/>
        <a:ea typeface=""/>
        <a:cs typeface=""/>
      </a:majorFont>
      <a:minorFont>
        <a:latin typeface="Segoe UI"/>
        <a:ea typeface=""/>
        <a:cs typeface=""/>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TIME-PowerPoint_2022" id="{C6F1A718-6991-4E1A-9929-DE9E92B26073}" vid="{A7CA2657-9FAD-493D-A9E1-740CCEC82D0D}"/>
    </a:ext>
  </a:extLst>
</a:theme>
</file>

<file path=ppt/theme/theme5.xml><?xml version="1.0" encoding="utf-8"?>
<a:theme xmlns:a="http://schemas.openxmlformats.org/drawingml/2006/main" name="One slide">
  <a:themeElements>
    <a:clrScheme name="Expertime">
      <a:dk1>
        <a:srgbClr val="02023F"/>
      </a:dk1>
      <a:lt1>
        <a:srgbClr val="FFFFFF"/>
      </a:lt1>
      <a:dk2>
        <a:srgbClr val="474961"/>
      </a:dk2>
      <a:lt2>
        <a:srgbClr val="E8E8EB"/>
      </a:lt2>
      <a:accent1>
        <a:srgbClr val="2987F7"/>
      </a:accent1>
      <a:accent2>
        <a:srgbClr val="F78036"/>
      </a:accent2>
      <a:accent3>
        <a:srgbClr val="757688"/>
      </a:accent3>
      <a:accent4>
        <a:srgbClr val="7FB7FA"/>
      </a:accent4>
      <a:accent5>
        <a:srgbClr val="FAB386"/>
      </a:accent5>
      <a:accent6>
        <a:srgbClr val="A3A4B0"/>
      </a:accent6>
      <a:hlink>
        <a:srgbClr val="2987F7"/>
      </a:hlink>
      <a:folHlink>
        <a:srgbClr val="2987F7"/>
      </a:folHlink>
    </a:clrScheme>
    <a:fontScheme name="Expertime">
      <a:majorFont>
        <a:latin typeface="Segoe UI Semibold"/>
        <a:ea typeface=""/>
        <a:cs typeface=""/>
      </a:majorFont>
      <a:minorFont>
        <a:latin typeface="Segoe UI"/>
        <a:ea typeface=""/>
        <a:cs typeface=""/>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ERTIME-PowerPoint_2022" id="{C6F1A718-6991-4E1A-9929-DE9E92B26073}" vid="{54AD6146-C61F-4599-8DF2-E88D49A70F07}"/>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3D558611E1DA6478A650841BFB77F5E" ma:contentTypeVersion="14" ma:contentTypeDescription="Crée un document." ma:contentTypeScope="" ma:versionID="c82ab45cf453f3574122296fce2d7cca">
  <xsd:schema xmlns:xsd="http://www.w3.org/2001/XMLSchema" xmlns:xs="http://www.w3.org/2001/XMLSchema" xmlns:p="http://schemas.microsoft.com/office/2006/metadata/properties" xmlns:ns3="df2ea1e8-ba2a-4829-b73a-7a715fa1e7a0" xmlns:ns4="6e5efd44-86da-47f0-93ad-4f904b378f78" targetNamespace="http://schemas.microsoft.com/office/2006/metadata/properties" ma:root="true" ma:fieldsID="3952b8dc76855966a72dae7abebc3c25" ns3:_="" ns4:_="">
    <xsd:import namespace="df2ea1e8-ba2a-4829-b73a-7a715fa1e7a0"/>
    <xsd:import namespace="6e5efd44-86da-47f0-93ad-4f904b378f78"/>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2ea1e8-ba2a-4829-b73a-7a715fa1e7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5efd44-86da-47f0-93ad-4f904b378f78"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SharingHintHash" ma:index="12"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BADEA7-B45A-4EC5-8E29-738DAB008659}">
  <ds:schemaRefs>
    <ds:schemaRef ds:uri="df2ea1e8-ba2a-4829-b73a-7a715fa1e7a0"/>
    <ds:schemaRef ds:uri="http://schemas.microsoft.com/office/2006/metadata/properties"/>
    <ds:schemaRef ds:uri="http://purl.org/dc/terms/"/>
    <ds:schemaRef ds:uri="http://schemas.microsoft.com/office/2006/documentManagement/types"/>
    <ds:schemaRef ds:uri="http://purl.org/dc/dcmitype/"/>
    <ds:schemaRef ds:uri="6e5efd44-86da-47f0-93ad-4f904b378f78"/>
    <ds:schemaRef ds:uri="http://purl.org/dc/elements/1.1/"/>
    <ds:schemaRef ds:uri="http://www.w3.org/XML/1998/namespac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F003A1B4-B1FA-4808-BD65-80B7937CFA00}">
  <ds:schemaRefs>
    <ds:schemaRef ds:uri="http://schemas.microsoft.com/sharepoint/v3/contenttype/forms"/>
  </ds:schemaRefs>
</ds:datastoreItem>
</file>

<file path=customXml/itemProps3.xml><?xml version="1.0" encoding="utf-8"?>
<ds:datastoreItem xmlns:ds="http://schemas.openxmlformats.org/officeDocument/2006/customXml" ds:itemID="{9C167F07-E63F-4550-A954-74DE2EF8E426}">
  <ds:schemaRefs>
    <ds:schemaRef ds:uri="6e5efd44-86da-47f0-93ad-4f904b378f78"/>
    <ds:schemaRef ds:uri="df2ea1e8-ba2a-4829-b73a-7a715fa1e7a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EXPERTIME-PowerPoint_2022</Template>
  <TotalTime>18</TotalTime>
  <Words>2462</Words>
  <Application>Microsoft Office PowerPoint</Application>
  <PresentationFormat>Grand écran</PresentationFormat>
  <Paragraphs>273</Paragraphs>
  <Slides>19</Slides>
  <Notes>8</Notes>
  <HiddenSlides>0</HiddenSlides>
  <MMClips>0</MMClips>
  <ScaleCrop>false</ScaleCrop>
  <HeadingPairs>
    <vt:vector size="6" baseType="variant">
      <vt:variant>
        <vt:lpstr>Polices utilisées</vt:lpstr>
      </vt:variant>
      <vt:variant>
        <vt:i4>15</vt:i4>
      </vt:variant>
      <vt:variant>
        <vt:lpstr>Thème</vt:lpstr>
      </vt:variant>
      <vt:variant>
        <vt:i4>5</vt:i4>
      </vt:variant>
      <vt:variant>
        <vt:lpstr>Titres des diapositives</vt:lpstr>
      </vt:variant>
      <vt:variant>
        <vt:i4>19</vt:i4>
      </vt:variant>
    </vt:vector>
  </HeadingPairs>
  <TitlesOfParts>
    <vt:vector size="39" baseType="lpstr">
      <vt:lpstr>Aptos</vt:lpstr>
      <vt:lpstr>Arial</vt:lpstr>
      <vt:lpstr>Calibri</vt:lpstr>
      <vt:lpstr>Consolas</vt:lpstr>
      <vt:lpstr>Quattrocento Sans</vt:lpstr>
      <vt:lpstr>Segoe Sans Display</vt:lpstr>
      <vt:lpstr>Segoe Sans Display Semibold</vt:lpstr>
      <vt:lpstr>Segoe Sans Small Semilight</vt:lpstr>
      <vt:lpstr>Segoe Sans Text</vt:lpstr>
      <vt:lpstr>Segoe Sans Text Semilight</vt:lpstr>
      <vt:lpstr>Segoe UI</vt:lpstr>
      <vt:lpstr>Segoe UI Semibold</vt:lpstr>
      <vt:lpstr>Symbol</vt:lpstr>
      <vt:lpstr>Times New Roman</vt:lpstr>
      <vt:lpstr>Wingdings</vt:lpstr>
      <vt:lpstr>Contenus modifiables - Sans images</vt:lpstr>
      <vt:lpstr>Fond foncé / Case Studies </vt:lpstr>
      <vt:lpstr>Contenus modifiables - Avec images</vt:lpstr>
      <vt:lpstr>Titres et transitions</vt:lpstr>
      <vt:lpstr>One slide</vt:lpstr>
      <vt:lpstr>Formation MS Fabric</vt:lpstr>
      <vt:lpstr>Customers enhancing their data estate face immense complexity</vt:lpstr>
      <vt:lpstr>Microsoft Fabric  </vt:lpstr>
      <vt:lpstr>Fabric workloads for end-to-end analytics</vt:lpstr>
      <vt:lpstr>Data Warehouse workload</vt:lpstr>
      <vt:lpstr>Data Warehouse</vt:lpstr>
      <vt:lpstr>Data warehouse scenario</vt:lpstr>
      <vt:lpstr>Lakehouse VS Warehouse</vt:lpstr>
      <vt:lpstr>Data Warehouse | Overview</vt:lpstr>
      <vt:lpstr>Data loading and transforms at scale</vt:lpstr>
      <vt:lpstr>Virtual warehouses and cross database querying</vt:lpstr>
      <vt:lpstr>Fully integrated Power BI semantic layer</vt:lpstr>
      <vt:lpstr>No Knobs Performance at scale with open data format</vt:lpstr>
      <vt:lpstr>Autonomous workload management</vt:lpstr>
      <vt:lpstr>Automatic multi-tiered caching</vt:lpstr>
      <vt:lpstr>Unified query optimization</vt:lpstr>
      <vt:lpstr>Monitoring through dynamics management views</vt:lpstr>
      <vt:lpstr>Secure by default</vt:lpstr>
      <vt:lpstr>Merci pour votre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ETIENNE</dc:creator>
  <cp:lastModifiedBy>Nicholas ETIENNE</cp:lastModifiedBy>
  <cp:revision>1</cp:revision>
  <dcterms:created xsi:type="dcterms:W3CDTF">2025-07-10T13:49:56Z</dcterms:created>
  <dcterms:modified xsi:type="dcterms:W3CDTF">2025-07-10T15:19:59Z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0x010100D3D558611E1DA6478A650841BFB77F5E</vt:lpwstr>
  </property>
</Properties>
</file>